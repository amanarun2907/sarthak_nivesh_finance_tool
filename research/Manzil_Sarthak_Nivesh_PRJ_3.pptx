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72" r:id="rId6"/>
    <p:sldId id="265" r:id="rId7"/>
    <p:sldId id="260" r:id="rId8"/>
    <p:sldId id="264" r:id="rId9"/>
    <p:sldId id="270" r:id="rId10"/>
    <p:sldId id="263" r:id="rId11"/>
    <p:sldId id="269" r:id="rId12"/>
    <p:sldId id="266" r:id="rId13"/>
    <p:sldId id="267" r:id="rId14"/>
    <p:sldId id="268" r:id="rId15"/>
    <p:sldId id="261" r:id="rId16"/>
    <p:sldId id="26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63"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77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F19C3-3E77-E301-9D0B-74F84F63B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91A94-A3DF-CEA7-0E59-367B7D951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C972B-5309-526F-BBF8-83B7814AC9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36BA98-EB4D-977F-A822-7157EDB2B3C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493735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A27C7-C181-11C6-57E3-D5287993B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F6079-AE2B-0968-9A9F-1948D5279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A450E-7B06-C4B5-8447-2383B521CA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B1ABC4-6C52-18EC-F271-1C1FEF177FF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613753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0442F-83ED-F929-0DEC-20C266254E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EDC8B-8755-9554-CE8C-CE4A1575C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69B7E-A04E-CF57-2553-0E93755762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C473B-5EEB-1083-EEE1-FC0F61CAA67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03426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abs/2009.10819?utm_source=chatgpt.com" TargetMode="External"/><Relationship Id="rId7" Type="http://schemas.openxmlformats.org/officeDocument/2006/relationships/hyperlink" Target="https://www.researchgate.net/publication/391007420_THE_EFFECTIVENESS_OF_AI_IN_PREDICTING_STOCK_MARKET_TRENDS_A_COMPARATIVE_STUDY_OF_THE_LAST_FEW_YEARS_OF_INDIAN_MARKETS?utm_source=chatgpt.com"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arxiv.org/abs/2407.02236?utm_source=chatgpt.com" TargetMode="External"/><Relationship Id="rId5" Type="http://schemas.openxmlformats.org/officeDocument/2006/relationships/hyperlink" Target="https://arxiv.org/pdf/2204.05783?utm_source=chatgpt.com" TargetMode="External"/><Relationship Id="rId4" Type="http://schemas.openxmlformats.org/officeDocument/2006/relationships/hyperlink" Target="https://arxiv.org/abs/2107.01031?utm_source=chatgpt.com"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C896"/>
          </a:solidFill>
          <a:ln/>
        </p:spPr>
        <p:txBody>
          <a:bodyPr/>
          <a:lstStyle/>
          <a:p>
            <a:endParaRPr lang="en-IN"/>
          </a:p>
        </p:txBody>
      </p:sp>
      <p:sp>
        <p:nvSpPr>
          <p:cNvPr id="3" name="Shape 1"/>
          <p:cNvSpPr/>
          <p:nvPr/>
        </p:nvSpPr>
        <p:spPr>
          <a:xfrm>
            <a:off x="5943600" y="0"/>
            <a:ext cx="3200400" cy="5143500"/>
          </a:xfrm>
          <a:prstGeom prst="rect">
            <a:avLst/>
          </a:prstGeom>
          <a:solidFill>
            <a:srgbClr val="0D2140"/>
          </a:solidFill>
          <a:ln/>
        </p:spPr>
        <p:txBody>
          <a:bodyPr/>
          <a:lstStyle/>
          <a:p>
            <a:endParaRPr lang="en-IN"/>
          </a:p>
        </p:txBody>
      </p:sp>
      <p:sp>
        <p:nvSpPr>
          <p:cNvPr id="4" name="Shape 2"/>
          <p:cNvSpPr/>
          <p:nvPr/>
        </p:nvSpPr>
        <p:spPr>
          <a:xfrm>
            <a:off x="6583680" y="0"/>
            <a:ext cx="2560320" cy="5143500"/>
          </a:xfrm>
          <a:prstGeom prst="rect">
            <a:avLst/>
          </a:prstGeom>
          <a:solidFill>
            <a:srgbClr val="0F2850"/>
          </a:solidFill>
          <a:ln/>
        </p:spPr>
        <p:txBody>
          <a:bodyPr/>
          <a:lstStyle/>
          <a:p>
            <a:endParaRPr lang="en-IN"/>
          </a:p>
        </p:txBody>
      </p:sp>
      <p:sp>
        <p:nvSpPr>
          <p:cNvPr id="5" name="Shape 3"/>
          <p:cNvSpPr/>
          <p:nvPr/>
        </p:nvSpPr>
        <p:spPr>
          <a:xfrm>
            <a:off x="6858000" y="457200"/>
            <a:ext cx="2560320" cy="2560320"/>
          </a:xfrm>
          <a:prstGeom prst="ellipse">
            <a:avLst/>
          </a:prstGeom>
          <a:solidFill>
            <a:srgbClr val="00C896">
              <a:alpha val="12000"/>
            </a:srgbClr>
          </a:solidFill>
          <a:ln/>
        </p:spPr>
        <p:txBody>
          <a:bodyPr/>
          <a:lstStyle/>
          <a:p>
            <a:endParaRPr lang="en-IN"/>
          </a:p>
        </p:txBody>
      </p:sp>
      <p:sp>
        <p:nvSpPr>
          <p:cNvPr id="6" name="Shape 4"/>
          <p:cNvSpPr/>
          <p:nvPr/>
        </p:nvSpPr>
        <p:spPr>
          <a:xfrm>
            <a:off x="7223760" y="822960"/>
            <a:ext cx="1828800" cy="1828800"/>
          </a:xfrm>
          <a:prstGeom prst="ellipse">
            <a:avLst/>
          </a:prstGeom>
          <a:solidFill>
            <a:srgbClr val="1D72E8">
              <a:alpha val="20000"/>
            </a:srgbClr>
          </a:solidFill>
          <a:ln/>
        </p:spPr>
        <p:txBody>
          <a:bodyPr/>
          <a:lstStyle/>
          <a:p>
            <a:endParaRPr lang="en-IN"/>
          </a:p>
        </p:txBody>
      </p:sp>
      <p:sp>
        <p:nvSpPr>
          <p:cNvPr id="7" name="Text 5"/>
          <p:cNvSpPr/>
          <p:nvPr/>
        </p:nvSpPr>
        <p:spPr>
          <a:xfrm>
            <a:off x="365760" y="502920"/>
            <a:ext cx="5943600" cy="731520"/>
          </a:xfrm>
          <a:prstGeom prst="rect">
            <a:avLst/>
          </a:prstGeom>
          <a:noFill/>
          <a:ln/>
        </p:spPr>
        <p:txBody>
          <a:bodyPr wrap="square" rtlCol="0" anchor="ctr"/>
          <a:lstStyle/>
          <a:p>
            <a:pPr marL="0" indent="0">
              <a:buNone/>
            </a:pPr>
            <a:r>
              <a:rPr lang="en-US" sz="1400" b="1" kern="0" spc="800" dirty="0">
                <a:solidFill>
                  <a:srgbClr val="00C896"/>
                </a:solidFill>
                <a:latin typeface="Trebuchet MS" pitchFamily="34" charset="0"/>
                <a:ea typeface="Trebuchet MS" pitchFamily="34" charset="-122"/>
                <a:cs typeface="Trebuchet MS" pitchFamily="34" charset="-120"/>
              </a:rPr>
              <a:t>MANZIL</a:t>
            </a:r>
            <a:endParaRPr lang="en-US" sz="1400" dirty="0"/>
          </a:p>
        </p:txBody>
      </p:sp>
      <p:sp>
        <p:nvSpPr>
          <p:cNvPr id="8" name="Text 6"/>
          <p:cNvSpPr/>
          <p:nvPr/>
        </p:nvSpPr>
        <p:spPr>
          <a:xfrm>
            <a:off x="365760" y="1097280"/>
            <a:ext cx="6400800" cy="1280160"/>
          </a:xfrm>
          <a:prstGeom prst="rect">
            <a:avLst/>
          </a:prstGeom>
          <a:noFill/>
          <a:ln/>
        </p:spPr>
        <p:txBody>
          <a:bodyPr wrap="square"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Sarthak Nivesh</a:t>
            </a:r>
            <a:endParaRPr lang="en-US" sz="5200" dirty="0"/>
          </a:p>
        </p:txBody>
      </p:sp>
      <p:sp>
        <p:nvSpPr>
          <p:cNvPr id="9" name="Text 7"/>
          <p:cNvSpPr/>
          <p:nvPr/>
        </p:nvSpPr>
        <p:spPr>
          <a:xfrm>
            <a:off x="365760" y="2331720"/>
            <a:ext cx="5486400" cy="640080"/>
          </a:xfrm>
          <a:prstGeom prst="rect">
            <a:avLst/>
          </a:prstGeom>
          <a:noFill/>
          <a:ln/>
        </p:spPr>
        <p:txBody>
          <a:bodyPr wrap="square" rtlCol="0" anchor="ctr"/>
          <a:lstStyle/>
          <a:p>
            <a:pPr marL="0" indent="0">
              <a:buNone/>
            </a:pPr>
            <a:r>
              <a:rPr lang="en-US" sz="2200" i="1" dirty="0">
                <a:solidFill>
                  <a:srgbClr val="F5C542"/>
                </a:solidFill>
                <a:latin typeface="Trebuchet MS" pitchFamily="34" charset="0"/>
                <a:ea typeface="Trebuchet MS" pitchFamily="34" charset="-122"/>
                <a:cs typeface="Trebuchet MS" pitchFamily="34" charset="-120"/>
              </a:rPr>
              <a:t>सार्थक निवेश</a:t>
            </a:r>
            <a:endParaRPr lang="en-US" sz="2200" dirty="0"/>
          </a:p>
        </p:txBody>
      </p:sp>
      <p:sp>
        <p:nvSpPr>
          <p:cNvPr id="10" name="Text 8"/>
          <p:cNvSpPr/>
          <p:nvPr/>
        </p:nvSpPr>
        <p:spPr>
          <a:xfrm>
            <a:off x="365760" y="3017520"/>
            <a:ext cx="6858000" cy="502920"/>
          </a:xfrm>
          <a:prstGeom prst="rect">
            <a:avLst/>
          </a:prstGeom>
          <a:noFill/>
          <a:ln/>
        </p:spPr>
        <p:txBody>
          <a:bodyPr wrap="square" rtlCol="0" anchor="ctr"/>
          <a:lstStyle/>
          <a:p>
            <a:pPr marL="0" indent="0">
              <a:buNone/>
            </a:pPr>
            <a:r>
              <a:rPr lang="en-US" sz="1500" dirty="0">
                <a:solidFill>
                  <a:srgbClr val="AABBD8"/>
                </a:solidFill>
                <a:latin typeface="Calibri" pitchFamily="34" charset="0"/>
                <a:ea typeface="Calibri" pitchFamily="34" charset="-122"/>
                <a:cs typeface="Calibri" pitchFamily="34" charset="-120"/>
              </a:rPr>
              <a:t>AI-Powered Indian Stock Market Investment Intelligence Platform</a:t>
            </a:r>
            <a:endParaRPr lang="en-US" sz="1500" dirty="0"/>
          </a:p>
        </p:txBody>
      </p:sp>
      <p:sp>
        <p:nvSpPr>
          <p:cNvPr id="11" name="Shape 9"/>
          <p:cNvSpPr/>
          <p:nvPr/>
        </p:nvSpPr>
        <p:spPr>
          <a:xfrm>
            <a:off x="365760" y="3749040"/>
            <a:ext cx="5943600" cy="73152"/>
          </a:xfrm>
          <a:prstGeom prst="rect">
            <a:avLst/>
          </a:prstGeom>
          <a:solidFill>
            <a:srgbClr val="00C896"/>
          </a:solidFill>
          <a:ln/>
        </p:spPr>
        <p:txBody>
          <a:bodyPr/>
          <a:lstStyle/>
          <a:p>
            <a:endParaRPr lang="en-IN"/>
          </a:p>
        </p:txBody>
      </p:sp>
      <p:sp>
        <p:nvSpPr>
          <p:cNvPr id="12" name="Text 10"/>
          <p:cNvSpPr/>
          <p:nvPr/>
        </p:nvSpPr>
        <p:spPr>
          <a:xfrm>
            <a:off x="365760" y="3886200"/>
            <a:ext cx="8229600" cy="457200"/>
          </a:xfrm>
          <a:prstGeom prst="rect">
            <a:avLst/>
          </a:prstGeom>
          <a:noFill/>
          <a:ln/>
        </p:spPr>
        <p:txBody>
          <a:bodyPr wrap="square" rtlCol="0" anchor="ctr"/>
          <a:lstStyle/>
          <a:p>
            <a:pPr marL="0" indent="0">
              <a:buNone/>
            </a:pPr>
            <a:r>
              <a:rPr lang="en-US" sz="1300" dirty="0">
                <a:solidFill>
                  <a:srgbClr val="8A9BB8"/>
                </a:solidFill>
                <a:latin typeface="Calibri" pitchFamily="34" charset="0"/>
                <a:ea typeface="Calibri" pitchFamily="34" charset="-122"/>
                <a:cs typeface="Calibri" pitchFamily="34" charset="-120"/>
              </a:rPr>
              <a:t>Aman Jain  ·  Rohit Fogla  ·  Vanshita Mehta  ·  Disita Tirthani</a:t>
            </a:r>
            <a:endParaRPr lang="en-US" sz="1300" dirty="0"/>
          </a:p>
        </p:txBody>
      </p:sp>
      <p:sp>
        <p:nvSpPr>
          <p:cNvPr id="13" name="Shape 11"/>
          <p:cNvSpPr/>
          <p:nvPr/>
        </p:nvSpPr>
        <p:spPr>
          <a:xfrm>
            <a:off x="365760" y="4434840"/>
            <a:ext cx="2286000" cy="347472"/>
          </a:xfrm>
          <a:prstGeom prst="rect">
            <a:avLst/>
          </a:prstGeom>
          <a:solidFill>
            <a:srgbClr val="132140"/>
          </a:solidFill>
          <a:ln w="12700">
            <a:solidFill>
              <a:srgbClr val="00C896"/>
            </a:solidFill>
            <a:prstDash val="solid"/>
          </a:ln>
        </p:spPr>
        <p:txBody>
          <a:bodyPr/>
          <a:lstStyle/>
          <a:p>
            <a:endParaRPr lang="en-IN"/>
          </a:p>
        </p:txBody>
      </p:sp>
      <p:sp>
        <p:nvSpPr>
          <p:cNvPr id="14" name="Text 12"/>
          <p:cNvSpPr/>
          <p:nvPr/>
        </p:nvSpPr>
        <p:spPr>
          <a:xfrm>
            <a:off x="365760" y="4434840"/>
            <a:ext cx="2286000" cy="347472"/>
          </a:xfrm>
          <a:prstGeom prst="rect">
            <a:avLst/>
          </a:prstGeom>
          <a:noFill/>
          <a:ln/>
        </p:spPr>
        <p:txBody>
          <a:bodyPr wrap="square" rtlCol="0" anchor="ctr"/>
          <a:lstStyle/>
          <a:p>
            <a:pPr marL="0" indent="0" algn="ctr">
              <a:buNone/>
            </a:pPr>
            <a:r>
              <a:rPr lang="en-US" sz="1000" dirty="0">
                <a:solidFill>
                  <a:srgbClr val="00C896"/>
                </a:solidFill>
                <a:latin typeface="Calibri" pitchFamily="34" charset="0"/>
                <a:ea typeface="Calibri" pitchFamily="34" charset="-122"/>
                <a:cs typeface="Calibri" pitchFamily="34" charset="-120"/>
              </a:rPr>
              <a:t>Python · Streamlit · Groq AI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txBody>
          <a:bodyPr/>
          <a:lstStyle/>
          <a:p>
            <a:endParaRPr lang="en-IN"/>
          </a:p>
        </p:txBody>
      </p:sp>
      <p:sp>
        <p:nvSpPr>
          <p:cNvPr id="3" name="Shape 1"/>
          <p:cNvSpPr/>
          <p:nvPr/>
        </p:nvSpPr>
        <p:spPr>
          <a:xfrm>
            <a:off x="0" y="1005840"/>
            <a:ext cx="9144000" cy="54864"/>
          </a:xfrm>
          <a:prstGeom prst="rect">
            <a:avLst/>
          </a:prstGeom>
          <a:solidFill>
            <a:srgbClr val="00C896"/>
          </a:solidFill>
          <a:ln/>
        </p:spPr>
        <p:txBody>
          <a:bodyPr/>
          <a:lstStyle/>
          <a:p>
            <a:endParaRPr lang="en-IN"/>
          </a:p>
        </p:txBody>
      </p:sp>
      <p:sp>
        <p:nvSpPr>
          <p:cNvPr id="4" name="Text 2"/>
          <p:cNvSpPr/>
          <p:nvPr/>
        </p:nvSpPr>
        <p:spPr>
          <a:xfrm>
            <a:off x="365760" y="91440"/>
            <a:ext cx="8229600" cy="82296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AGENDA</a:t>
            </a:r>
            <a:endParaRPr lang="en-US" sz="3200" dirty="0"/>
          </a:p>
        </p:txBody>
      </p:sp>
      <p:sp>
        <p:nvSpPr>
          <p:cNvPr id="5" name="Shape 3"/>
          <p:cNvSpPr/>
          <p:nvPr/>
        </p:nvSpPr>
        <p:spPr>
          <a:xfrm>
            <a:off x="365760" y="1234440"/>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365760" y="1234440"/>
            <a:ext cx="502920" cy="566928"/>
          </a:xfrm>
          <a:prstGeom prst="rect">
            <a:avLst/>
          </a:prstGeom>
          <a:solidFill>
            <a:srgbClr val="00C896"/>
          </a:solidFill>
          <a:ln/>
        </p:spPr>
        <p:txBody>
          <a:bodyPr/>
          <a:lstStyle/>
          <a:p>
            <a:endParaRPr lang="en-IN"/>
          </a:p>
        </p:txBody>
      </p:sp>
      <p:sp>
        <p:nvSpPr>
          <p:cNvPr id="7" name="Text 5"/>
          <p:cNvSpPr/>
          <p:nvPr/>
        </p:nvSpPr>
        <p:spPr>
          <a:xfrm>
            <a:off x="365760" y="1234440"/>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8" name="Text 6"/>
          <p:cNvSpPr/>
          <p:nvPr/>
        </p:nvSpPr>
        <p:spPr>
          <a:xfrm>
            <a:off x="914400" y="1234440"/>
            <a:ext cx="3520440" cy="566928"/>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Problem Statement &amp; Market Facts</a:t>
            </a:r>
            <a:endParaRPr lang="en-US" sz="1200" dirty="0"/>
          </a:p>
        </p:txBody>
      </p:sp>
      <p:sp>
        <p:nvSpPr>
          <p:cNvPr id="9" name="Shape 7"/>
          <p:cNvSpPr/>
          <p:nvPr/>
        </p:nvSpPr>
        <p:spPr>
          <a:xfrm>
            <a:off x="365760" y="1965840"/>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10" name="Shape 8"/>
          <p:cNvSpPr/>
          <p:nvPr/>
        </p:nvSpPr>
        <p:spPr>
          <a:xfrm>
            <a:off x="365760" y="1947672"/>
            <a:ext cx="502920" cy="566928"/>
          </a:xfrm>
          <a:prstGeom prst="rect">
            <a:avLst/>
          </a:prstGeom>
          <a:solidFill>
            <a:srgbClr val="00C896"/>
          </a:solidFill>
          <a:ln/>
        </p:spPr>
        <p:txBody>
          <a:bodyPr/>
          <a:lstStyle/>
          <a:p>
            <a:endParaRPr lang="en-IN"/>
          </a:p>
        </p:txBody>
      </p:sp>
      <p:sp>
        <p:nvSpPr>
          <p:cNvPr id="11" name="Text 9"/>
          <p:cNvSpPr/>
          <p:nvPr/>
        </p:nvSpPr>
        <p:spPr>
          <a:xfrm>
            <a:off x="365760" y="1947672"/>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2" name="Text 10"/>
          <p:cNvSpPr/>
          <p:nvPr/>
        </p:nvSpPr>
        <p:spPr>
          <a:xfrm>
            <a:off x="914400" y="1947672"/>
            <a:ext cx="3520440" cy="566928"/>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Project Objectives</a:t>
            </a:r>
            <a:endParaRPr lang="en-US" sz="1200" dirty="0"/>
          </a:p>
        </p:txBody>
      </p:sp>
      <p:sp>
        <p:nvSpPr>
          <p:cNvPr id="13" name="Shape 11"/>
          <p:cNvSpPr/>
          <p:nvPr/>
        </p:nvSpPr>
        <p:spPr>
          <a:xfrm>
            <a:off x="320040" y="2660904"/>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14" name="Shape 12"/>
          <p:cNvSpPr/>
          <p:nvPr/>
        </p:nvSpPr>
        <p:spPr>
          <a:xfrm>
            <a:off x="365760" y="2660904"/>
            <a:ext cx="502920" cy="566928"/>
          </a:xfrm>
          <a:prstGeom prst="rect">
            <a:avLst/>
          </a:prstGeom>
          <a:solidFill>
            <a:srgbClr val="00C896"/>
          </a:solidFill>
          <a:ln/>
        </p:spPr>
        <p:txBody>
          <a:bodyPr/>
          <a:lstStyle/>
          <a:p>
            <a:endParaRPr lang="en-IN"/>
          </a:p>
        </p:txBody>
      </p:sp>
      <p:sp>
        <p:nvSpPr>
          <p:cNvPr id="15" name="Text 13"/>
          <p:cNvSpPr/>
          <p:nvPr/>
        </p:nvSpPr>
        <p:spPr>
          <a:xfrm>
            <a:off x="365760" y="2660904"/>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16" name="Text 14"/>
          <p:cNvSpPr/>
          <p:nvPr/>
        </p:nvSpPr>
        <p:spPr>
          <a:xfrm>
            <a:off x="914400" y="2660904"/>
            <a:ext cx="3520440" cy="566928"/>
          </a:xfrm>
          <a:prstGeom prst="rect">
            <a:avLst/>
          </a:prstGeom>
          <a:noFill/>
          <a:ln/>
        </p:spPr>
        <p:txBody>
          <a:bodyPr wrap="square" rtlCol="0" anchor="ctr"/>
          <a:lstStyle/>
          <a:p>
            <a:pPr marL="0" indent="0">
              <a:buNone/>
            </a:pPr>
            <a:r>
              <a:rPr lang="en-US" sz="1200" dirty="0"/>
              <a:t>Sarthak Nivesh (One step Solution) </a:t>
            </a:r>
          </a:p>
        </p:txBody>
      </p:sp>
      <p:sp>
        <p:nvSpPr>
          <p:cNvPr id="17" name="Shape 15"/>
          <p:cNvSpPr/>
          <p:nvPr/>
        </p:nvSpPr>
        <p:spPr>
          <a:xfrm>
            <a:off x="365760" y="3374136"/>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dirty="0"/>
          </a:p>
        </p:txBody>
      </p:sp>
      <p:sp>
        <p:nvSpPr>
          <p:cNvPr id="18" name="Shape 16"/>
          <p:cNvSpPr/>
          <p:nvPr/>
        </p:nvSpPr>
        <p:spPr>
          <a:xfrm>
            <a:off x="365760" y="3374136"/>
            <a:ext cx="502920" cy="566928"/>
          </a:xfrm>
          <a:prstGeom prst="rect">
            <a:avLst/>
          </a:prstGeom>
          <a:solidFill>
            <a:srgbClr val="00C896"/>
          </a:solidFill>
          <a:ln/>
        </p:spPr>
        <p:txBody>
          <a:bodyPr/>
          <a:lstStyle/>
          <a:p>
            <a:endParaRPr lang="en-IN"/>
          </a:p>
        </p:txBody>
      </p:sp>
      <p:sp>
        <p:nvSpPr>
          <p:cNvPr id="19" name="Text 17"/>
          <p:cNvSpPr/>
          <p:nvPr/>
        </p:nvSpPr>
        <p:spPr>
          <a:xfrm>
            <a:off x="365760" y="3374136"/>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20" name="Text 18"/>
          <p:cNvSpPr/>
          <p:nvPr/>
        </p:nvSpPr>
        <p:spPr>
          <a:xfrm>
            <a:off x="914400" y="3374136"/>
            <a:ext cx="3520440" cy="566928"/>
          </a:xfrm>
          <a:prstGeom prst="rect">
            <a:avLst/>
          </a:prstGeom>
          <a:noFill/>
          <a:ln/>
        </p:spPr>
        <p:txBody>
          <a:bodyPr wrap="square" rtlCol="0" anchor="ctr"/>
          <a:lstStyle/>
          <a:p>
            <a:r>
              <a:rPr lang="en-US" sz="1200" dirty="0">
                <a:solidFill>
                  <a:srgbClr val="0A1628"/>
                </a:solidFill>
                <a:latin typeface="Calibri" pitchFamily="34" charset="0"/>
                <a:ea typeface="Calibri" pitchFamily="34" charset="-122"/>
                <a:cs typeface="Calibri" pitchFamily="34" charset="-120"/>
              </a:rPr>
              <a:t>Features &amp; Functionality</a:t>
            </a:r>
            <a:endParaRPr lang="en-US" sz="1200" dirty="0"/>
          </a:p>
          <a:p>
            <a:pPr marL="0" indent="0">
              <a:buNone/>
            </a:pPr>
            <a:endParaRPr lang="en-US" sz="1200" dirty="0"/>
          </a:p>
        </p:txBody>
      </p:sp>
      <p:sp>
        <p:nvSpPr>
          <p:cNvPr id="21" name="Shape 19"/>
          <p:cNvSpPr/>
          <p:nvPr/>
        </p:nvSpPr>
        <p:spPr>
          <a:xfrm>
            <a:off x="365760" y="4093424"/>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22" name="Shape 20"/>
          <p:cNvSpPr/>
          <p:nvPr/>
        </p:nvSpPr>
        <p:spPr>
          <a:xfrm>
            <a:off x="365760" y="4087368"/>
            <a:ext cx="502920" cy="566928"/>
          </a:xfrm>
          <a:prstGeom prst="rect">
            <a:avLst/>
          </a:prstGeom>
          <a:solidFill>
            <a:srgbClr val="00C896"/>
          </a:solidFill>
          <a:ln/>
        </p:spPr>
        <p:txBody>
          <a:bodyPr/>
          <a:lstStyle/>
          <a:p>
            <a:endParaRPr lang="en-IN"/>
          </a:p>
        </p:txBody>
      </p:sp>
      <p:sp>
        <p:nvSpPr>
          <p:cNvPr id="23" name="Text 21"/>
          <p:cNvSpPr/>
          <p:nvPr/>
        </p:nvSpPr>
        <p:spPr>
          <a:xfrm>
            <a:off x="365760" y="4087368"/>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24" name="Text 22"/>
          <p:cNvSpPr/>
          <p:nvPr/>
        </p:nvSpPr>
        <p:spPr>
          <a:xfrm>
            <a:off x="914400" y="4087368"/>
            <a:ext cx="3520440" cy="566928"/>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Workflow &amp; Methodology</a:t>
            </a:r>
            <a:endParaRPr lang="en-US" sz="1200" dirty="0"/>
          </a:p>
        </p:txBody>
      </p:sp>
      <p:sp>
        <p:nvSpPr>
          <p:cNvPr id="25" name="Shape 23"/>
          <p:cNvSpPr/>
          <p:nvPr/>
        </p:nvSpPr>
        <p:spPr>
          <a:xfrm>
            <a:off x="4846320" y="1234440"/>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26" name="Shape 24"/>
          <p:cNvSpPr/>
          <p:nvPr/>
        </p:nvSpPr>
        <p:spPr>
          <a:xfrm>
            <a:off x="4846320" y="1234440"/>
            <a:ext cx="502920" cy="566928"/>
          </a:xfrm>
          <a:prstGeom prst="rect">
            <a:avLst/>
          </a:prstGeom>
          <a:solidFill>
            <a:srgbClr val="1D72E8"/>
          </a:solidFill>
          <a:ln/>
        </p:spPr>
        <p:txBody>
          <a:bodyPr/>
          <a:lstStyle/>
          <a:p>
            <a:endParaRPr lang="en-IN"/>
          </a:p>
        </p:txBody>
      </p:sp>
      <p:sp>
        <p:nvSpPr>
          <p:cNvPr id="27" name="Text 25"/>
          <p:cNvSpPr/>
          <p:nvPr/>
        </p:nvSpPr>
        <p:spPr>
          <a:xfrm>
            <a:off x="4846320" y="1234440"/>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06</a:t>
            </a:r>
            <a:endParaRPr lang="en-US" sz="1400" dirty="0"/>
          </a:p>
        </p:txBody>
      </p:sp>
      <p:sp>
        <p:nvSpPr>
          <p:cNvPr id="28" name="Text 26"/>
          <p:cNvSpPr/>
          <p:nvPr/>
        </p:nvSpPr>
        <p:spPr>
          <a:xfrm>
            <a:off x="5394960" y="1234440"/>
            <a:ext cx="3520440" cy="566928"/>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Technology Stack</a:t>
            </a:r>
            <a:endParaRPr lang="en-US" sz="1200" dirty="0"/>
          </a:p>
        </p:txBody>
      </p:sp>
      <p:sp>
        <p:nvSpPr>
          <p:cNvPr id="29" name="Shape 27"/>
          <p:cNvSpPr/>
          <p:nvPr/>
        </p:nvSpPr>
        <p:spPr>
          <a:xfrm>
            <a:off x="4846320" y="1947672"/>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30" name="Shape 28"/>
          <p:cNvSpPr/>
          <p:nvPr/>
        </p:nvSpPr>
        <p:spPr>
          <a:xfrm>
            <a:off x="4846320" y="1947672"/>
            <a:ext cx="502920" cy="566928"/>
          </a:xfrm>
          <a:prstGeom prst="rect">
            <a:avLst/>
          </a:prstGeom>
          <a:solidFill>
            <a:srgbClr val="1D72E8"/>
          </a:solidFill>
          <a:ln/>
        </p:spPr>
        <p:txBody>
          <a:bodyPr/>
          <a:lstStyle/>
          <a:p>
            <a:endParaRPr lang="en-IN"/>
          </a:p>
        </p:txBody>
      </p:sp>
      <p:sp>
        <p:nvSpPr>
          <p:cNvPr id="31" name="Text 29"/>
          <p:cNvSpPr/>
          <p:nvPr/>
        </p:nvSpPr>
        <p:spPr>
          <a:xfrm>
            <a:off x="4846320" y="1947672"/>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07</a:t>
            </a:r>
            <a:endParaRPr lang="en-US" sz="1400" dirty="0"/>
          </a:p>
        </p:txBody>
      </p:sp>
      <p:sp>
        <p:nvSpPr>
          <p:cNvPr id="32" name="Text 30"/>
          <p:cNvSpPr/>
          <p:nvPr/>
        </p:nvSpPr>
        <p:spPr>
          <a:xfrm>
            <a:off x="5394960" y="1947672"/>
            <a:ext cx="3520440" cy="566928"/>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Data Sources</a:t>
            </a:r>
            <a:endParaRPr lang="en-US" sz="1200" dirty="0"/>
          </a:p>
        </p:txBody>
      </p:sp>
      <p:sp>
        <p:nvSpPr>
          <p:cNvPr id="33" name="Shape 31"/>
          <p:cNvSpPr/>
          <p:nvPr/>
        </p:nvSpPr>
        <p:spPr>
          <a:xfrm>
            <a:off x="4846320" y="2660904"/>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34" name="Shape 32"/>
          <p:cNvSpPr/>
          <p:nvPr/>
        </p:nvSpPr>
        <p:spPr>
          <a:xfrm>
            <a:off x="4846320" y="2660904"/>
            <a:ext cx="502920" cy="566928"/>
          </a:xfrm>
          <a:prstGeom prst="rect">
            <a:avLst/>
          </a:prstGeom>
          <a:solidFill>
            <a:srgbClr val="1D72E8"/>
          </a:solidFill>
          <a:ln/>
        </p:spPr>
        <p:txBody>
          <a:bodyPr/>
          <a:lstStyle/>
          <a:p>
            <a:endParaRPr lang="en-IN"/>
          </a:p>
        </p:txBody>
      </p:sp>
      <p:sp>
        <p:nvSpPr>
          <p:cNvPr id="35" name="Text 33"/>
          <p:cNvSpPr/>
          <p:nvPr/>
        </p:nvSpPr>
        <p:spPr>
          <a:xfrm>
            <a:off x="4846320" y="2660904"/>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08</a:t>
            </a:r>
            <a:endParaRPr lang="en-US" sz="1400" dirty="0"/>
          </a:p>
        </p:txBody>
      </p:sp>
      <p:sp>
        <p:nvSpPr>
          <p:cNvPr id="36" name="Text 34"/>
          <p:cNvSpPr/>
          <p:nvPr/>
        </p:nvSpPr>
        <p:spPr>
          <a:xfrm>
            <a:off x="5394960" y="2660904"/>
            <a:ext cx="3520440" cy="566928"/>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Competitive Advantage</a:t>
            </a:r>
            <a:endParaRPr lang="en-US" sz="1200" dirty="0"/>
          </a:p>
        </p:txBody>
      </p:sp>
      <p:sp>
        <p:nvSpPr>
          <p:cNvPr id="37" name="Shape 35"/>
          <p:cNvSpPr/>
          <p:nvPr/>
        </p:nvSpPr>
        <p:spPr>
          <a:xfrm>
            <a:off x="4846320" y="3374136"/>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38" name="Shape 36"/>
          <p:cNvSpPr/>
          <p:nvPr/>
        </p:nvSpPr>
        <p:spPr>
          <a:xfrm>
            <a:off x="4846320" y="3374136"/>
            <a:ext cx="502920" cy="566928"/>
          </a:xfrm>
          <a:prstGeom prst="rect">
            <a:avLst/>
          </a:prstGeom>
          <a:solidFill>
            <a:srgbClr val="1D72E8"/>
          </a:solidFill>
          <a:ln/>
        </p:spPr>
        <p:txBody>
          <a:bodyPr/>
          <a:lstStyle/>
          <a:p>
            <a:endParaRPr lang="en-IN"/>
          </a:p>
        </p:txBody>
      </p:sp>
      <p:sp>
        <p:nvSpPr>
          <p:cNvPr id="39" name="Text 37"/>
          <p:cNvSpPr/>
          <p:nvPr/>
        </p:nvSpPr>
        <p:spPr>
          <a:xfrm>
            <a:off x="4846320" y="3374136"/>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09</a:t>
            </a:r>
            <a:endParaRPr lang="en-US" sz="1400" dirty="0"/>
          </a:p>
        </p:txBody>
      </p:sp>
      <p:sp>
        <p:nvSpPr>
          <p:cNvPr id="40" name="Text 38"/>
          <p:cNvSpPr/>
          <p:nvPr/>
        </p:nvSpPr>
        <p:spPr>
          <a:xfrm>
            <a:off x="5394960" y="3374136"/>
            <a:ext cx="3520440" cy="566928"/>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Future Scope &amp; Roadmap</a:t>
            </a:r>
            <a:endParaRPr lang="en-US" sz="1200" dirty="0"/>
          </a:p>
        </p:txBody>
      </p:sp>
      <p:sp>
        <p:nvSpPr>
          <p:cNvPr id="41" name="Shape 39"/>
          <p:cNvSpPr/>
          <p:nvPr/>
        </p:nvSpPr>
        <p:spPr>
          <a:xfrm>
            <a:off x="4846320" y="4087368"/>
            <a:ext cx="4114800" cy="56692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42" name="Shape 40"/>
          <p:cNvSpPr/>
          <p:nvPr/>
        </p:nvSpPr>
        <p:spPr>
          <a:xfrm>
            <a:off x="4846320" y="4087368"/>
            <a:ext cx="502920" cy="566928"/>
          </a:xfrm>
          <a:prstGeom prst="rect">
            <a:avLst/>
          </a:prstGeom>
          <a:solidFill>
            <a:srgbClr val="1D72E8"/>
          </a:solidFill>
          <a:ln/>
        </p:spPr>
        <p:txBody>
          <a:bodyPr/>
          <a:lstStyle/>
          <a:p>
            <a:endParaRPr lang="en-IN"/>
          </a:p>
        </p:txBody>
      </p:sp>
      <p:sp>
        <p:nvSpPr>
          <p:cNvPr id="43" name="Text 41"/>
          <p:cNvSpPr/>
          <p:nvPr/>
        </p:nvSpPr>
        <p:spPr>
          <a:xfrm>
            <a:off x="4846320" y="4087368"/>
            <a:ext cx="502920" cy="56692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10</a:t>
            </a:r>
            <a:endParaRPr lang="en-US" sz="1400" dirty="0"/>
          </a:p>
        </p:txBody>
      </p:sp>
      <p:sp>
        <p:nvSpPr>
          <p:cNvPr id="44" name="Text 42"/>
          <p:cNvSpPr/>
          <p:nvPr/>
        </p:nvSpPr>
        <p:spPr>
          <a:xfrm>
            <a:off x="5394960" y="4087368"/>
            <a:ext cx="3520440" cy="566928"/>
          </a:xfrm>
          <a:prstGeom prst="rect">
            <a:avLst/>
          </a:prstGeom>
          <a:noFill/>
          <a:ln/>
        </p:spPr>
        <p:txBody>
          <a:bodyPr wrap="square" rtlCol="0" anchor="ctr"/>
          <a:lstStyle/>
          <a:p>
            <a:pPr marL="0" indent="0">
              <a:buNone/>
            </a:pPr>
            <a:r>
              <a:rPr lang="en-US" sz="1200" dirty="0">
                <a:solidFill>
                  <a:srgbClr val="0A1628"/>
                </a:solidFill>
                <a:latin typeface="Calibri" pitchFamily="34" charset="0"/>
                <a:ea typeface="Calibri" pitchFamily="34" charset="-122"/>
                <a:cs typeface="Calibri" pitchFamily="34" charset="-120"/>
              </a:rPr>
              <a:t>Team &amp; Impact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71022"/>
          </a:solidFill>
          <a:ln/>
        </p:spPr>
        <p:txBody>
          <a:bodyPr/>
          <a:lstStyle/>
          <a:p>
            <a:endParaRPr lang="en-IN"/>
          </a:p>
        </p:txBody>
      </p:sp>
      <p:sp>
        <p:nvSpPr>
          <p:cNvPr id="3" name="Shape 1"/>
          <p:cNvSpPr/>
          <p:nvPr/>
        </p:nvSpPr>
        <p:spPr>
          <a:xfrm>
            <a:off x="0" y="1051560"/>
            <a:ext cx="9144000" cy="54864"/>
          </a:xfrm>
          <a:prstGeom prst="rect">
            <a:avLst/>
          </a:prstGeom>
          <a:solidFill>
            <a:srgbClr val="FF5252"/>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PROBLEM STATEMENT</a:t>
            </a:r>
            <a:endParaRPr lang="en-US" sz="3000" dirty="0"/>
          </a:p>
        </p:txBody>
      </p:sp>
      <p:sp>
        <p:nvSpPr>
          <p:cNvPr id="5" name="Shape 3"/>
          <p:cNvSpPr/>
          <p:nvPr/>
        </p:nvSpPr>
        <p:spPr>
          <a:xfrm>
            <a:off x="274320" y="1280160"/>
            <a:ext cx="2286000" cy="2011680"/>
          </a:xfrm>
          <a:prstGeom prst="rect">
            <a:avLst/>
          </a:prstGeom>
          <a:solidFill>
            <a:srgbClr val="132140"/>
          </a:solidFill>
          <a:ln w="12700">
            <a:solidFill>
              <a:srgbClr val="FF5252"/>
            </a:solidFill>
            <a:prstDash val="solid"/>
          </a:ln>
          <a:effectLst>
            <a:outerShdw blurRad="101600" dist="38100" dir="8100000" algn="bl" rotWithShape="0">
              <a:srgbClr val="000000">
                <a:alpha val="18000"/>
              </a:srgbClr>
            </a:outerShdw>
          </a:effectLst>
        </p:spPr>
        <p:txBody>
          <a:bodyPr/>
          <a:lstStyle/>
          <a:p>
            <a:endParaRPr lang="en-IN"/>
          </a:p>
        </p:txBody>
      </p:sp>
      <p:sp>
        <p:nvSpPr>
          <p:cNvPr id="6" name="Text 4"/>
          <p:cNvSpPr/>
          <p:nvPr/>
        </p:nvSpPr>
        <p:spPr>
          <a:xfrm>
            <a:off x="274320" y="1417320"/>
            <a:ext cx="2286000" cy="1005840"/>
          </a:xfrm>
          <a:prstGeom prst="rect">
            <a:avLst/>
          </a:prstGeom>
          <a:noFill/>
          <a:ln/>
        </p:spPr>
        <p:txBody>
          <a:bodyPr wrap="square" rtlCol="0" anchor="ctr"/>
          <a:lstStyle/>
          <a:p>
            <a:pPr marL="0" indent="0" algn="ctr">
              <a:buNone/>
            </a:pPr>
            <a:r>
              <a:rPr lang="en-US" sz="5400" b="1" dirty="0">
                <a:solidFill>
                  <a:srgbClr val="FF5252"/>
                </a:solidFill>
                <a:latin typeface="Georgia" pitchFamily="34" charset="0"/>
                <a:ea typeface="Georgia" pitchFamily="34" charset="-122"/>
                <a:cs typeface="Georgia" pitchFamily="34" charset="-120"/>
              </a:rPr>
              <a:t>95%</a:t>
            </a:r>
            <a:endParaRPr lang="en-US" sz="5400" dirty="0"/>
          </a:p>
        </p:txBody>
      </p:sp>
      <p:sp>
        <p:nvSpPr>
          <p:cNvPr id="7" name="Text 5"/>
          <p:cNvSpPr/>
          <p:nvPr/>
        </p:nvSpPr>
        <p:spPr>
          <a:xfrm>
            <a:off x="274320" y="2377440"/>
            <a:ext cx="2286000" cy="731520"/>
          </a:xfrm>
          <a:prstGeom prst="rect">
            <a:avLst/>
          </a:prstGeom>
          <a:noFill/>
          <a:ln/>
        </p:spPr>
        <p:txBody>
          <a:bodyPr wrap="square" rtlCol="0" anchor="ctr"/>
          <a:lstStyle/>
          <a:p>
            <a:pPr marL="0" indent="0" algn="ctr">
              <a:buNone/>
            </a:pPr>
            <a:r>
              <a:rPr lang="en-US" sz="1100" dirty="0">
                <a:solidFill>
                  <a:srgbClr val="AABBD8"/>
                </a:solidFill>
                <a:latin typeface="Calibri" pitchFamily="34" charset="0"/>
                <a:ea typeface="Calibri" pitchFamily="34" charset="-122"/>
                <a:cs typeface="Calibri" pitchFamily="34" charset="-120"/>
              </a:rPr>
              <a:t>of retail investors</a:t>
            </a:r>
            <a:endParaRPr lang="en-US" sz="1100" dirty="0"/>
          </a:p>
          <a:p>
            <a:pPr marL="0" indent="0" algn="ctr">
              <a:buNone/>
            </a:pPr>
            <a:r>
              <a:rPr lang="en-US" sz="1100" dirty="0">
                <a:solidFill>
                  <a:srgbClr val="AABBD8"/>
                </a:solidFill>
                <a:latin typeface="Calibri" pitchFamily="34" charset="0"/>
                <a:ea typeface="Calibri" pitchFamily="34" charset="-122"/>
                <a:cs typeface="Calibri" pitchFamily="34" charset="-120"/>
              </a:rPr>
              <a:t>lose money</a:t>
            </a:r>
            <a:endParaRPr lang="en-US" sz="1100" dirty="0"/>
          </a:p>
        </p:txBody>
      </p:sp>
      <p:sp>
        <p:nvSpPr>
          <p:cNvPr id="8" name="Shape 6"/>
          <p:cNvSpPr/>
          <p:nvPr/>
        </p:nvSpPr>
        <p:spPr>
          <a:xfrm>
            <a:off x="2834640" y="1280160"/>
            <a:ext cx="2286000" cy="2011680"/>
          </a:xfrm>
          <a:prstGeom prst="rect">
            <a:avLst/>
          </a:prstGeom>
          <a:solidFill>
            <a:srgbClr val="132140"/>
          </a:solidFill>
          <a:ln w="12700">
            <a:solidFill>
              <a:srgbClr val="F5C542"/>
            </a:solidFill>
            <a:prstDash val="solid"/>
          </a:ln>
          <a:effectLst>
            <a:outerShdw blurRad="101600" dist="38100" dir="8100000" algn="bl" rotWithShape="0">
              <a:srgbClr val="000000">
                <a:alpha val="18000"/>
              </a:srgbClr>
            </a:outerShdw>
          </a:effectLst>
        </p:spPr>
        <p:txBody>
          <a:bodyPr/>
          <a:lstStyle/>
          <a:p>
            <a:endParaRPr lang="en-IN"/>
          </a:p>
        </p:txBody>
      </p:sp>
      <p:sp>
        <p:nvSpPr>
          <p:cNvPr id="9" name="Text 7"/>
          <p:cNvSpPr/>
          <p:nvPr/>
        </p:nvSpPr>
        <p:spPr>
          <a:xfrm>
            <a:off x="2834640" y="1417320"/>
            <a:ext cx="2286000" cy="1005840"/>
          </a:xfrm>
          <a:prstGeom prst="rect">
            <a:avLst/>
          </a:prstGeom>
          <a:noFill/>
          <a:ln/>
        </p:spPr>
        <p:txBody>
          <a:bodyPr wrap="square" rtlCol="0" anchor="ctr"/>
          <a:lstStyle/>
          <a:p>
            <a:pPr marL="0" indent="0" algn="ctr">
              <a:buNone/>
            </a:pPr>
            <a:r>
              <a:rPr lang="en-US" sz="5400" b="1" dirty="0">
                <a:solidFill>
                  <a:srgbClr val="F5C542"/>
                </a:solidFill>
                <a:latin typeface="Georgia" pitchFamily="34" charset="0"/>
                <a:ea typeface="Georgia" pitchFamily="34" charset="-122"/>
                <a:cs typeface="Georgia" pitchFamily="34" charset="-120"/>
              </a:rPr>
              <a:t>₹2L</a:t>
            </a:r>
            <a:endParaRPr lang="en-US" sz="5400" dirty="0"/>
          </a:p>
        </p:txBody>
      </p:sp>
      <p:sp>
        <p:nvSpPr>
          <p:cNvPr id="10" name="Text 8"/>
          <p:cNvSpPr/>
          <p:nvPr/>
        </p:nvSpPr>
        <p:spPr>
          <a:xfrm>
            <a:off x="2834640" y="2377440"/>
            <a:ext cx="2286000" cy="731520"/>
          </a:xfrm>
          <a:prstGeom prst="rect">
            <a:avLst/>
          </a:prstGeom>
          <a:noFill/>
          <a:ln/>
        </p:spPr>
        <p:txBody>
          <a:bodyPr wrap="square" rtlCol="0" anchor="ctr"/>
          <a:lstStyle/>
          <a:p>
            <a:pPr marL="0" indent="0" algn="ctr">
              <a:buNone/>
            </a:pPr>
            <a:r>
              <a:rPr lang="en-US" sz="1100" dirty="0">
                <a:solidFill>
                  <a:srgbClr val="AABBD8"/>
                </a:solidFill>
                <a:latin typeface="Calibri" pitchFamily="34" charset="0"/>
                <a:ea typeface="Calibri" pitchFamily="34" charset="-122"/>
                <a:cs typeface="Calibri" pitchFamily="34" charset="-120"/>
              </a:rPr>
              <a:t>Bloomberg Terminal</a:t>
            </a:r>
            <a:endParaRPr lang="en-US" sz="1100" dirty="0"/>
          </a:p>
          <a:p>
            <a:pPr marL="0" indent="0" algn="ctr">
              <a:buNone/>
            </a:pPr>
            <a:r>
              <a:rPr lang="en-US" sz="1100" dirty="0">
                <a:solidFill>
                  <a:srgbClr val="AABBD8"/>
                </a:solidFill>
                <a:latin typeface="Calibri" pitchFamily="34" charset="0"/>
                <a:ea typeface="Calibri" pitchFamily="34" charset="-122"/>
                <a:cs typeface="Calibri" pitchFamily="34" charset="-120"/>
              </a:rPr>
              <a:t>cost per year</a:t>
            </a:r>
            <a:endParaRPr lang="en-US" sz="1100" dirty="0"/>
          </a:p>
        </p:txBody>
      </p:sp>
      <p:sp>
        <p:nvSpPr>
          <p:cNvPr id="11" name="Shape 9"/>
          <p:cNvSpPr/>
          <p:nvPr/>
        </p:nvSpPr>
        <p:spPr>
          <a:xfrm>
            <a:off x="5394960" y="1280160"/>
            <a:ext cx="2286000" cy="201168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12" name="Text 10"/>
          <p:cNvSpPr/>
          <p:nvPr/>
        </p:nvSpPr>
        <p:spPr>
          <a:xfrm>
            <a:off x="5394960" y="1417320"/>
            <a:ext cx="2286000" cy="1005840"/>
          </a:xfrm>
          <a:prstGeom prst="rect">
            <a:avLst/>
          </a:prstGeom>
          <a:noFill/>
          <a:ln/>
        </p:spPr>
        <p:txBody>
          <a:bodyPr wrap="square" rtlCol="0" anchor="ctr"/>
          <a:lstStyle/>
          <a:p>
            <a:pPr marL="0" indent="0" algn="ctr">
              <a:buNone/>
            </a:pPr>
            <a:r>
              <a:rPr lang="en-US" sz="5400" b="1" dirty="0">
                <a:solidFill>
                  <a:srgbClr val="00C896"/>
                </a:solidFill>
                <a:latin typeface="Georgia" pitchFamily="34" charset="0"/>
                <a:ea typeface="Georgia" pitchFamily="34" charset="-122"/>
                <a:cs typeface="Georgia" pitchFamily="34" charset="-120"/>
              </a:rPr>
              <a:t>6+</a:t>
            </a:r>
            <a:endParaRPr lang="en-US" sz="5400" dirty="0"/>
          </a:p>
        </p:txBody>
      </p:sp>
      <p:sp>
        <p:nvSpPr>
          <p:cNvPr id="13" name="Text 11"/>
          <p:cNvSpPr/>
          <p:nvPr/>
        </p:nvSpPr>
        <p:spPr>
          <a:xfrm>
            <a:off x="5394960" y="2377440"/>
            <a:ext cx="2286000" cy="731520"/>
          </a:xfrm>
          <a:prstGeom prst="rect">
            <a:avLst/>
          </a:prstGeom>
          <a:noFill/>
          <a:ln/>
        </p:spPr>
        <p:txBody>
          <a:bodyPr wrap="square" rtlCol="0" anchor="ctr"/>
          <a:lstStyle/>
          <a:p>
            <a:pPr marL="0" indent="0" algn="ctr">
              <a:buNone/>
            </a:pPr>
            <a:r>
              <a:rPr lang="en-US" sz="1100" dirty="0">
                <a:solidFill>
                  <a:srgbClr val="AABBD8"/>
                </a:solidFill>
                <a:latin typeface="Calibri" pitchFamily="34" charset="0"/>
                <a:ea typeface="Calibri" pitchFamily="34" charset="-122"/>
                <a:cs typeface="Calibri" pitchFamily="34" charset="-120"/>
              </a:rPr>
              <a:t>websites needed for</a:t>
            </a:r>
            <a:endParaRPr lang="en-US" sz="1100" dirty="0"/>
          </a:p>
          <a:p>
            <a:pPr marL="0" indent="0" algn="ctr">
              <a:buNone/>
            </a:pPr>
            <a:r>
              <a:rPr lang="en-US" sz="1100" dirty="0">
                <a:solidFill>
                  <a:srgbClr val="AABBD8"/>
                </a:solidFill>
                <a:latin typeface="Calibri" pitchFamily="34" charset="0"/>
                <a:ea typeface="Calibri" pitchFamily="34" charset="-122"/>
                <a:cs typeface="Calibri" pitchFamily="34" charset="-120"/>
              </a:rPr>
              <a:t>one investment decision</a:t>
            </a:r>
            <a:endParaRPr lang="en-US" sz="1100" dirty="0"/>
          </a:p>
        </p:txBody>
      </p:sp>
      <p:sp>
        <p:nvSpPr>
          <p:cNvPr id="14" name="Shape 12"/>
          <p:cNvSpPr/>
          <p:nvPr/>
        </p:nvSpPr>
        <p:spPr>
          <a:xfrm>
            <a:off x="7955280" y="1280160"/>
            <a:ext cx="822960" cy="2011680"/>
          </a:xfrm>
          <a:prstGeom prst="rect">
            <a:avLst/>
          </a:prstGeom>
          <a:solidFill>
            <a:srgbClr val="132140"/>
          </a:solidFill>
          <a:ln w="12700">
            <a:solidFill>
              <a:srgbClr val="1D72E8"/>
            </a:solidFill>
            <a:prstDash val="solid"/>
          </a:ln>
          <a:effectLst>
            <a:outerShdw blurRad="101600" dist="38100" dir="8100000" algn="bl" rotWithShape="0">
              <a:srgbClr val="000000">
                <a:alpha val="18000"/>
              </a:srgbClr>
            </a:outerShdw>
          </a:effectLst>
        </p:spPr>
        <p:txBody>
          <a:bodyPr/>
          <a:lstStyle/>
          <a:p>
            <a:endParaRPr lang="en-IN"/>
          </a:p>
        </p:txBody>
      </p:sp>
      <p:sp>
        <p:nvSpPr>
          <p:cNvPr id="15" name="Text 13"/>
          <p:cNvSpPr/>
          <p:nvPr/>
        </p:nvSpPr>
        <p:spPr>
          <a:xfrm>
            <a:off x="7955280" y="1417320"/>
            <a:ext cx="822960" cy="1005840"/>
          </a:xfrm>
          <a:prstGeom prst="rect">
            <a:avLst/>
          </a:prstGeom>
          <a:noFill/>
          <a:ln/>
        </p:spPr>
        <p:txBody>
          <a:bodyPr wrap="square" rtlCol="0" anchor="ctr"/>
          <a:lstStyle/>
          <a:p>
            <a:pPr marL="0" indent="0" algn="ctr">
              <a:buNone/>
            </a:pPr>
            <a:r>
              <a:rPr lang="en-US" sz="3600" b="1" dirty="0">
                <a:solidFill>
                  <a:srgbClr val="1D72E8"/>
                </a:solidFill>
                <a:latin typeface="Georgia" pitchFamily="34" charset="0"/>
                <a:ea typeface="Georgia" pitchFamily="34" charset="-122"/>
                <a:cs typeface="Georgia" pitchFamily="34" charset="-120"/>
              </a:rPr>
              <a:t>0</a:t>
            </a:r>
            <a:endParaRPr lang="en-US" sz="3600" dirty="0"/>
          </a:p>
        </p:txBody>
      </p:sp>
      <p:sp>
        <p:nvSpPr>
          <p:cNvPr id="16" name="Text 14"/>
          <p:cNvSpPr/>
          <p:nvPr/>
        </p:nvSpPr>
        <p:spPr>
          <a:xfrm>
            <a:off x="7955280" y="2377440"/>
            <a:ext cx="822960" cy="731520"/>
          </a:xfrm>
          <a:prstGeom prst="rect">
            <a:avLst/>
          </a:prstGeom>
          <a:noFill/>
          <a:ln/>
        </p:spPr>
        <p:txBody>
          <a:bodyPr wrap="square" rtlCol="0" anchor="ctr"/>
          <a:lstStyle/>
          <a:p>
            <a:pPr marL="0" indent="0" algn="ctr">
              <a:buNone/>
            </a:pPr>
            <a:r>
              <a:rPr lang="en-US" sz="900" dirty="0">
                <a:solidFill>
                  <a:srgbClr val="AABBD8"/>
                </a:solidFill>
                <a:latin typeface="Calibri" pitchFamily="34" charset="0"/>
                <a:ea typeface="Calibri" pitchFamily="34" charset="-122"/>
                <a:cs typeface="Calibri" pitchFamily="34" charset="-120"/>
              </a:rPr>
              <a:t>Free AI tools</a:t>
            </a:r>
            <a:endParaRPr lang="en-US" sz="900" dirty="0"/>
          </a:p>
          <a:p>
            <a:pPr marL="0" indent="0" algn="ctr">
              <a:buNone/>
            </a:pPr>
            <a:r>
              <a:rPr lang="en-US" sz="900" dirty="0">
                <a:solidFill>
                  <a:srgbClr val="AABBD8"/>
                </a:solidFill>
                <a:latin typeface="Calibri" pitchFamily="34" charset="0"/>
                <a:ea typeface="Calibri" pitchFamily="34" charset="-122"/>
                <a:cs typeface="Calibri" pitchFamily="34" charset="-120"/>
              </a:rPr>
              <a:t>for Indian markets</a:t>
            </a:r>
            <a:endParaRPr lang="en-US" sz="900" dirty="0"/>
          </a:p>
        </p:txBody>
      </p:sp>
      <p:sp>
        <p:nvSpPr>
          <p:cNvPr id="17" name="Shape 15"/>
          <p:cNvSpPr/>
          <p:nvPr/>
        </p:nvSpPr>
        <p:spPr>
          <a:xfrm>
            <a:off x="274320" y="3474720"/>
            <a:ext cx="1965960" cy="1417320"/>
          </a:xfrm>
          <a:prstGeom prst="rect">
            <a:avLst/>
          </a:prstGeom>
          <a:solidFill>
            <a:srgbClr val="071830"/>
          </a:solidFill>
          <a:ln w="12700">
            <a:solidFill>
              <a:srgbClr val="1E3A5F"/>
            </a:solidFill>
            <a:prstDash val="solid"/>
          </a:ln>
          <a:effectLst>
            <a:outerShdw blurRad="101600" dist="38100" dir="8100000" algn="bl" rotWithShape="0">
              <a:srgbClr val="000000">
                <a:alpha val="18000"/>
              </a:srgbClr>
            </a:outerShdw>
          </a:effectLst>
        </p:spPr>
        <p:txBody>
          <a:bodyPr/>
          <a:lstStyle/>
          <a:p>
            <a:endParaRPr lang="en-IN"/>
          </a:p>
        </p:txBody>
      </p:sp>
      <p:sp>
        <p:nvSpPr>
          <p:cNvPr id="18" name="Shape 16"/>
          <p:cNvSpPr/>
          <p:nvPr/>
        </p:nvSpPr>
        <p:spPr>
          <a:xfrm>
            <a:off x="274320" y="3474720"/>
            <a:ext cx="1965960" cy="256032"/>
          </a:xfrm>
          <a:prstGeom prst="rect">
            <a:avLst/>
          </a:prstGeom>
          <a:solidFill>
            <a:srgbClr val="FF5252"/>
          </a:solidFill>
          <a:ln/>
        </p:spPr>
        <p:txBody>
          <a:bodyPr/>
          <a:lstStyle/>
          <a:p>
            <a:endParaRPr lang="en-IN"/>
          </a:p>
        </p:txBody>
      </p:sp>
      <p:sp>
        <p:nvSpPr>
          <p:cNvPr id="19" name="Text 17"/>
          <p:cNvSpPr/>
          <p:nvPr/>
        </p:nvSpPr>
        <p:spPr>
          <a:xfrm>
            <a:off x="274320" y="3474720"/>
            <a:ext cx="196596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 Guidance</a:t>
            </a:r>
            <a:endParaRPr lang="en-US" sz="1000" dirty="0"/>
          </a:p>
        </p:txBody>
      </p:sp>
      <p:sp>
        <p:nvSpPr>
          <p:cNvPr id="20" name="Text 18"/>
          <p:cNvSpPr/>
          <p:nvPr/>
        </p:nvSpPr>
        <p:spPr>
          <a:xfrm>
            <a:off x="365760" y="3767328"/>
            <a:ext cx="1783080" cy="1051560"/>
          </a:xfrm>
          <a:prstGeom prst="rect">
            <a:avLst/>
          </a:prstGeom>
          <a:noFill/>
          <a:ln/>
        </p:spPr>
        <p:txBody>
          <a:bodyPr wrap="square" rtlCol="0" anchor="ctr"/>
          <a:lstStyle/>
          <a:p>
            <a:pPr marL="0" indent="0">
              <a:buNone/>
            </a:pPr>
            <a:r>
              <a:rPr lang="en-US" sz="1000" dirty="0">
                <a:solidFill>
                  <a:srgbClr val="AABBD8"/>
                </a:solidFill>
                <a:latin typeface="Calibri" pitchFamily="34" charset="0"/>
                <a:ea typeface="Calibri" pitchFamily="34" charset="-122"/>
                <a:cs typeface="Calibri" pitchFamily="34" charset="-120"/>
              </a:rPr>
              <a:t>Retail investors rely on unverified tips and YouTube videos.</a:t>
            </a:r>
            <a:endParaRPr lang="en-US" sz="1000" dirty="0"/>
          </a:p>
        </p:txBody>
      </p:sp>
      <p:sp>
        <p:nvSpPr>
          <p:cNvPr id="21" name="Shape 19"/>
          <p:cNvSpPr/>
          <p:nvPr/>
        </p:nvSpPr>
        <p:spPr>
          <a:xfrm>
            <a:off x="2450592" y="3474720"/>
            <a:ext cx="1965960" cy="1417320"/>
          </a:xfrm>
          <a:prstGeom prst="rect">
            <a:avLst/>
          </a:prstGeom>
          <a:solidFill>
            <a:srgbClr val="071830"/>
          </a:solidFill>
          <a:ln w="12700">
            <a:solidFill>
              <a:srgbClr val="1E3A5F"/>
            </a:solidFill>
            <a:prstDash val="solid"/>
          </a:ln>
          <a:effectLst>
            <a:outerShdw blurRad="101600" dist="38100" dir="8100000" algn="bl" rotWithShape="0">
              <a:srgbClr val="000000">
                <a:alpha val="18000"/>
              </a:srgbClr>
            </a:outerShdw>
          </a:effectLst>
        </p:spPr>
        <p:txBody>
          <a:bodyPr/>
          <a:lstStyle/>
          <a:p>
            <a:endParaRPr lang="en-IN"/>
          </a:p>
        </p:txBody>
      </p:sp>
      <p:sp>
        <p:nvSpPr>
          <p:cNvPr id="22" name="Shape 20"/>
          <p:cNvSpPr/>
          <p:nvPr/>
        </p:nvSpPr>
        <p:spPr>
          <a:xfrm>
            <a:off x="2450592" y="3474720"/>
            <a:ext cx="1965960" cy="256032"/>
          </a:xfrm>
          <a:prstGeom prst="rect">
            <a:avLst/>
          </a:prstGeom>
          <a:solidFill>
            <a:srgbClr val="FF5252"/>
          </a:solidFill>
          <a:ln/>
        </p:spPr>
        <p:txBody>
          <a:bodyPr/>
          <a:lstStyle/>
          <a:p>
            <a:endParaRPr lang="en-IN"/>
          </a:p>
        </p:txBody>
      </p:sp>
      <p:sp>
        <p:nvSpPr>
          <p:cNvPr id="23" name="Text 21"/>
          <p:cNvSpPr/>
          <p:nvPr/>
        </p:nvSpPr>
        <p:spPr>
          <a:xfrm>
            <a:off x="2450592" y="3474720"/>
            <a:ext cx="196596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Expensive Tools</a:t>
            </a:r>
            <a:endParaRPr lang="en-US" sz="1000" dirty="0"/>
          </a:p>
        </p:txBody>
      </p:sp>
      <p:sp>
        <p:nvSpPr>
          <p:cNvPr id="24" name="Text 22"/>
          <p:cNvSpPr/>
          <p:nvPr/>
        </p:nvSpPr>
        <p:spPr>
          <a:xfrm>
            <a:off x="2542032" y="3767328"/>
            <a:ext cx="1783080" cy="1051560"/>
          </a:xfrm>
          <a:prstGeom prst="rect">
            <a:avLst/>
          </a:prstGeom>
          <a:noFill/>
          <a:ln/>
        </p:spPr>
        <p:txBody>
          <a:bodyPr wrap="square" rtlCol="0" anchor="ctr"/>
          <a:lstStyle/>
          <a:p>
            <a:pPr marL="0" indent="0">
              <a:buNone/>
            </a:pPr>
            <a:r>
              <a:rPr lang="en-US" sz="1000" dirty="0">
                <a:solidFill>
                  <a:srgbClr val="AABBD8"/>
                </a:solidFill>
                <a:latin typeface="Calibri" pitchFamily="34" charset="0"/>
                <a:ea typeface="Calibri" pitchFamily="34" charset="-122"/>
                <a:cs typeface="Calibri" pitchFamily="34" charset="-120"/>
              </a:rPr>
              <a:t>Professional platforms cost ₹1,500–₹2,00,000/year — unaffordable.</a:t>
            </a:r>
            <a:endParaRPr lang="en-US" sz="1000" dirty="0"/>
          </a:p>
        </p:txBody>
      </p:sp>
      <p:sp>
        <p:nvSpPr>
          <p:cNvPr id="25" name="Shape 23"/>
          <p:cNvSpPr/>
          <p:nvPr/>
        </p:nvSpPr>
        <p:spPr>
          <a:xfrm>
            <a:off x="4626864" y="3474720"/>
            <a:ext cx="1965960" cy="1417320"/>
          </a:xfrm>
          <a:prstGeom prst="rect">
            <a:avLst/>
          </a:prstGeom>
          <a:solidFill>
            <a:srgbClr val="071830"/>
          </a:solidFill>
          <a:ln w="12700">
            <a:solidFill>
              <a:srgbClr val="1E3A5F"/>
            </a:solidFill>
            <a:prstDash val="solid"/>
          </a:ln>
          <a:effectLst>
            <a:outerShdw blurRad="101600" dist="38100" dir="8100000" algn="bl" rotWithShape="0">
              <a:srgbClr val="000000">
                <a:alpha val="18000"/>
              </a:srgbClr>
            </a:outerShdw>
          </a:effectLst>
        </p:spPr>
        <p:txBody>
          <a:bodyPr/>
          <a:lstStyle/>
          <a:p>
            <a:endParaRPr lang="en-IN"/>
          </a:p>
        </p:txBody>
      </p:sp>
      <p:sp>
        <p:nvSpPr>
          <p:cNvPr id="26" name="Shape 24"/>
          <p:cNvSpPr/>
          <p:nvPr/>
        </p:nvSpPr>
        <p:spPr>
          <a:xfrm>
            <a:off x="4626864" y="3474720"/>
            <a:ext cx="1965960" cy="256032"/>
          </a:xfrm>
          <a:prstGeom prst="rect">
            <a:avLst/>
          </a:prstGeom>
          <a:solidFill>
            <a:srgbClr val="FF5252"/>
          </a:solidFill>
          <a:ln/>
        </p:spPr>
        <p:txBody>
          <a:bodyPr/>
          <a:lstStyle/>
          <a:p>
            <a:endParaRPr lang="en-IN"/>
          </a:p>
        </p:txBody>
      </p:sp>
      <p:sp>
        <p:nvSpPr>
          <p:cNvPr id="27" name="Text 25"/>
          <p:cNvSpPr/>
          <p:nvPr/>
        </p:nvSpPr>
        <p:spPr>
          <a:xfrm>
            <a:off x="4626864" y="3474720"/>
            <a:ext cx="196596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Scattered Data</a:t>
            </a:r>
            <a:endParaRPr lang="en-US" sz="1000" dirty="0"/>
          </a:p>
        </p:txBody>
      </p:sp>
      <p:sp>
        <p:nvSpPr>
          <p:cNvPr id="28" name="Text 26"/>
          <p:cNvSpPr/>
          <p:nvPr/>
        </p:nvSpPr>
        <p:spPr>
          <a:xfrm>
            <a:off x="4718304" y="3767328"/>
            <a:ext cx="1783080" cy="1051560"/>
          </a:xfrm>
          <a:prstGeom prst="rect">
            <a:avLst/>
          </a:prstGeom>
          <a:noFill/>
          <a:ln/>
        </p:spPr>
        <p:txBody>
          <a:bodyPr wrap="square" rtlCol="0" anchor="ctr"/>
          <a:lstStyle/>
          <a:p>
            <a:pPr marL="0" indent="0">
              <a:buNone/>
            </a:pPr>
            <a:r>
              <a:rPr lang="en-US" sz="1000" dirty="0">
                <a:solidFill>
                  <a:srgbClr val="AABBD8"/>
                </a:solidFill>
                <a:latin typeface="Calibri" pitchFamily="34" charset="0"/>
                <a:ea typeface="Calibri" pitchFamily="34" charset="-122"/>
                <a:cs typeface="Calibri" pitchFamily="34" charset="-120"/>
              </a:rPr>
              <a:t>NSE, Moneycontrol, Screener, TradingView, AMFI — 6 sites for 1 trade.</a:t>
            </a:r>
            <a:endParaRPr lang="en-US" sz="1000" dirty="0"/>
          </a:p>
        </p:txBody>
      </p:sp>
      <p:sp>
        <p:nvSpPr>
          <p:cNvPr id="29" name="Shape 27"/>
          <p:cNvSpPr/>
          <p:nvPr/>
        </p:nvSpPr>
        <p:spPr>
          <a:xfrm>
            <a:off x="6803136" y="3474720"/>
            <a:ext cx="1965960" cy="1417320"/>
          </a:xfrm>
          <a:prstGeom prst="rect">
            <a:avLst/>
          </a:prstGeom>
          <a:solidFill>
            <a:srgbClr val="071830"/>
          </a:solidFill>
          <a:ln w="12700">
            <a:solidFill>
              <a:srgbClr val="1E3A5F"/>
            </a:solidFill>
            <a:prstDash val="solid"/>
          </a:ln>
          <a:effectLst>
            <a:outerShdw blurRad="101600" dist="38100" dir="8100000" algn="bl" rotWithShape="0">
              <a:srgbClr val="000000">
                <a:alpha val="18000"/>
              </a:srgbClr>
            </a:outerShdw>
          </a:effectLst>
        </p:spPr>
        <p:txBody>
          <a:bodyPr/>
          <a:lstStyle/>
          <a:p>
            <a:endParaRPr lang="en-IN"/>
          </a:p>
        </p:txBody>
      </p:sp>
      <p:sp>
        <p:nvSpPr>
          <p:cNvPr id="30" name="Shape 28"/>
          <p:cNvSpPr/>
          <p:nvPr/>
        </p:nvSpPr>
        <p:spPr>
          <a:xfrm>
            <a:off x="6803136" y="3474720"/>
            <a:ext cx="1965960" cy="256032"/>
          </a:xfrm>
          <a:prstGeom prst="rect">
            <a:avLst/>
          </a:prstGeom>
          <a:solidFill>
            <a:srgbClr val="FF5252"/>
          </a:solidFill>
          <a:ln/>
        </p:spPr>
        <p:txBody>
          <a:bodyPr/>
          <a:lstStyle/>
          <a:p>
            <a:endParaRPr lang="en-IN"/>
          </a:p>
        </p:txBody>
      </p:sp>
      <p:sp>
        <p:nvSpPr>
          <p:cNvPr id="31" name="Text 29"/>
          <p:cNvSpPr/>
          <p:nvPr/>
        </p:nvSpPr>
        <p:spPr>
          <a:xfrm>
            <a:off x="6803136" y="3474720"/>
            <a:ext cx="196596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 Free AI</a:t>
            </a:r>
            <a:endParaRPr lang="en-US" sz="1000" dirty="0"/>
          </a:p>
        </p:txBody>
      </p:sp>
      <p:sp>
        <p:nvSpPr>
          <p:cNvPr id="32" name="Text 30"/>
          <p:cNvSpPr/>
          <p:nvPr/>
        </p:nvSpPr>
        <p:spPr>
          <a:xfrm>
            <a:off x="6894576" y="3767328"/>
            <a:ext cx="1783080" cy="1051560"/>
          </a:xfrm>
          <a:prstGeom prst="rect">
            <a:avLst/>
          </a:prstGeom>
          <a:noFill/>
          <a:ln/>
        </p:spPr>
        <p:txBody>
          <a:bodyPr wrap="square" rtlCol="0" anchor="ctr"/>
          <a:lstStyle/>
          <a:p>
            <a:pPr marL="0" indent="0">
              <a:buNone/>
            </a:pPr>
            <a:r>
              <a:rPr lang="en-US" sz="1000" dirty="0">
                <a:solidFill>
                  <a:srgbClr val="AABBD8"/>
                </a:solidFill>
                <a:latin typeface="Calibri" pitchFamily="34" charset="0"/>
                <a:ea typeface="Calibri" pitchFamily="34" charset="-122"/>
                <a:cs typeface="Calibri" pitchFamily="34" charset="-120"/>
              </a:rPr>
              <a:t>ChatGPT lacks Indian stock data; Bloomberg AI costs lakhs.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txBody>
          <a:bodyPr/>
          <a:lstStyle/>
          <a:p>
            <a:endParaRPr lang="en-IN"/>
          </a:p>
        </p:txBody>
      </p:sp>
      <p:sp>
        <p:nvSpPr>
          <p:cNvPr id="3" name="Shape 1"/>
          <p:cNvSpPr/>
          <p:nvPr/>
        </p:nvSpPr>
        <p:spPr>
          <a:xfrm>
            <a:off x="0" y="1005840"/>
            <a:ext cx="9144000" cy="54864"/>
          </a:xfrm>
          <a:prstGeom prst="rect">
            <a:avLst/>
          </a:prstGeom>
          <a:solidFill>
            <a:srgbClr val="00C896"/>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OBJECTIVES</a:t>
            </a:r>
            <a:endParaRPr lang="en-US" sz="3000" dirty="0"/>
          </a:p>
        </p:txBody>
      </p:sp>
      <p:sp>
        <p:nvSpPr>
          <p:cNvPr id="5" name="Shape 3"/>
          <p:cNvSpPr/>
          <p:nvPr/>
        </p:nvSpPr>
        <p:spPr>
          <a:xfrm>
            <a:off x="274320" y="1234440"/>
            <a:ext cx="2743200" cy="16916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74320" y="1234440"/>
            <a:ext cx="2743200" cy="347472"/>
          </a:xfrm>
          <a:prstGeom prst="rect">
            <a:avLst/>
          </a:prstGeom>
          <a:solidFill>
            <a:srgbClr val="00C896"/>
          </a:solidFill>
          <a:ln/>
        </p:spPr>
        <p:txBody>
          <a:bodyPr/>
          <a:lstStyle/>
          <a:p>
            <a:endParaRPr lang="en-IN"/>
          </a:p>
        </p:txBody>
      </p:sp>
      <p:sp>
        <p:nvSpPr>
          <p:cNvPr id="7" name="Text 5"/>
          <p:cNvSpPr/>
          <p:nvPr/>
        </p:nvSpPr>
        <p:spPr>
          <a:xfrm>
            <a:off x="365760" y="1234440"/>
            <a:ext cx="548640" cy="34747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8" name="Text 6"/>
          <p:cNvSpPr/>
          <p:nvPr/>
        </p:nvSpPr>
        <p:spPr>
          <a:xfrm>
            <a:off x="777240" y="1234440"/>
            <a:ext cx="2148840" cy="34747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Democratize Access</a:t>
            </a:r>
            <a:endParaRPr lang="en-US" sz="1200" dirty="0"/>
          </a:p>
        </p:txBody>
      </p:sp>
      <p:sp>
        <p:nvSpPr>
          <p:cNvPr id="9" name="Text 7"/>
          <p:cNvSpPr/>
          <p:nvPr/>
        </p:nvSpPr>
        <p:spPr>
          <a:xfrm>
            <a:off x="411480" y="1645920"/>
            <a:ext cx="2468880" cy="1188720"/>
          </a:xfrm>
          <a:prstGeom prst="rect">
            <a:avLst/>
          </a:prstGeom>
          <a:noFill/>
          <a:ln/>
        </p:spPr>
        <p:txBody>
          <a:bodyPr wrap="square" rtlCol="0" anchor="ctr"/>
          <a:lstStyle/>
          <a:p>
            <a:pPr marL="0" indent="0">
              <a:buNone/>
            </a:pPr>
            <a:r>
              <a:rPr lang="en-US" sz="1100" dirty="0">
                <a:solidFill>
                  <a:srgbClr val="374A6B"/>
                </a:solidFill>
                <a:latin typeface="Calibri" pitchFamily="34" charset="0"/>
                <a:ea typeface="Calibri" pitchFamily="34" charset="-122"/>
                <a:cs typeface="Calibri" pitchFamily="34" charset="-120"/>
              </a:rPr>
              <a:t>Give every Indian retail investor the same analysis-quality as institutional traders — completely free.</a:t>
            </a:r>
            <a:endParaRPr lang="en-US" sz="1100" dirty="0"/>
          </a:p>
        </p:txBody>
      </p:sp>
      <p:sp>
        <p:nvSpPr>
          <p:cNvPr id="10" name="Shape 8"/>
          <p:cNvSpPr/>
          <p:nvPr/>
        </p:nvSpPr>
        <p:spPr>
          <a:xfrm>
            <a:off x="3218688" y="1234440"/>
            <a:ext cx="2743200" cy="16916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11" name="Shape 9"/>
          <p:cNvSpPr/>
          <p:nvPr/>
        </p:nvSpPr>
        <p:spPr>
          <a:xfrm>
            <a:off x="3218688" y="1234440"/>
            <a:ext cx="2743200" cy="347472"/>
          </a:xfrm>
          <a:prstGeom prst="rect">
            <a:avLst/>
          </a:prstGeom>
          <a:solidFill>
            <a:srgbClr val="1D72E8"/>
          </a:solidFill>
          <a:ln/>
        </p:spPr>
        <p:txBody>
          <a:bodyPr/>
          <a:lstStyle/>
          <a:p>
            <a:endParaRPr lang="en-IN"/>
          </a:p>
        </p:txBody>
      </p:sp>
      <p:sp>
        <p:nvSpPr>
          <p:cNvPr id="12" name="Text 10"/>
          <p:cNvSpPr/>
          <p:nvPr/>
        </p:nvSpPr>
        <p:spPr>
          <a:xfrm>
            <a:off x="3310128" y="1234440"/>
            <a:ext cx="548640" cy="34747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3" name="Text 11"/>
          <p:cNvSpPr/>
          <p:nvPr/>
        </p:nvSpPr>
        <p:spPr>
          <a:xfrm>
            <a:off x="3721608" y="1234440"/>
            <a:ext cx="2148840" cy="34747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One Unified Platform</a:t>
            </a:r>
            <a:endParaRPr lang="en-US" sz="1200" dirty="0"/>
          </a:p>
        </p:txBody>
      </p:sp>
      <p:sp>
        <p:nvSpPr>
          <p:cNvPr id="14" name="Text 12"/>
          <p:cNvSpPr/>
          <p:nvPr/>
        </p:nvSpPr>
        <p:spPr>
          <a:xfrm>
            <a:off x="3355848" y="1645920"/>
            <a:ext cx="2468880" cy="1188720"/>
          </a:xfrm>
          <a:prstGeom prst="rect">
            <a:avLst/>
          </a:prstGeom>
          <a:noFill/>
          <a:ln/>
        </p:spPr>
        <p:txBody>
          <a:bodyPr wrap="square" rtlCol="0" anchor="ctr"/>
          <a:lstStyle/>
          <a:p>
            <a:pPr marL="0" indent="0">
              <a:buNone/>
            </a:pPr>
            <a:r>
              <a:rPr lang="en-US" sz="1100" dirty="0">
                <a:solidFill>
                  <a:srgbClr val="374A6B"/>
                </a:solidFill>
                <a:latin typeface="Calibri" pitchFamily="34" charset="0"/>
                <a:ea typeface="Calibri" pitchFamily="34" charset="-122"/>
                <a:cs typeface="Calibri" pitchFamily="34" charset="-120"/>
              </a:rPr>
              <a:t>Replace 6+ fragmented websites with a single app covering stocks, IPOs, MFs, and smart money.</a:t>
            </a:r>
            <a:endParaRPr lang="en-US" sz="1100" dirty="0"/>
          </a:p>
        </p:txBody>
      </p:sp>
      <p:sp>
        <p:nvSpPr>
          <p:cNvPr id="15" name="Shape 13"/>
          <p:cNvSpPr/>
          <p:nvPr/>
        </p:nvSpPr>
        <p:spPr>
          <a:xfrm>
            <a:off x="6163056" y="1234440"/>
            <a:ext cx="2743200" cy="16916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16" name="Shape 14"/>
          <p:cNvSpPr/>
          <p:nvPr/>
        </p:nvSpPr>
        <p:spPr>
          <a:xfrm>
            <a:off x="6163056" y="1234440"/>
            <a:ext cx="2743200" cy="347472"/>
          </a:xfrm>
          <a:prstGeom prst="rect">
            <a:avLst/>
          </a:prstGeom>
          <a:solidFill>
            <a:srgbClr val="F5C542"/>
          </a:solidFill>
          <a:ln/>
        </p:spPr>
        <p:txBody>
          <a:bodyPr/>
          <a:lstStyle/>
          <a:p>
            <a:endParaRPr lang="en-IN"/>
          </a:p>
        </p:txBody>
      </p:sp>
      <p:sp>
        <p:nvSpPr>
          <p:cNvPr id="17" name="Text 15"/>
          <p:cNvSpPr/>
          <p:nvPr/>
        </p:nvSpPr>
        <p:spPr>
          <a:xfrm>
            <a:off x="6254496" y="1234440"/>
            <a:ext cx="548640" cy="34747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18" name="Text 16"/>
          <p:cNvSpPr/>
          <p:nvPr/>
        </p:nvSpPr>
        <p:spPr>
          <a:xfrm>
            <a:off x="6665976" y="1234440"/>
            <a:ext cx="2148840" cy="34747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AI-Driven Decisions</a:t>
            </a:r>
            <a:endParaRPr lang="en-US" sz="1200" dirty="0"/>
          </a:p>
        </p:txBody>
      </p:sp>
      <p:sp>
        <p:nvSpPr>
          <p:cNvPr id="19" name="Text 17"/>
          <p:cNvSpPr/>
          <p:nvPr/>
        </p:nvSpPr>
        <p:spPr>
          <a:xfrm>
            <a:off x="6300216" y="1645920"/>
            <a:ext cx="2468880" cy="1188720"/>
          </a:xfrm>
          <a:prstGeom prst="rect">
            <a:avLst/>
          </a:prstGeom>
          <a:noFill/>
          <a:ln/>
        </p:spPr>
        <p:txBody>
          <a:bodyPr wrap="square" rtlCol="0" anchor="ctr"/>
          <a:lstStyle/>
          <a:p>
            <a:pPr marL="0" indent="0">
              <a:buNone/>
            </a:pPr>
            <a:r>
              <a:rPr lang="en-US" sz="1100" dirty="0">
                <a:solidFill>
                  <a:srgbClr val="374A6B"/>
                </a:solidFill>
                <a:latin typeface="Calibri" pitchFamily="34" charset="0"/>
                <a:ea typeface="Calibri" pitchFamily="34" charset="-122"/>
                <a:cs typeface="Calibri" pitchFamily="34" charset="-120"/>
              </a:rPr>
              <a:t>Use Groq's Llama 3.3 70B to deliver BUY/SELL/HOLD with confidence score, entry, target and stop-loss.</a:t>
            </a:r>
            <a:endParaRPr lang="en-US" sz="1100" dirty="0"/>
          </a:p>
        </p:txBody>
      </p:sp>
      <p:sp>
        <p:nvSpPr>
          <p:cNvPr id="20" name="Shape 18"/>
          <p:cNvSpPr/>
          <p:nvPr/>
        </p:nvSpPr>
        <p:spPr>
          <a:xfrm>
            <a:off x="274320" y="3108960"/>
            <a:ext cx="2743200" cy="16916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21" name="Shape 19"/>
          <p:cNvSpPr/>
          <p:nvPr/>
        </p:nvSpPr>
        <p:spPr>
          <a:xfrm>
            <a:off x="274320" y="3108960"/>
            <a:ext cx="2743200" cy="347472"/>
          </a:xfrm>
          <a:prstGeom prst="rect">
            <a:avLst/>
          </a:prstGeom>
          <a:solidFill>
            <a:srgbClr val="E040FB"/>
          </a:solidFill>
          <a:ln/>
        </p:spPr>
        <p:txBody>
          <a:bodyPr/>
          <a:lstStyle/>
          <a:p>
            <a:endParaRPr lang="en-IN"/>
          </a:p>
        </p:txBody>
      </p:sp>
      <p:sp>
        <p:nvSpPr>
          <p:cNvPr id="22" name="Text 20"/>
          <p:cNvSpPr/>
          <p:nvPr/>
        </p:nvSpPr>
        <p:spPr>
          <a:xfrm>
            <a:off x="365760" y="3108960"/>
            <a:ext cx="548640" cy="34747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23" name="Text 21"/>
          <p:cNvSpPr/>
          <p:nvPr/>
        </p:nvSpPr>
        <p:spPr>
          <a:xfrm>
            <a:off x="777240" y="3108960"/>
            <a:ext cx="2148840" cy="34747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Real-Time Intelligence</a:t>
            </a:r>
            <a:endParaRPr lang="en-US" sz="1200" dirty="0"/>
          </a:p>
        </p:txBody>
      </p:sp>
      <p:sp>
        <p:nvSpPr>
          <p:cNvPr id="24" name="Text 22"/>
          <p:cNvSpPr/>
          <p:nvPr/>
        </p:nvSpPr>
        <p:spPr>
          <a:xfrm>
            <a:off x="411480" y="3520440"/>
            <a:ext cx="2468880" cy="1188720"/>
          </a:xfrm>
          <a:prstGeom prst="rect">
            <a:avLst/>
          </a:prstGeom>
          <a:noFill/>
          <a:ln/>
        </p:spPr>
        <p:txBody>
          <a:bodyPr wrap="square" rtlCol="0" anchor="ctr"/>
          <a:lstStyle/>
          <a:p>
            <a:pPr marL="0" indent="0">
              <a:buNone/>
            </a:pPr>
            <a:r>
              <a:rPr lang="en-US" sz="1100" dirty="0">
                <a:solidFill>
                  <a:srgbClr val="374A6B"/>
                </a:solidFill>
                <a:latin typeface="Calibri" pitchFamily="34" charset="0"/>
                <a:ea typeface="Calibri" pitchFamily="34" charset="-122"/>
                <a:cs typeface="Calibri" pitchFamily="34" charset="-120"/>
              </a:rPr>
              <a:t>Zero hardcoded data — every piece of information is fetched live from official and reliable sources.</a:t>
            </a:r>
            <a:endParaRPr lang="en-US" sz="1100" dirty="0"/>
          </a:p>
        </p:txBody>
      </p:sp>
      <p:sp>
        <p:nvSpPr>
          <p:cNvPr id="25" name="Shape 23"/>
          <p:cNvSpPr/>
          <p:nvPr/>
        </p:nvSpPr>
        <p:spPr>
          <a:xfrm>
            <a:off x="3218688" y="3108960"/>
            <a:ext cx="2743200" cy="16916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26" name="Shape 24"/>
          <p:cNvSpPr/>
          <p:nvPr/>
        </p:nvSpPr>
        <p:spPr>
          <a:xfrm>
            <a:off x="3218688" y="3108960"/>
            <a:ext cx="2743200" cy="347472"/>
          </a:xfrm>
          <a:prstGeom prst="rect">
            <a:avLst/>
          </a:prstGeom>
          <a:solidFill>
            <a:srgbClr val="FF5252"/>
          </a:solidFill>
          <a:ln/>
        </p:spPr>
        <p:txBody>
          <a:bodyPr/>
          <a:lstStyle/>
          <a:p>
            <a:endParaRPr lang="en-IN"/>
          </a:p>
        </p:txBody>
      </p:sp>
      <p:sp>
        <p:nvSpPr>
          <p:cNvPr id="27" name="Text 25"/>
          <p:cNvSpPr/>
          <p:nvPr/>
        </p:nvSpPr>
        <p:spPr>
          <a:xfrm>
            <a:off x="3310128" y="3108960"/>
            <a:ext cx="548640" cy="34747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28" name="Text 26"/>
          <p:cNvSpPr/>
          <p:nvPr/>
        </p:nvSpPr>
        <p:spPr>
          <a:xfrm>
            <a:off x="3721608" y="3108960"/>
            <a:ext cx="2148840" cy="34747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Reduce Losses</a:t>
            </a:r>
            <a:endParaRPr lang="en-US" sz="1200" dirty="0"/>
          </a:p>
        </p:txBody>
      </p:sp>
      <p:sp>
        <p:nvSpPr>
          <p:cNvPr id="29" name="Text 27"/>
          <p:cNvSpPr/>
          <p:nvPr/>
        </p:nvSpPr>
        <p:spPr>
          <a:xfrm>
            <a:off x="3355848" y="3520440"/>
            <a:ext cx="2468880" cy="1188720"/>
          </a:xfrm>
          <a:prstGeom prst="rect">
            <a:avLst/>
          </a:prstGeom>
          <a:noFill/>
          <a:ln/>
        </p:spPr>
        <p:txBody>
          <a:bodyPr wrap="square" rtlCol="0" anchor="ctr"/>
          <a:lstStyle/>
          <a:p>
            <a:pPr marL="0" indent="0">
              <a:buNone/>
            </a:pPr>
            <a:r>
              <a:rPr lang="en-US" sz="1100" dirty="0">
                <a:solidFill>
                  <a:srgbClr val="374A6B"/>
                </a:solidFill>
                <a:latin typeface="Calibri" pitchFamily="34" charset="0"/>
                <a:ea typeface="Calibri" pitchFamily="34" charset="-122"/>
                <a:cs typeface="Calibri" pitchFamily="34" charset="-120"/>
              </a:rPr>
              <a:t>Cut the 95% retail loss rate by providing structured, evidence-backed investment decisions.</a:t>
            </a:r>
            <a:endParaRPr lang="en-US" sz="1100" dirty="0"/>
          </a:p>
        </p:txBody>
      </p:sp>
      <p:sp>
        <p:nvSpPr>
          <p:cNvPr id="30" name="Shape 28"/>
          <p:cNvSpPr/>
          <p:nvPr/>
        </p:nvSpPr>
        <p:spPr>
          <a:xfrm>
            <a:off x="6163056" y="3108960"/>
            <a:ext cx="2743200" cy="16916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31" name="Shape 29"/>
          <p:cNvSpPr/>
          <p:nvPr/>
        </p:nvSpPr>
        <p:spPr>
          <a:xfrm>
            <a:off x="6163056" y="3108960"/>
            <a:ext cx="2743200" cy="347472"/>
          </a:xfrm>
          <a:prstGeom prst="rect">
            <a:avLst/>
          </a:prstGeom>
          <a:solidFill>
            <a:srgbClr val="00BCD4"/>
          </a:solidFill>
          <a:ln/>
        </p:spPr>
        <p:txBody>
          <a:bodyPr/>
          <a:lstStyle/>
          <a:p>
            <a:endParaRPr lang="en-IN"/>
          </a:p>
        </p:txBody>
      </p:sp>
      <p:sp>
        <p:nvSpPr>
          <p:cNvPr id="32" name="Text 30"/>
          <p:cNvSpPr/>
          <p:nvPr/>
        </p:nvSpPr>
        <p:spPr>
          <a:xfrm>
            <a:off x="6254496" y="3108960"/>
            <a:ext cx="548640" cy="347472"/>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06</a:t>
            </a:r>
            <a:endParaRPr lang="en-US" sz="1400" dirty="0"/>
          </a:p>
        </p:txBody>
      </p:sp>
      <p:sp>
        <p:nvSpPr>
          <p:cNvPr id="33" name="Text 31"/>
          <p:cNvSpPr/>
          <p:nvPr/>
        </p:nvSpPr>
        <p:spPr>
          <a:xfrm>
            <a:off x="6665976" y="3108960"/>
            <a:ext cx="2148840" cy="347472"/>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Financial Literacy</a:t>
            </a:r>
            <a:endParaRPr lang="en-US" sz="1200" dirty="0"/>
          </a:p>
        </p:txBody>
      </p:sp>
      <p:sp>
        <p:nvSpPr>
          <p:cNvPr id="34" name="Text 32"/>
          <p:cNvSpPr/>
          <p:nvPr/>
        </p:nvSpPr>
        <p:spPr>
          <a:xfrm>
            <a:off x="6300216" y="3520440"/>
            <a:ext cx="2468880" cy="1188720"/>
          </a:xfrm>
          <a:prstGeom prst="rect">
            <a:avLst/>
          </a:prstGeom>
          <a:noFill/>
          <a:ln/>
        </p:spPr>
        <p:txBody>
          <a:bodyPr wrap="square" rtlCol="0" anchor="ctr"/>
          <a:lstStyle/>
          <a:p>
            <a:pPr marL="0" indent="0">
              <a:buNone/>
            </a:pPr>
            <a:r>
              <a:rPr lang="en-US" sz="1100" dirty="0">
                <a:solidFill>
                  <a:srgbClr val="374A6B"/>
                </a:solidFill>
                <a:latin typeface="Calibri" pitchFamily="34" charset="0"/>
                <a:ea typeface="Calibri" pitchFamily="34" charset="-122"/>
                <a:cs typeface="Calibri" pitchFamily="34" charset="-120"/>
              </a:rPr>
              <a:t>Explain the WHY behind every recommendation so users learn while they invest.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947BA-140F-21BC-9544-216D26B3E7D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E85A12D-44D3-7E5A-EAF0-469380B853AE}"/>
              </a:ext>
            </a:extLst>
          </p:cNvPr>
          <p:cNvSpPr/>
          <p:nvPr/>
        </p:nvSpPr>
        <p:spPr>
          <a:xfrm>
            <a:off x="-89450" y="-17994"/>
            <a:ext cx="9144000" cy="1051560"/>
          </a:xfrm>
          <a:prstGeom prst="rect">
            <a:avLst/>
          </a:prstGeom>
          <a:solidFill>
            <a:srgbClr val="071022"/>
          </a:solidFill>
          <a:ln/>
        </p:spPr>
        <p:txBody>
          <a:bodyPr/>
          <a:lstStyle/>
          <a:p>
            <a:endParaRPr lang="en-IN"/>
          </a:p>
        </p:txBody>
      </p:sp>
      <p:sp>
        <p:nvSpPr>
          <p:cNvPr id="3" name="Shape 1">
            <a:extLst>
              <a:ext uri="{FF2B5EF4-FFF2-40B4-BE49-F238E27FC236}">
                <a16:creationId xmlns:a16="http://schemas.microsoft.com/office/drawing/2014/main" id="{B76CD87E-D2E7-489A-EEF0-59FA2B172AEA}"/>
              </a:ext>
            </a:extLst>
          </p:cNvPr>
          <p:cNvSpPr/>
          <p:nvPr/>
        </p:nvSpPr>
        <p:spPr>
          <a:xfrm>
            <a:off x="0" y="1051560"/>
            <a:ext cx="9144000" cy="54864"/>
          </a:xfrm>
          <a:prstGeom prst="rect">
            <a:avLst/>
          </a:prstGeom>
          <a:solidFill>
            <a:srgbClr val="FF5252"/>
          </a:solidFill>
          <a:ln/>
        </p:spPr>
        <p:txBody>
          <a:bodyPr/>
          <a:lstStyle/>
          <a:p>
            <a:endParaRPr lang="en-IN"/>
          </a:p>
        </p:txBody>
      </p:sp>
      <p:sp>
        <p:nvSpPr>
          <p:cNvPr id="4" name="Text 2">
            <a:extLst>
              <a:ext uri="{FF2B5EF4-FFF2-40B4-BE49-F238E27FC236}">
                <a16:creationId xmlns:a16="http://schemas.microsoft.com/office/drawing/2014/main" id="{B65E2773-CB1F-0C71-940A-A607D1AFBBAE}"/>
              </a:ext>
            </a:extLst>
          </p:cNvPr>
          <p:cNvSpPr/>
          <p:nvPr/>
        </p:nvSpPr>
        <p:spPr>
          <a:xfrm>
            <a:off x="365760" y="109728"/>
            <a:ext cx="8229600" cy="822960"/>
          </a:xfrm>
          <a:prstGeom prst="rect">
            <a:avLst/>
          </a:prstGeom>
          <a:noFill/>
          <a:ln/>
        </p:spPr>
        <p:txBody>
          <a:bodyPr wrap="square" rtlCol="0" anchor="ctr"/>
          <a:lstStyle/>
          <a:p>
            <a:r>
              <a:rPr lang="en-US" sz="3000" dirty="0">
                <a:solidFill>
                  <a:srgbClr val="00B0F0"/>
                </a:solidFill>
              </a:rPr>
              <a:t>Sarthak Nivesh (One Step Solution ) </a:t>
            </a:r>
          </a:p>
        </p:txBody>
      </p:sp>
      <p:sp>
        <p:nvSpPr>
          <p:cNvPr id="5" name="Shape 3">
            <a:extLst>
              <a:ext uri="{FF2B5EF4-FFF2-40B4-BE49-F238E27FC236}">
                <a16:creationId xmlns:a16="http://schemas.microsoft.com/office/drawing/2014/main" id="{0A6F8551-82C3-14CD-7299-C6ED8BB55BF8}"/>
              </a:ext>
            </a:extLst>
          </p:cNvPr>
          <p:cNvSpPr/>
          <p:nvPr/>
        </p:nvSpPr>
        <p:spPr>
          <a:xfrm>
            <a:off x="1464354" y="2486873"/>
            <a:ext cx="2176272" cy="1005841"/>
          </a:xfrm>
          <a:prstGeom prst="rect">
            <a:avLst/>
          </a:prstGeom>
          <a:solidFill>
            <a:srgbClr val="132140"/>
          </a:solidFill>
          <a:ln w="12700">
            <a:solidFill>
              <a:srgbClr val="FF5252"/>
            </a:solidFill>
            <a:prstDash val="solid"/>
          </a:ln>
          <a:effectLst>
            <a:outerShdw blurRad="101600" dist="38100" dir="8100000" algn="bl" rotWithShape="0">
              <a:srgbClr val="000000">
                <a:alpha val="18000"/>
              </a:srgbClr>
            </a:outerShdw>
          </a:effectLst>
        </p:spPr>
        <p:txBody>
          <a:bodyPr/>
          <a:lstStyle/>
          <a:p>
            <a:r>
              <a:rPr lang="en-US" sz="1400" u="sng" dirty="0">
                <a:solidFill>
                  <a:srgbClr val="FFFF00"/>
                </a:solidFill>
              </a:rPr>
              <a:t>COMPLETELY FREE </a:t>
            </a:r>
            <a:r>
              <a:rPr lang="en-US" sz="1400" dirty="0">
                <a:solidFill>
                  <a:srgbClr val="FFFF00"/>
                </a:solidFill>
              </a:rPr>
              <a:t>— No subscription, no hidden charges</a:t>
            </a:r>
            <a:endParaRPr lang="en-IN" sz="1400" dirty="0">
              <a:solidFill>
                <a:srgbClr val="FFFF00"/>
              </a:solidFill>
            </a:endParaRPr>
          </a:p>
        </p:txBody>
      </p:sp>
      <p:sp>
        <p:nvSpPr>
          <p:cNvPr id="6" name="Text 4">
            <a:extLst>
              <a:ext uri="{FF2B5EF4-FFF2-40B4-BE49-F238E27FC236}">
                <a16:creationId xmlns:a16="http://schemas.microsoft.com/office/drawing/2014/main" id="{70E3DC49-CFE0-2C0B-7F49-511CD66EB48B}"/>
              </a:ext>
            </a:extLst>
          </p:cNvPr>
          <p:cNvSpPr/>
          <p:nvPr/>
        </p:nvSpPr>
        <p:spPr>
          <a:xfrm>
            <a:off x="274320" y="1417320"/>
            <a:ext cx="2286000" cy="1005840"/>
          </a:xfrm>
          <a:prstGeom prst="rect">
            <a:avLst/>
          </a:prstGeom>
          <a:noFill/>
          <a:ln/>
        </p:spPr>
        <p:txBody>
          <a:bodyPr wrap="square" rtlCol="0" anchor="ctr"/>
          <a:lstStyle/>
          <a:p>
            <a:pPr marL="0" indent="0" algn="ctr">
              <a:buNone/>
            </a:pPr>
            <a:endParaRPr lang="en-US" sz="1600" dirty="0"/>
          </a:p>
        </p:txBody>
      </p:sp>
      <p:sp>
        <p:nvSpPr>
          <p:cNvPr id="7" name="Text 5">
            <a:extLst>
              <a:ext uri="{FF2B5EF4-FFF2-40B4-BE49-F238E27FC236}">
                <a16:creationId xmlns:a16="http://schemas.microsoft.com/office/drawing/2014/main" id="{89AC92E4-6157-2578-D667-830AA94D5DBA}"/>
              </a:ext>
            </a:extLst>
          </p:cNvPr>
          <p:cNvSpPr/>
          <p:nvPr/>
        </p:nvSpPr>
        <p:spPr>
          <a:xfrm>
            <a:off x="274320" y="2377440"/>
            <a:ext cx="2286000" cy="731520"/>
          </a:xfrm>
          <a:prstGeom prst="rect">
            <a:avLst/>
          </a:prstGeom>
          <a:noFill/>
          <a:ln/>
        </p:spPr>
        <p:txBody>
          <a:bodyPr wrap="square" rtlCol="0" anchor="ctr"/>
          <a:lstStyle/>
          <a:p>
            <a:pPr marL="0" indent="0" algn="ctr">
              <a:buNone/>
            </a:pPr>
            <a:endParaRPr lang="en-US" sz="1100" dirty="0"/>
          </a:p>
        </p:txBody>
      </p:sp>
      <p:sp>
        <p:nvSpPr>
          <p:cNvPr id="8" name="Shape 6">
            <a:extLst>
              <a:ext uri="{FF2B5EF4-FFF2-40B4-BE49-F238E27FC236}">
                <a16:creationId xmlns:a16="http://schemas.microsoft.com/office/drawing/2014/main" id="{0CEA379D-4C6F-B933-AB41-E3F4D2DD6A08}"/>
              </a:ext>
            </a:extLst>
          </p:cNvPr>
          <p:cNvSpPr/>
          <p:nvPr/>
        </p:nvSpPr>
        <p:spPr>
          <a:xfrm>
            <a:off x="3137823" y="1160993"/>
            <a:ext cx="2335051" cy="1051561"/>
          </a:xfrm>
          <a:prstGeom prst="rect">
            <a:avLst/>
          </a:prstGeom>
          <a:solidFill>
            <a:srgbClr val="132140"/>
          </a:solidFill>
          <a:ln w="12700">
            <a:solidFill>
              <a:srgbClr val="F5C542"/>
            </a:solidFill>
            <a:prstDash val="solid"/>
          </a:ln>
          <a:effectLst>
            <a:outerShdw blurRad="101600" dist="38100" dir="8100000" algn="bl" rotWithShape="0">
              <a:srgbClr val="000000">
                <a:alpha val="18000"/>
              </a:srgbClr>
            </a:outerShdw>
          </a:effectLst>
        </p:spPr>
        <p:txBody>
          <a:bodyPr/>
          <a:lstStyle/>
          <a:p>
            <a:endParaRPr lang="en-IN" dirty="0"/>
          </a:p>
        </p:txBody>
      </p:sp>
      <p:sp>
        <p:nvSpPr>
          <p:cNvPr id="9" name="Text 7">
            <a:extLst>
              <a:ext uri="{FF2B5EF4-FFF2-40B4-BE49-F238E27FC236}">
                <a16:creationId xmlns:a16="http://schemas.microsoft.com/office/drawing/2014/main" id="{679A9B82-CB27-E2D3-03A4-4505BA77E24D}"/>
              </a:ext>
            </a:extLst>
          </p:cNvPr>
          <p:cNvSpPr/>
          <p:nvPr/>
        </p:nvSpPr>
        <p:spPr>
          <a:xfrm>
            <a:off x="3157585" y="1197864"/>
            <a:ext cx="2286000" cy="1005840"/>
          </a:xfrm>
          <a:prstGeom prst="rect">
            <a:avLst/>
          </a:prstGeom>
          <a:noFill/>
          <a:ln/>
        </p:spPr>
        <p:txBody>
          <a:bodyPr wrap="square" rtlCol="0" anchor="ctr"/>
          <a:lstStyle/>
          <a:p>
            <a:pPr algn="ctr"/>
            <a:r>
              <a:rPr lang="en-US" sz="1400" dirty="0"/>
              <a:t> </a:t>
            </a:r>
            <a:r>
              <a:rPr lang="en-US" sz="1400" u="sng" dirty="0">
                <a:solidFill>
                  <a:srgbClr val="FFFF00"/>
                </a:solidFill>
              </a:rPr>
              <a:t>100% REAL DATA </a:t>
            </a:r>
            <a:r>
              <a:rPr lang="en-US" sz="1400" dirty="0">
                <a:solidFill>
                  <a:srgbClr val="FFFF00"/>
                </a:solidFill>
              </a:rPr>
              <a:t>— Every number is fetched live from   official sources. No dummy data anywhere.</a:t>
            </a:r>
          </a:p>
        </p:txBody>
      </p:sp>
      <p:sp>
        <p:nvSpPr>
          <p:cNvPr id="10" name="Text 8">
            <a:extLst>
              <a:ext uri="{FF2B5EF4-FFF2-40B4-BE49-F238E27FC236}">
                <a16:creationId xmlns:a16="http://schemas.microsoft.com/office/drawing/2014/main" id="{6EB6ABAD-2635-C4FD-DA30-0D04F859E689}"/>
              </a:ext>
            </a:extLst>
          </p:cNvPr>
          <p:cNvSpPr/>
          <p:nvPr/>
        </p:nvSpPr>
        <p:spPr>
          <a:xfrm>
            <a:off x="2834640" y="2377440"/>
            <a:ext cx="2286000" cy="731520"/>
          </a:xfrm>
          <a:prstGeom prst="rect">
            <a:avLst/>
          </a:prstGeom>
          <a:noFill/>
          <a:ln/>
        </p:spPr>
        <p:txBody>
          <a:bodyPr wrap="square" rtlCol="0" anchor="ctr"/>
          <a:lstStyle/>
          <a:p>
            <a:pPr marL="0" indent="0" algn="ctr">
              <a:buNone/>
            </a:pPr>
            <a:endParaRPr lang="en-US" sz="1100" dirty="0"/>
          </a:p>
        </p:txBody>
      </p:sp>
      <p:sp>
        <p:nvSpPr>
          <p:cNvPr id="11" name="Shape 9">
            <a:extLst>
              <a:ext uri="{FF2B5EF4-FFF2-40B4-BE49-F238E27FC236}">
                <a16:creationId xmlns:a16="http://schemas.microsoft.com/office/drawing/2014/main" id="{FFA383AD-DA59-3F7A-5C18-7E798E1F7E31}"/>
              </a:ext>
            </a:extLst>
          </p:cNvPr>
          <p:cNvSpPr/>
          <p:nvPr/>
        </p:nvSpPr>
        <p:spPr>
          <a:xfrm>
            <a:off x="6744024" y="1143000"/>
            <a:ext cx="2335053" cy="1051561"/>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12" name="Text 10">
            <a:extLst>
              <a:ext uri="{FF2B5EF4-FFF2-40B4-BE49-F238E27FC236}">
                <a16:creationId xmlns:a16="http://schemas.microsoft.com/office/drawing/2014/main" id="{798D34A7-1E85-DCB4-47AE-2AC3F26F288E}"/>
              </a:ext>
            </a:extLst>
          </p:cNvPr>
          <p:cNvSpPr/>
          <p:nvPr/>
        </p:nvSpPr>
        <p:spPr>
          <a:xfrm>
            <a:off x="6768550" y="1143000"/>
            <a:ext cx="2286000" cy="1005840"/>
          </a:xfrm>
          <a:prstGeom prst="rect">
            <a:avLst/>
          </a:prstGeom>
          <a:noFill/>
          <a:ln/>
        </p:spPr>
        <p:txBody>
          <a:bodyPr wrap="square" rtlCol="0" anchor="ctr"/>
          <a:lstStyle/>
          <a:p>
            <a:pPr algn="ctr"/>
            <a:r>
              <a:rPr lang="en-US" sz="1400" dirty="0">
                <a:solidFill>
                  <a:srgbClr val="FFFF00"/>
                </a:solidFill>
              </a:rPr>
              <a:t> </a:t>
            </a:r>
            <a:r>
              <a:rPr lang="en-US" sz="1400" u="sng" dirty="0">
                <a:solidFill>
                  <a:srgbClr val="FFFF00"/>
                </a:solidFill>
              </a:rPr>
              <a:t>AI-POWERED </a:t>
            </a:r>
            <a:r>
              <a:rPr lang="en-US" sz="1400" dirty="0">
                <a:solidFill>
                  <a:srgbClr val="FFFF00"/>
                </a:solidFill>
              </a:rPr>
              <a:t>— Uses </a:t>
            </a:r>
            <a:r>
              <a:rPr lang="en-US" sz="1400" dirty="0" err="1">
                <a:solidFill>
                  <a:srgbClr val="FFFF00"/>
                </a:solidFill>
              </a:rPr>
              <a:t>Groq</a:t>
            </a:r>
            <a:r>
              <a:rPr lang="en-US" sz="1400" dirty="0">
                <a:solidFill>
                  <a:srgbClr val="FFFF00"/>
                </a:solidFill>
              </a:rPr>
              <a:t> Llama 3.3 70B for analysis,   not just simple calculations</a:t>
            </a:r>
          </a:p>
        </p:txBody>
      </p:sp>
      <p:sp>
        <p:nvSpPr>
          <p:cNvPr id="13" name="Text 11">
            <a:extLst>
              <a:ext uri="{FF2B5EF4-FFF2-40B4-BE49-F238E27FC236}">
                <a16:creationId xmlns:a16="http://schemas.microsoft.com/office/drawing/2014/main" id="{754F7A11-2332-36DF-3E5E-7E0DA2DE2241}"/>
              </a:ext>
            </a:extLst>
          </p:cNvPr>
          <p:cNvSpPr/>
          <p:nvPr/>
        </p:nvSpPr>
        <p:spPr>
          <a:xfrm>
            <a:off x="5394960" y="2377440"/>
            <a:ext cx="2286000" cy="731520"/>
          </a:xfrm>
          <a:prstGeom prst="rect">
            <a:avLst/>
          </a:prstGeom>
          <a:noFill/>
          <a:ln/>
        </p:spPr>
        <p:txBody>
          <a:bodyPr wrap="square" rtlCol="0" anchor="ctr"/>
          <a:lstStyle/>
          <a:p>
            <a:pPr marL="0" indent="0" algn="ctr">
              <a:buNone/>
            </a:pPr>
            <a:endParaRPr lang="en-US" sz="1100" dirty="0"/>
          </a:p>
        </p:txBody>
      </p:sp>
      <p:sp>
        <p:nvSpPr>
          <p:cNvPr id="14" name="Shape 12">
            <a:extLst>
              <a:ext uri="{FF2B5EF4-FFF2-40B4-BE49-F238E27FC236}">
                <a16:creationId xmlns:a16="http://schemas.microsoft.com/office/drawing/2014/main" id="{A043A352-E9F2-7CDD-0992-C5902D90E0E4}"/>
              </a:ext>
            </a:extLst>
          </p:cNvPr>
          <p:cNvSpPr/>
          <p:nvPr/>
        </p:nvSpPr>
        <p:spPr>
          <a:xfrm>
            <a:off x="6067479" y="3660181"/>
            <a:ext cx="2700808" cy="1051560"/>
          </a:xfrm>
          <a:prstGeom prst="rect">
            <a:avLst/>
          </a:prstGeom>
          <a:solidFill>
            <a:srgbClr val="132140"/>
          </a:solidFill>
          <a:ln w="12700">
            <a:solidFill>
              <a:srgbClr val="1D72E8"/>
            </a:solidFill>
            <a:prstDash val="solid"/>
          </a:ln>
          <a:effectLst>
            <a:outerShdw blurRad="101600" dist="38100" dir="8100000" algn="bl" rotWithShape="0">
              <a:srgbClr val="000000">
                <a:alpha val="18000"/>
              </a:srgbClr>
            </a:outerShdw>
          </a:effectLst>
        </p:spPr>
        <p:txBody>
          <a:bodyPr/>
          <a:lstStyle/>
          <a:p>
            <a:r>
              <a:rPr lang="en-US" sz="1400" u="sng" dirty="0">
                <a:solidFill>
                  <a:srgbClr val="FFFF00"/>
                </a:solidFill>
              </a:rPr>
              <a:t>PROFIT-FOCUSED</a:t>
            </a:r>
            <a:r>
              <a:rPr lang="en-US" sz="1400" dirty="0">
                <a:solidFill>
                  <a:srgbClr val="FFFF00"/>
                </a:solidFill>
              </a:rPr>
              <a:t> — The IPO AI gives specific exit   strategies to </a:t>
            </a:r>
            <a:r>
              <a:rPr lang="en-US" sz="1400" dirty="0" err="1">
                <a:solidFill>
                  <a:srgbClr val="FFFF00"/>
                </a:solidFill>
              </a:rPr>
              <a:t>maximise</a:t>
            </a:r>
            <a:r>
              <a:rPr lang="en-US" sz="1400" dirty="0">
                <a:solidFill>
                  <a:srgbClr val="FFFF00"/>
                </a:solidFill>
              </a:rPr>
              <a:t> profit, not just "apply or avoid"</a:t>
            </a:r>
            <a:endParaRPr lang="en-IN" sz="1400" dirty="0">
              <a:solidFill>
                <a:srgbClr val="FFFF00"/>
              </a:solidFill>
            </a:endParaRPr>
          </a:p>
        </p:txBody>
      </p:sp>
      <p:sp>
        <p:nvSpPr>
          <p:cNvPr id="15" name="Text 13">
            <a:extLst>
              <a:ext uri="{FF2B5EF4-FFF2-40B4-BE49-F238E27FC236}">
                <a16:creationId xmlns:a16="http://schemas.microsoft.com/office/drawing/2014/main" id="{7FA4A908-7576-1B7C-D105-3B0F15B4BC2E}"/>
              </a:ext>
            </a:extLst>
          </p:cNvPr>
          <p:cNvSpPr/>
          <p:nvPr/>
        </p:nvSpPr>
        <p:spPr>
          <a:xfrm>
            <a:off x="7955280" y="1417320"/>
            <a:ext cx="822960" cy="1005840"/>
          </a:xfrm>
          <a:prstGeom prst="rect">
            <a:avLst/>
          </a:prstGeom>
          <a:noFill/>
          <a:ln/>
        </p:spPr>
        <p:txBody>
          <a:bodyPr wrap="square" rtlCol="0" anchor="ctr"/>
          <a:lstStyle/>
          <a:p>
            <a:pPr marL="0" indent="0" algn="ctr">
              <a:buNone/>
            </a:pPr>
            <a:endParaRPr lang="en-US" sz="3600" dirty="0"/>
          </a:p>
        </p:txBody>
      </p:sp>
      <p:sp>
        <p:nvSpPr>
          <p:cNvPr id="16" name="Text 14">
            <a:extLst>
              <a:ext uri="{FF2B5EF4-FFF2-40B4-BE49-F238E27FC236}">
                <a16:creationId xmlns:a16="http://schemas.microsoft.com/office/drawing/2014/main" id="{AAC47297-B334-3C7C-143D-393E1444B36C}"/>
              </a:ext>
            </a:extLst>
          </p:cNvPr>
          <p:cNvSpPr/>
          <p:nvPr/>
        </p:nvSpPr>
        <p:spPr>
          <a:xfrm>
            <a:off x="7955280" y="2377440"/>
            <a:ext cx="822960" cy="731520"/>
          </a:xfrm>
          <a:prstGeom prst="rect">
            <a:avLst/>
          </a:prstGeom>
          <a:noFill/>
          <a:ln/>
        </p:spPr>
        <p:txBody>
          <a:bodyPr wrap="square" rtlCol="0" anchor="ctr"/>
          <a:lstStyle/>
          <a:p>
            <a:pPr marL="0" indent="0" algn="ctr">
              <a:buNone/>
            </a:pPr>
            <a:endParaRPr lang="en-US" sz="900" dirty="0"/>
          </a:p>
        </p:txBody>
      </p:sp>
      <p:sp>
        <p:nvSpPr>
          <p:cNvPr id="17" name="Shape 15">
            <a:extLst>
              <a:ext uri="{FF2B5EF4-FFF2-40B4-BE49-F238E27FC236}">
                <a16:creationId xmlns:a16="http://schemas.microsoft.com/office/drawing/2014/main" id="{536E75A4-29B1-7799-E570-85DAE3594DE6}"/>
              </a:ext>
            </a:extLst>
          </p:cNvPr>
          <p:cNvSpPr/>
          <p:nvPr/>
        </p:nvSpPr>
        <p:spPr>
          <a:xfrm>
            <a:off x="25441" y="1142844"/>
            <a:ext cx="1965960" cy="1001268"/>
          </a:xfrm>
          <a:prstGeom prst="rect">
            <a:avLst/>
          </a:prstGeom>
          <a:solidFill>
            <a:srgbClr val="071830"/>
          </a:solidFill>
          <a:ln w="12700">
            <a:solidFill>
              <a:srgbClr val="1E3A5F"/>
            </a:solidFill>
            <a:prstDash val="solid"/>
          </a:ln>
          <a:effectLst>
            <a:outerShdw blurRad="101600" dist="38100" dir="8100000" algn="bl" rotWithShape="0">
              <a:srgbClr val="000000">
                <a:alpha val="18000"/>
              </a:srgbClr>
            </a:outerShdw>
          </a:effectLst>
        </p:spPr>
        <p:txBody>
          <a:bodyPr/>
          <a:lstStyle/>
          <a:p>
            <a:r>
              <a:rPr lang="en-US" u="sng" dirty="0"/>
              <a:t> </a:t>
            </a:r>
            <a:r>
              <a:rPr lang="en-US" sz="1400" u="sng" dirty="0">
                <a:solidFill>
                  <a:srgbClr val="FFFF00"/>
                </a:solidFill>
              </a:rPr>
              <a:t>BEGINNER-FRIENDLY </a:t>
            </a:r>
            <a:r>
              <a:rPr lang="en-US" sz="1400" dirty="0">
                <a:solidFill>
                  <a:srgbClr val="FFFF00"/>
                </a:solidFill>
              </a:rPr>
              <a:t>— Explains things in plain language,   even in Hindi</a:t>
            </a:r>
            <a:endParaRPr lang="en-IN" sz="1400" dirty="0">
              <a:solidFill>
                <a:srgbClr val="FFFF00"/>
              </a:solidFill>
            </a:endParaRPr>
          </a:p>
        </p:txBody>
      </p:sp>
      <p:sp>
        <p:nvSpPr>
          <p:cNvPr id="19" name="Text 17">
            <a:extLst>
              <a:ext uri="{FF2B5EF4-FFF2-40B4-BE49-F238E27FC236}">
                <a16:creationId xmlns:a16="http://schemas.microsoft.com/office/drawing/2014/main" id="{B5F3D720-6AAA-96FB-D4A9-D3E36AA266BA}"/>
              </a:ext>
            </a:extLst>
          </p:cNvPr>
          <p:cNvSpPr/>
          <p:nvPr/>
        </p:nvSpPr>
        <p:spPr>
          <a:xfrm>
            <a:off x="274320" y="3474720"/>
            <a:ext cx="1965960" cy="256032"/>
          </a:xfrm>
          <a:prstGeom prst="rect">
            <a:avLst/>
          </a:prstGeom>
          <a:noFill/>
          <a:ln/>
        </p:spPr>
        <p:txBody>
          <a:bodyPr wrap="square" rtlCol="0" anchor="ctr"/>
          <a:lstStyle/>
          <a:p>
            <a:pPr marL="0" indent="0" algn="ctr">
              <a:buNone/>
            </a:pPr>
            <a:endParaRPr lang="en-US" sz="1000" dirty="0"/>
          </a:p>
        </p:txBody>
      </p:sp>
      <p:sp>
        <p:nvSpPr>
          <p:cNvPr id="20" name="Text 18">
            <a:extLst>
              <a:ext uri="{FF2B5EF4-FFF2-40B4-BE49-F238E27FC236}">
                <a16:creationId xmlns:a16="http://schemas.microsoft.com/office/drawing/2014/main" id="{DD167EFF-F06E-643E-E751-CAEFCDAC2C66}"/>
              </a:ext>
            </a:extLst>
          </p:cNvPr>
          <p:cNvSpPr/>
          <p:nvPr/>
        </p:nvSpPr>
        <p:spPr>
          <a:xfrm>
            <a:off x="365760" y="3767328"/>
            <a:ext cx="1783080" cy="1051560"/>
          </a:xfrm>
          <a:prstGeom prst="rect">
            <a:avLst/>
          </a:prstGeom>
          <a:noFill/>
          <a:ln/>
        </p:spPr>
        <p:txBody>
          <a:bodyPr wrap="square" rtlCol="0" anchor="ctr"/>
          <a:lstStyle/>
          <a:p>
            <a:pPr marL="0" indent="0">
              <a:buNone/>
            </a:pPr>
            <a:endParaRPr lang="en-US" sz="1000" dirty="0"/>
          </a:p>
        </p:txBody>
      </p:sp>
      <p:sp>
        <p:nvSpPr>
          <p:cNvPr id="21" name="Shape 19">
            <a:extLst>
              <a:ext uri="{FF2B5EF4-FFF2-40B4-BE49-F238E27FC236}">
                <a16:creationId xmlns:a16="http://schemas.microsoft.com/office/drawing/2014/main" id="{F7F27894-1733-85CD-8EEB-68EA121FEE9D}"/>
              </a:ext>
            </a:extLst>
          </p:cNvPr>
          <p:cNvSpPr/>
          <p:nvPr/>
        </p:nvSpPr>
        <p:spPr>
          <a:xfrm>
            <a:off x="4807117" y="2486873"/>
            <a:ext cx="2430971" cy="1001268"/>
          </a:xfrm>
          <a:prstGeom prst="rect">
            <a:avLst/>
          </a:prstGeom>
          <a:solidFill>
            <a:srgbClr val="071830"/>
          </a:solidFill>
          <a:ln w="12700">
            <a:solidFill>
              <a:srgbClr val="1E3A5F"/>
            </a:solidFill>
            <a:prstDash val="solid"/>
          </a:ln>
          <a:effectLst>
            <a:outerShdw blurRad="101600" dist="38100" dir="8100000" algn="bl" rotWithShape="0">
              <a:srgbClr val="000000">
                <a:alpha val="18000"/>
              </a:srgbClr>
            </a:outerShdw>
          </a:effectLst>
        </p:spPr>
        <p:txBody>
          <a:bodyPr/>
          <a:lstStyle/>
          <a:p>
            <a:r>
              <a:rPr lang="en-US" sz="1400" u="sng" dirty="0">
                <a:solidFill>
                  <a:srgbClr val="FFFF00"/>
                </a:solidFill>
              </a:rPr>
              <a:t>COMPREHENSIVE — 13 </a:t>
            </a:r>
            <a:r>
              <a:rPr lang="en-US" sz="1400" dirty="0">
                <a:solidFill>
                  <a:srgbClr val="FFFF00"/>
                </a:solidFill>
              </a:rPr>
              <a:t>features covering stocks, mutual   funds, IPOs, FII/DII, portfolio, news, and AI analysis</a:t>
            </a:r>
            <a:endParaRPr lang="en-IN" sz="1400" dirty="0">
              <a:solidFill>
                <a:srgbClr val="FFFF00"/>
              </a:solidFill>
            </a:endParaRPr>
          </a:p>
        </p:txBody>
      </p:sp>
      <p:sp>
        <p:nvSpPr>
          <p:cNvPr id="23" name="Text 21">
            <a:extLst>
              <a:ext uri="{FF2B5EF4-FFF2-40B4-BE49-F238E27FC236}">
                <a16:creationId xmlns:a16="http://schemas.microsoft.com/office/drawing/2014/main" id="{45FA4F6D-6F8E-A956-5F8E-2F72F5C77156}"/>
              </a:ext>
            </a:extLst>
          </p:cNvPr>
          <p:cNvSpPr/>
          <p:nvPr/>
        </p:nvSpPr>
        <p:spPr>
          <a:xfrm>
            <a:off x="2450592" y="3474720"/>
            <a:ext cx="1965960" cy="256032"/>
          </a:xfrm>
          <a:prstGeom prst="rect">
            <a:avLst/>
          </a:prstGeom>
          <a:noFill/>
          <a:ln/>
        </p:spPr>
        <p:txBody>
          <a:bodyPr wrap="square" rtlCol="0" anchor="ctr"/>
          <a:lstStyle/>
          <a:p>
            <a:pPr marL="0" indent="0" algn="ctr">
              <a:buNone/>
            </a:pPr>
            <a:endParaRPr lang="en-US" sz="1000" dirty="0"/>
          </a:p>
        </p:txBody>
      </p:sp>
      <p:sp>
        <p:nvSpPr>
          <p:cNvPr id="24" name="Text 22">
            <a:extLst>
              <a:ext uri="{FF2B5EF4-FFF2-40B4-BE49-F238E27FC236}">
                <a16:creationId xmlns:a16="http://schemas.microsoft.com/office/drawing/2014/main" id="{485961EA-37C4-DC18-73EA-E3C8256B7795}"/>
              </a:ext>
            </a:extLst>
          </p:cNvPr>
          <p:cNvSpPr/>
          <p:nvPr/>
        </p:nvSpPr>
        <p:spPr>
          <a:xfrm>
            <a:off x="2542032" y="3767328"/>
            <a:ext cx="1783080" cy="1051560"/>
          </a:xfrm>
          <a:prstGeom prst="rect">
            <a:avLst/>
          </a:prstGeom>
          <a:noFill/>
          <a:ln/>
        </p:spPr>
        <p:txBody>
          <a:bodyPr wrap="square" rtlCol="0" anchor="ctr"/>
          <a:lstStyle/>
          <a:p>
            <a:pPr marL="0" indent="0">
              <a:buNone/>
            </a:pPr>
            <a:endParaRPr lang="en-US" sz="1000" dirty="0"/>
          </a:p>
        </p:txBody>
      </p:sp>
      <p:sp>
        <p:nvSpPr>
          <p:cNvPr id="25" name="Shape 23">
            <a:extLst>
              <a:ext uri="{FF2B5EF4-FFF2-40B4-BE49-F238E27FC236}">
                <a16:creationId xmlns:a16="http://schemas.microsoft.com/office/drawing/2014/main" id="{CD81E9F6-89F4-51E1-445E-E65EF5A15259}"/>
              </a:ext>
            </a:extLst>
          </p:cNvPr>
          <p:cNvSpPr/>
          <p:nvPr/>
        </p:nvSpPr>
        <p:spPr>
          <a:xfrm>
            <a:off x="2716415" y="3703320"/>
            <a:ext cx="2786228" cy="1051560"/>
          </a:xfrm>
          <a:prstGeom prst="rect">
            <a:avLst/>
          </a:prstGeom>
          <a:solidFill>
            <a:srgbClr val="071830"/>
          </a:solidFill>
          <a:ln w="12700">
            <a:solidFill>
              <a:srgbClr val="1E3A5F"/>
            </a:solidFill>
            <a:prstDash val="solid"/>
          </a:ln>
          <a:effectLst>
            <a:outerShdw blurRad="101600" dist="38100" dir="8100000" algn="bl" rotWithShape="0">
              <a:srgbClr val="000000">
                <a:alpha val="18000"/>
              </a:srgbClr>
            </a:outerShdw>
          </a:effectLst>
        </p:spPr>
        <p:txBody>
          <a:bodyPr/>
          <a:lstStyle/>
          <a:p>
            <a:r>
              <a:rPr lang="en-US" sz="1400" u="sng" dirty="0">
                <a:solidFill>
                  <a:srgbClr val="FFFF00"/>
                </a:solidFill>
              </a:rPr>
              <a:t>EMOTIONALLY INTELLIGENT </a:t>
            </a:r>
            <a:r>
              <a:rPr lang="en-US" sz="1400" dirty="0">
                <a:solidFill>
                  <a:srgbClr val="FFFF00"/>
                </a:solidFill>
              </a:rPr>
              <a:t>— The AI Finance Coach   understands that investors panic and explains things   in a calm, reassuring way</a:t>
            </a:r>
            <a:endParaRPr lang="en-IN" sz="1400" dirty="0">
              <a:solidFill>
                <a:srgbClr val="FFFF00"/>
              </a:solidFill>
            </a:endParaRPr>
          </a:p>
        </p:txBody>
      </p:sp>
      <p:sp>
        <p:nvSpPr>
          <p:cNvPr id="27" name="Text 25">
            <a:extLst>
              <a:ext uri="{FF2B5EF4-FFF2-40B4-BE49-F238E27FC236}">
                <a16:creationId xmlns:a16="http://schemas.microsoft.com/office/drawing/2014/main" id="{8ABA9BF8-9F1B-88BF-8325-9D90E153123D}"/>
              </a:ext>
            </a:extLst>
          </p:cNvPr>
          <p:cNvSpPr/>
          <p:nvPr/>
        </p:nvSpPr>
        <p:spPr>
          <a:xfrm>
            <a:off x="4626864" y="3474720"/>
            <a:ext cx="1965960" cy="256032"/>
          </a:xfrm>
          <a:prstGeom prst="rect">
            <a:avLst/>
          </a:prstGeom>
          <a:noFill/>
          <a:ln/>
        </p:spPr>
        <p:txBody>
          <a:bodyPr wrap="square" rtlCol="0" anchor="ctr"/>
          <a:lstStyle/>
          <a:p>
            <a:pPr marL="0" indent="0" algn="ctr">
              <a:buNone/>
            </a:pPr>
            <a:endParaRPr lang="en-US" sz="1000" dirty="0"/>
          </a:p>
        </p:txBody>
      </p:sp>
      <p:sp>
        <p:nvSpPr>
          <p:cNvPr id="28" name="Text 26">
            <a:extLst>
              <a:ext uri="{FF2B5EF4-FFF2-40B4-BE49-F238E27FC236}">
                <a16:creationId xmlns:a16="http://schemas.microsoft.com/office/drawing/2014/main" id="{1252ABEC-D25C-B54A-CFEC-4A992EE0A9A3}"/>
              </a:ext>
            </a:extLst>
          </p:cNvPr>
          <p:cNvSpPr/>
          <p:nvPr/>
        </p:nvSpPr>
        <p:spPr>
          <a:xfrm>
            <a:off x="4718304" y="3767328"/>
            <a:ext cx="1783080" cy="1051560"/>
          </a:xfrm>
          <a:prstGeom prst="rect">
            <a:avLst/>
          </a:prstGeom>
          <a:noFill/>
          <a:ln/>
        </p:spPr>
        <p:txBody>
          <a:bodyPr wrap="square" rtlCol="0" anchor="ctr"/>
          <a:lstStyle/>
          <a:p>
            <a:pPr marL="0" indent="0">
              <a:buNone/>
            </a:pPr>
            <a:r>
              <a:rPr lang="en-US" sz="1000" dirty="0">
                <a:solidFill>
                  <a:srgbClr val="AABBD8"/>
                </a:solidFill>
                <a:latin typeface="Calibri" pitchFamily="34" charset="0"/>
                <a:ea typeface="Calibri" pitchFamily="34" charset="-122"/>
                <a:cs typeface="Calibri" pitchFamily="34" charset="-120"/>
              </a:rPr>
              <a:t>.</a:t>
            </a:r>
            <a:endParaRPr lang="en-US" sz="1000" dirty="0"/>
          </a:p>
        </p:txBody>
      </p:sp>
      <p:sp>
        <p:nvSpPr>
          <p:cNvPr id="29" name="Shape 27">
            <a:extLst>
              <a:ext uri="{FF2B5EF4-FFF2-40B4-BE49-F238E27FC236}">
                <a16:creationId xmlns:a16="http://schemas.microsoft.com/office/drawing/2014/main" id="{A695DE4D-2655-3015-DE60-A60B317AAC32}"/>
              </a:ext>
            </a:extLst>
          </p:cNvPr>
          <p:cNvSpPr/>
          <p:nvPr/>
        </p:nvSpPr>
        <p:spPr>
          <a:xfrm>
            <a:off x="48505" y="3639312"/>
            <a:ext cx="2255235" cy="1179576"/>
          </a:xfrm>
          <a:prstGeom prst="rect">
            <a:avLst/>
          </a:prstGeom>
          <a:solidFill>
            <a:srgbClr val="071830"/>
          </a:solidFill>
          <a:ln w="12700">
            <a:solidFill>
              <a:srgbClr val="1E3A5F"/>
            </a:solidFill>
            <a:prstDash val="solid"/>
          </a:ln>
          <a:effectLst>
            <a:outerShdw blurRad="101600" dist="38100" dir="8100000" algn="bl" rotWithShape="0">
              <a:srgbClr val="000000">
                <a:alpha val="18000"/>
              </a:srgbClr>
            </a:outerShdw>
          </a:effectLst>
        </p:spPr>
        <p:txBody>
          <a:bodyPr/>
          <a:lstStyle/>
          <a:p>
            <a:r>
              <a:rPr lang="en-US" sz="1400" dirty="0">
                <a:solidFill>
                  <a:srgbClr val="FFFF00"/>
                </a:solidFill>
              </a:rPr>
              <a:t> </a:t>
            </a:r>
            <a:r>
              <a:rPr lang="en-US" sz="1400" u="sng" dirty="0">
                <a:solidFill>
                  <a:srgbClr val="FFFF00"/>
                </a:solidFill>
              </a:rPr>
              <a:t>MULTI-AGENT AI </a:t>
            </a:r>
            <a:r>
              <a:rPr lang="en-US" sz="1400" dirty="0">
                <a:solidFill>
                  <a:srgbClr val="FFFF00"/>
                </a:solidFill>
              </a:rPr>
              <a:t>— 6 specialist agents working together   is more accurate than one general AI</a:t>
            </a:r>
            <a:endParaRPr lang="en-IN" sz="1400" dirty="0">
              <a:solidFill>
                <a:srgbClr val="FFFF00"/>
              </a:solidFill>
            </a:endParaRPr>
          </a:p>
        </p:txBody>
      </p:sp>
      <p:sp>
        <p:nvSpPr>
          <p:cNvPr id="31" name="Text 29">
            <a:extLst>
              <a:ext uri="{FF2B5EF4-FFF2-40B4-BE49-F238E27FC236}">
                <a16:creationId xmlns:a16="http://schemas.microsoft.com/office/drawing/2014/main" id="{3D641DEF-4E17-2E7C-E026-D5E900AD82BE}"/>
              </a:ext>
            </a:extLst>
          </p:cNvPr>
          <p:cNvSpPr/>
          <p:nvPr/>
        </p:nvSpPr>
        <p:spPr>
          <a:xfrm>
            <a:off x="6803136" y="3474720"/>
            <a:ext cx="1965960" cy="256032"/>
          </a:xfrm>
          <a:prstGeom prst="rect">
            <a:avLst/>
          </a:prstGeom>
          <a:noFill/>
          <a:ln/>
        </p:spPr>
        <p:txBody>
          <a:bodyPr wrap="square" rtlCol="0" anchor="ctr"/>
          <a:lstStyle/>
          <a:p>
            <a:pPr marL="0" indent="0" algn="ctr">
              <a:buNone/>
            </a:pPr>
            <a:endParaRPr lang="en-US" sz="1000" dirty="0"/>
          </a:p>
        </p:txBody>
      </p:sp>
      <p:sp>
        <p:nvSpPr>
          <p:cNvPr id="32" name="Text 30">
            <a:extLst>
              <a:ext uri="{FF2B5EF4-FFF2-40B4-BE49-F238E27FC236}">
                <a16:creationId xmlns:a16="http://schemas.microsoft.com/office/drawing/2014/main" id="{A209EE5E-DCF0-EE70-9D59-07D534948298}"/>
              </a:ext>
            </a:extLst>
          </p:cNvPr>
          <p:cNvSpPr/>
          <p:nvPr/>
        </p:nvSpPr>
        <p:spPr>
          <a:xfrm>
            <a:off x="6894576" y="3767328"/>
            <a:ext cx="1783080" cy="1051560"/>
          </a:xfrm>
          <a:prstGeom prst="rect">
            <a:avLst/>
          </a:prstGeom>
          <a:noFill/>
          <a:ln/>
        </p:spPr>
        <p:txBody>
          <a:bodyPr wrap="square" rtlCol="0" anchor="ctr"/>
          <a:lstStyle/>
          <a:p>
            <a:pPr marL="0" indent="0">
              <a:buNone/>
            </a:pPr>
            <a:endParaRPr lang="en-US" sz="1000" dirty="0"/>
          </a:p>
        </p:txBody>
      </p:sp>
    </p:spTree>
    <p:extLst>
      <p:ext uri="{BB962C8B-B14F-4D97-AF65-F5344CB8AC3E}">
        <p14:creationId xmlns:p14="http://schemas.microsoft.com/office/powerpoint/2010/main" val="3257480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0F4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txBody>
          <a:bodyPr/>
          <a:lstStyle/>
          <a:p>
            <a:endParaRPr lang="en-IN"/>
          </a:p>
        </p:txBody>
      </p:sp>
      <p:sp>
        <p:nvSpPr>
          <p:cNvPr id="3" name="Shape 1"/>
          <p:cNvSpPr/>
          <p:nvPr/>
        </p:nvSpPr>
        <p:spPr>
          <a:xfrm>
            <a:off x="0" y="1005840"/>
            <a:ext cx="9144000" cy="54864"/>
          </a:xfrm>
          <a:prstGeom prst="rect">
            <a:avLst/>
          </a:prstGeom>
          <a:solidFill>
            <a:srgbClr val="F5C542"/>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COMPETITIVE ADVANTAGE</a:t>
            </a:r>
            <a:endParaRPr lang="en-US" sz="2800" dirty="0"/>
          </a:p>
        </p:txBody>
      </p:sp>
      <p:sp>
        <p:nvSpPr>
          <p:cNvPr id="5" name="Shape 3"/>
          <p:cNvSpPr/>
          <p:nvPr/>
        </p:nvSpPr>
        <p:spPr>
          <a:xfrm>
            <a:off x="228600" y="1207008"/>
            <a:ext cx="1828800" cy="457200"/>
          </a:xfrm>
          <a:prstGeom prst="rect">
            <a:avLst/>
          </a:prstGeom>
          <a:solidFill>
            <a:srgbClr val="0A1628"/>
          </a:solidFill>
          <a:ln w="12700">
            <a:solidFill>
              <a:srgbClr val="334466"/>
            </a:solidFill>
            <a:prstDash val="solid"/>
          </a:ln>
        </p:spPr>
        <p:txBody>
          <a:bodyPr/>
          <a:lstStyle/>
          <a:p>
            <a:endParaRPr lang="en-IN"/>
          </a:p>
        </p:txBody>
      </p:sp>
      <p:sp>
        <p:nvSpPr>
          <p:cNvPr id="6" name="Text 4"/>
          <p:cNvSpPr/>
          <p:nvPr/>
        </p:nvSpPr>
        <p:spPr>
          <a:xfrm>
            <a:off x="228600" y="1207008"/>
            <a:ext cx="1828800" cy="457200"/>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Platform</a:t>
            </a:r>
            <a:endParaRPr lang="en-US" sz="1100" dirty="0"/>
          </a:p>
        </p:txBody>
      </p:sp>
      <p:sp>
        <p:nvSpPr>
          <p:cNvPr id="7" name="Shape 5"/>
          <p:cNvSpPr/>
          <p:nvPr/>
        </p:nvSpPr>
        <p:spPr>
          <a:xfrm>
            <a:off x="2057400" y="1207008"/>
            <a:ext cx="1005840" cy="457200"/>
          </a:xfrm>
          <a:prstGeom prst="rect">
            <a:avLst/>
          </a:prstGeom>
          <a:solidFill>
            <a:srgbClr val="0A1628"/>
          </a:solidFill>
          <a:ln w="12700">
            <a:solidFill>
              <a:srgbClr val="334466"/>
            </a:solidFill>
            <a:prstDash val="solid"/>
          </a:ln>
        </p:spPr>
        <p:txBody>
          <a:bodyPr/>
          <a:lstStyle/>
          <a:p>
            <a:endParaRPr lang="en-IN"/>
          </a:p>
        </p:txBody>
      </p:sp>
      <p:sp>
        <p:nvSpPr>
          <p:cNvPr id="8" name="Text 6"/>
          <p:cNvSpPr/>
          <p:nvPr/>
        </p:nvSpPr>
        <p:spPr>
          <a:xfrm>
            <a:off x="2057400" y="1207008"/>
            <a:ext cx="1005840" cy="457200"/>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Stocks</a:t>
            </a:r>
            <a:endParaRPr lang="en-US" sz="1100" dirty="0"/>
          </a:p>
        </p:txBody>
      </p:sp>
      <p:sp>
        <p:nvSpPr>
          <p:cNvPr id="9" name="Shape 7"/>
          <p:cNvSpPr/>
          <p:nvPr/>
        </p:nvSpPr>
        <p:spPr>
          <a:xfrm>
            <a:off x="3063240" y="1207008"/>
            <a:ext cx="1005840" cy="457200"/>
          </a:xfrm>
          <a:prstGeom prst="rect">
            <a:avLst/>
          </a:prstGeom>
          <a:solidFill>
            <a:srgbClr val="0A1628"/>
          </a:solidFill>
          <a:ln w="12700">
            <a:solidFill>
              <a:srgbClr val="334466"/>
            </a:solidFill>
            <a:prstDash val="solid"/>
          </a:ln>
        </p:spPr>
        <p:txBody>
          <a:bodyPr/>
          <a:lstStyle/>
          <a:p>
            <a:endParaRPr lang="en-IN"/>
          </a:p>
        </p:txBody>
      </p:sp>
      <p:sp>
        <p:nvSpPr>
          <p:cNvPr id="10" name="Text 8"/>
          <p:cNvSpPr/>
          <p:nvPr/>
        </p:nvSpPr>
        <p:spPr>
          <a:xfrm>
            <a:off x="3063240" y="1207008"/>
            <a:ext cx="1005840" cy="457200"/>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IPO</a:t>
            </a:r>
            <a:endParaRPr lang="en-US" sz="1100" dirty="0"/>
          </a:p>
        </p:txBody>
      </p:sp>
      <p:sp>
        <p:nvSpPr>
          <p:cNvPr id="11" name="Shape 9"/>
          <p:cNvSpPr/>
          <p:nvPr/>
        </p:nvSpPr>
        <p:spPr>
          <a:xfrm>
            <a:off x="4069080" y="1207008"/>
            <a:ext cx="1097280" cy="457200"/>
          </a:xfrm>
          <a:prstGeom prst="rect">
            <a:avLst/>
          </a:prstGeom>
          <a:solidFill>
            <a:srgbClr val="0A1628"/>
          </a:solidFill>
          <a:ln w="12700">
            <a:solidFill>
              <a:srgbClr val="334466"/>
            </a:solidFill>
            <a:prstDash val="solid"/>
          </a:ln>
        </p:spPr>
        <p:txBody>
          <a:bodyPr/>
          <a:lstStyle/>
          <a:p>
            <a:endParaRPr lang="en-IN"/>
          </a:p>
        </p:txBody>
      </p:sp>
      <p:sp>
        <p:nvSpPr>
          <p:cNvPr id="12" name="Text 10"/>
          <p:cNvSpPr/>
          <p:nvPr/>
        </p:nvSpPr>
        <p:spPr>
          <a:xfrm>
            <a:off x="4069080" y="1207008"/>
            <a:ext cx="1097280" cy="457200"/>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Mut. Fund</a:t>
            </a:r>
            <a:endParaRPr lang="en-US" sz="1100" dirty="0"/>
          </a:p>
        </p:txBody>
      </p:sp>
      <p:sp>
        <p:nvSpPr>
          <p:cNvPr id="13" name="Shape 11"/>
          <p:cNvSpPr/>
          <p:nvPr/>
        </p:nvSpPr>
        <p:spPr>
          <a:xfrm>
            <a:off x="5166360" y="1207008"/>
            <a:ext cx="1234440" cy="457200"/>
          </a:xfrm>
          <a:prstGeom prst="rect">
            <a:avLst/>
          </a:prstGeom>
          <a:solidFill>
            <a:srgbClr val="0A1628"/>
          </a:solidFill>
          <a:ln w="12700">
            <a:solidFill>
              <a:srgbClr val="334466"/>
            </a:solidFill>
            <a:prstDash val="solid"/>
          </a:ln>
        </p:spPr>
        <p:txBody>
          <a:bodyPr/>
          <a:lstStyle/>
          <a:p>
            <a:endParaRPr lang="en-IN"/>
          </a:p>
        </p:txBody>
      </p:sp>
      <p:sp>
        <p:nvSpPr>
          <p:cNvPr id="14" name="Text 12"/>
          <p:cNvSpPr/>
          <p:nvPr/>
        </p:nvSpPr>
        <p:spPr>
          <a:xfrm>
            <a:off x="5166360" y="1207008"/>
            <a:ext cx="1234440" cy="457200"/>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Smart Money</a:t>
            </a:r>
            <a:endParaRPr lang="en-US" sz="1100" dirty="0"/>
          </a:p>
        </p:txBody>
      </p:sp>
      <p:sp>
        <p:nvSpPr>
          <p:cNvPr id="15" name="Shape 13"/>
          <p:cNvSpPr/>
          <p:nvPr/>
        </p:nvSpPr>
        <p:spPr>
          <a:xfrm>
            <a:off x="6400800" y="1207008"/>
            <a:ext cx="822960" cy="457200"/>
          </a:xfrm>
          <a:prstGeom prst="rect">
            <a:avLst/>
          </a:prstGeom>
          <a:solidFill>
            <a:srgbClr val="0A1628"/>
          </a:solidFill>
          <a:ln w="12700">
            <a:solidFill>
              <a:srgbClr val="334466"/>
            </a:solidFill>
            <a:prstDash val="solid"/>
          </a:ln>
        </p:spPr>
        <p:txBody>
          <a:bodyPr/>
          <a:lstStyle/>
          <a:p>
            <a:endParaRPr lang="en-IN"/>
          </a:p>
        </p:txBody>
      </p:sp>
      <p:sp>
        <p:nvSpPr>
          <p:cNvPr id="16" name="Text 14"/>
          <p:cNvSpPr/>
          <p:nvPr/>
        </p:nvSpPr>
        <p:spPr>
          <a:xfrm>
            <a:off x="6400800" y="1207008"/>
            <a:ext cx="822960" cy="457200"/>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AI</a:t>
            </a:r>
            <a:endParaRPr lang="en-US" sz="1100" dirty="0"/>
          </a:p>
        </p:txBody>
      </p:sp>
      <p:sp>
        <p:nvSpPr>
          <p:cNvPr id="17" name="Shape 15"/>
          <p:cNvSpPr/>
          <p:nvPr/>
        </p:nvSpPr>
        <p:spPr>
          <a:xfrm>
            <a:off x="7223760" y="1207008"/>
            <a:ext cx="914400" cy="457200"/>
          </a:xfrm>
          <a:prstGeom prst="rect">
            <a:avLst/>
          </a:prstGeom>
          <a:solidFill>
            <a:srgbClr val="0A1628"/>
          </a:solidFill>
          <a:ln w="12700">
            <a:solidFill>
              <a:srgbClr val="334466"/>
            </a:solidFill>
            <a:prstDash val="solid"/>
          </a:ln>
        </p:spPr>
        <p:txBody>
          <a:bodyPr/>
          <a:lstStyle/>
          <a:p>
            <a:endParaRPr lang="en-IN"/>
          </a:p>
        </p:txBody>
      </p:sp>
      <p:sp>
        <p:nvSpPr>
          <p:cNvPr id="18" name="Text 16"/>
          <p:cNvSpPr/>
          <p:nvPr/>
        </p:nvSpPr>
        <p:spPr>
          <a:xfrm>
            <a:off x="7223760" y="1207008"/>
            <a:ext cx="914400" cy="457200"/>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Price</a:t>
            </a:r>
            <a:endParaRPr lang="en-US" sz="1100" dirty="0"/>
          </a:p>
        </p:txBody>
      </p:sp>
      <p:sp>
        <p:nvSpPr>
          <p:cNvPr id="19" name="Shape 17"/>
          <p:cNvSpPr/>
          <p:nvPr/>
        </p:nvSpPr>
        <p:spPr>
          <a:xfrm>
            <a:off x="228600" y="1664208"/>
            <a:ext cx="1828800" cy="475488"/>
          </a:xfrm>
          <a:prstGeom prst="rect">
            <a:avLst/>
          </a:prstGeom>
          <a:solidFill>
            <a:srgbClr val="FFFFFF"/>
          </a:solidFill>
          <a:ln w="12700">
            <a:solidFill>
              <a:srgbClr val="D5DCF0"/>
            </a:solidFill>
            <a:prstDash val="solid"/>
          </a:ln>
        </p:spPr>
        <p:txBody>
          <a:bodyPr/>
          <a:lstStyle/>
          <a:p>
            <a:endParaRPr lang="en-IN"/>
          </a:p>
        </p:txBody>
      </p:sp>
      <p:sp>
        <p:nvSpPr>
          <p:cNvPr id="20" name="Text 18"/>
          <p:cNvSpPr/>
          <p:nvPr/>
        </p:nvSpPr>
        <p:spPr>
          <a:xfrm>
            <a:off x="228600" y="1664208"/>
            <a:ext cx="18288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Moneycontrol</a:t>
            </a:r>
            <a:endParaRPr lang="en-US" sz="1050" dirty="0"/>
          </a:p>
        </p:txBody>
      </p:sp>
      <p:sp>
        <p:nvSpPr>
          <p:cNvPr id="21" name="Shape 19"/>
          <p:cNvSpPr/>
          <p:nvPr/>
        </p:nvSpPr>
        <p:spPr>
          <a:xfrm>
            <a:off x="2057400" y="1664208"/>
            <a:ext cx="1005840" cy="475488"/>
          </a:xfrm>
          <a:prstGeom prst="rect">
            <a:avLst/>
          </a:prstGeom>
          <a:solidFill>
            <a:srgbClr val="FFFFFF"/>
          </a:solidFill>
          <a:ln w="12700">
            <a:solidFill>
              <a:srgbClr val="D5DCF0"/>
            </a:solidFill>
            <a:prstDash val="solid"/>
          </a:ln>
        </p:spPr>
        <p:txBody>
          <a:bodyPr/>
          <a:lstStyle/>
          <a:p>
            <a:endParaRPr lang="en-IN"/>
          </a:p>
        </p:txBody>
      </p:sp>
      <p:sp>
        <p:nvSpPr>
          <p:cNvPr id="22" name="Text 20"/>
          <p:cNvSpPr/>
          <p:nvPr/>
        </p:nvSpPr>
        <p:spPr>
          <a:xfrm>
            <a:off x="2057400" y="1664208"/>
            <a:ext cx="100584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23" name="Shape 21"/>
          <p:cNvSpPr/>
          <p:nvPr/>
        </p:nvSpPr>
        <p:spPr>
          <a:xfrm>
            <a:off x="3063240" y="1664208"/>
            <a:ext cx="1005840" cy="475488"/>
          </a:xfrm>
          <a:prstGeom prst="rect">
            <a:avLst/>
          </a:prstGeom>
          <a:solidFill>
            <a:srgbClr val="FFFFFF"/>
          </a:solidFill>
          <a:ln w="12700">
            <a:solidFill>
              <a:srgbClr val="D5DCF0"/>
            </a:solidFill>
            <a:prstDash val="solid"/>
          </a:ln>
        </p:spPr>
        <p:txBody>
          <a:bodyPr/>
          <a:lstStyle/>
          <a:p>
            <a:endParaRPr lang="en-IN"/>
          </a:p>
        </p:txBody>
      </p:sp>
      <p:sp>
        <p:nvSpPr>
          <p:cNvPr id="24" name="Text 22"/>
          <p:cNvSpPr/>
          <p:nvPr/>
        </p:nvSpPr>
        <p:spPr>
          <a:xfrm>
            <a:off x="3063240" y="1664208"/>
            <a:ext cx="100584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Basic</a:t>
            </a:r>
            <a:endParaRPr lang="en-US" sz="1050" dirty="0"/>
          </a:p>
        </p:txBody>
      </p:sp>
      <p:sp>
        <p:nvSpPr>
          <p:cNvPr id="25" name="Shape 23"/>
          <p:cNvSpPr/>
          <p:nvPr/>
        </p:nvSpPr>
        <p:spPr>
          <a:xfrm>
            <a:off x="4069080" y="1664208"/>
            <a:ext cx="1097280" cy="475488"/>
          </a:xfrm>
          <a:prstGeom prst="rect">
            <a:avLst/>
          </a:prstGeom>
          <a:solidFill>
            <a:srgbClr val="FFFFFF"/>
          </a:solidFill>
          <a:ln w="12700">
            <a:solidFill>
              <a:srgbClr val="D5DCF0"/>
            </a:solidFill>
            <a:prstDash val="solid"/>
          </a:ln>
        </p:spPr>
        <p:txBody>
          <a:bodyPr/>
          <a:lstStyle/>
          <a:p>
            <a:endParaRPr lang="en-IN"/>
          </a:p>
        </p:txBody>
      </p:sp>
      <p:sp>
        <p:nvSpPr>
          <p:cNvPr id="26" name="Text 24"/>
          <p:cNvSpPr/>
          <p:nvPr/>
        </p:nvSpPr>
        <p:spPr>
          <a:xfrm>
            <a:off x="4069080" y="1664208"/>
            <a:ext cx="109728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27" name="Shape 25"/>
          <p:cNvSpPr/>
          <p:nvPr/>
        </p:nvSpPr>
        <p:spPr>
          <a:xfrm>
            <a:off x="5166360" y="1664208"/>
            <a:ext cx="1234440" cy="475488"/>
          </a:xfrm>
          <a:prstGeom prst="rect">
            <a:avLst/>
          </a:prstGeom>
          <a:solidFill>
            <a:srgbClr val="FFFFFF"/>
          </a:solidFill>
          <a:ln w="12700">
            <a:solidFill>
              <a:srgbClr val="D5DCF0"/>
            </a:solidFill>
            <a:prstDash val="solid"/>
          </a:ln>
        </p:spPr>
        <p:txBody>
          <a:bodyPr/>
          <a:lstStyle/>
          <a:p>
            <a:endParaRPr lang="en-IN"/>
          </a:p>
        </p:txBody>
      </p:sp>
      <p:sp>
        <p:nvSpPr>
          <p:cNvPr id="28" name="Text 26"/>
          <p:cNvSpPr/>
          <p:nvPr/>
        </p:nvSpPr>
        <p:spPr>
          <a:xfrm>
            <a:off x="5166360" y="1664208"/>
            <a:ext cx="123444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29" name="Shape 27"/>
          <p:cNvSpPr/>
          <p:nvPr/>
        </p:nvSpPr>
        <p:spPr>
          <a:xfrm>
            <a:off x="6400800" y="1664208"/>
            <a:ext cx="822960" cy="475488"/>
          </a:xfrm>
          <a:prstGeom prst="rect">
            <a:avLst/>
          </a:prstGeom>
          <a:solidFill>
            <a:srgbClr val="FFFFFF"/>
          </a:solidFill>
          <a:ln w="12700">
            <a:solidFill>
              <a:srgbClr val="D5DCF0"/>
            </a:solidFill>
            <a:prstDash val="solid"/>
          </a:ln>
        </p:spPr>
        <p:txBody>
          <a:bodyPr/>
          <a:lstStyle/>
          <a:p>
            <a:endParaRPr lang="en-IN"/>
          </a:p>
        </p:txBody>
      </p:sp>
      <p:sp>
        <p:nvSpPr>
          <p:cNvPr id="30" name="Text 28"/>
          <p:cNvSpPr/>
          <p:nvPr/>
        </p:nvSpPr>
        <p:spPr>
          <a:xfrm>
            <a:off x="6400800" y="1664208"/>
            <a:ext cx="82296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31" name="Shape 29"/>
          <p:cNvSpPr/>
          <p:nvPr/>
        </p:nvSpPr>
        <p:spPr>
          <a:xfrm>
            <a:off x="7223760" y="1664208"/>
            <a:ext cx="914400" cy="475488"/>
          </a:xfrm>
          <a:prstGeom prst="rect">
            <a:avLst/>
          </a:prstGeom>
          <a:solidFill>
            <a:srgbClr val="FFFFFF"/>
          </a:solidFill>
          <a:ln w="12700">
            <a:solidFill>
              <a:srgbClr val="D5DCF0"/>
            </a:solidFill>
            <a:prstDash val="solid"/>
          </a:ln>
        </p:spPr>
        <p:txBody>
          <a:bodyPr/>
          <a:lstStyle/>
          <a:p>
            <a:endParaRPr lang="en-IN"/>
          </a:p>
        </p:txBody>
      </p:sp>
      <p:sp>
        <p:nvSpPr>
          <p:cNvPr id="32" name="Text 30"/>
          <p:cNvSpPr/>
          <p:nvPr/>
        </p:nvSpPr>
        <p:spPr>
          <a:xfrm>
            <a:off x="7223760" y="1664208"/>
            <a:ext cx="9144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Free</a:t>
            </a:r>
            <a:endParaRPr lang="en-US" sz="1050" dirty="0"/>
          </a:p>
        </p:txBody>
      </p:sp>
      <p:sp>
        <p:nvSpPr>
          <p:cNvPr id="33" name="Shape 31"/>
          <p:cNvSpPr/>
          <p:nvPr/>
        </p:nvSpPr>
        <p:spPr>
          <a:xfrm>
            <a:off x="228600" y="2139696"/>
            <a:ext cx="1828800" cy="475488"/>
          </a:xfrm>
          <a:prstGeom prst="rect">
            <a:avLst/>
          </a:prstGeom>
          <a:solidFill>
            <a:srgbClr val="F5F7FC"/>
          </a:solidFill>
          <a:ln w="12700">
            <a:solidFill>
              <a:srgbClr val="D5DCF0"/>
            </a:solidFill>
            <a:prstDash val="solid"/>
          </a:ln>
        </p:spPr>
        <p:txBody>
          <a:bodyPr/>
          <a:lstStyle/>
          <a:p>
            <a:endParaRPr lang="en-IN"/>
          </a:p>
        </p:txBody>
      </p:sp>
      <p:sp>
        <p:nvSpPr>
          <p:cNvPr id="34" name="Text 32"/>
          <p:cNvSpPr/>
          <p:nvPr/>
        </p:nvSpPr>
        <p:spPr>
          <a:xfrm>
            <a:off x="228600" y="2139696"/>
            <a:ext cx="18288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Zerodha Kite</a:t>
            </a:r>
            <a:endParaRPr lang="en-US" sz="1050" dirty="0"/>
          </a:p>
        </p:txBody>
      </p:sp>
      <p:sp>
        <p:nvSpPr>
          <p:cNvPr id="35" name="Shape 33"/>
          <p:cNvSpPr/>
          <p:nvPr/>
        </p:nvSpPr>
        <p:spPr>
          <a:xfrm>
            <a:off x="2057400" y="2139696"/>
            <a:ext cx="1005840" cy="475488"/>
          </a:xfrm>
          <a:prstGeom prst="rect">
            <a:avLst/>
          </a:prstGeom>
          <a:solidFill>
            <a:srgbClr val="F5F7FC"/>
          </a:solidFill>
          <a:ln w="12700">
            <a:solidFill>
              <a:srgbClr val="D5DCF0"/>
            </a:solidFill>
            <a:prstDash val="solid"/>
          </a:ln>
        </p:spPr>
        <p:txBody>
          <a:bodyPr/>
          <a:lstStyle/>
          <a:p>
            <a:endParaRPr lang="en-IN"/>
          </a:p>
        </p:txBody>
      </p:sp>
      <p:sp>
        <p:nvSpPr>
          <p:cNvPr id="36" name="Text 34"/>
          <p:cNvSpPr/>
          <p:nvPr/>
        </p:nvSpPr>
        <p:spPr>
          <a:xfrm>
            <a:off x="2057400" y="2139696"/>
            <a:ext cx="100584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37" name="Shape 35"/>
          <p:cNvSpPr/>
          <p:nvPr/>
        </p:nvSpPr>
        <p:spPr>
          <a:xfrm>
            <a:off x="3063240" y="2139696"/>
            <a:ext cx="1005840" cy="475488"/>
          </a:xfrm>
          <a:prstGeom prst="rect">
            <a:avLst/>
          </a:prstGeom>
          <a:solidFill>
            <a:srgbClr val="F5F7FC"/>
          </a:solidFill>
          <a:ln w="12700">
            <a:solidFill>
              <a:srgbClr val="D5DCF0"/>
            </a:solidFill>
            <a:prstDash val="solid"/>
          </a:ln>
        </p:spPr>
        <p:txBody>
          <a:bodyPr/>
          <a:lstStyle/>
          <a:p>
            <a:endParaRPr lang="en-IN"/>
          </a:p>
        </p:txBody>
      </p:sp>
      <p:sp>
        <p:nvSpPr>
          <p:cNvPr id="38" name="Text 36"/>
          <p:cNvSpPr/>
          <p:nvPr/>
        </p:nvSpPr>
        <p:spPr>
          <a:xfrm>
            <a:off x="3063240" y="2139696"/>
            <a:ext cx="100584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39" name="Shape 37"/>
          <p:cNvSpPr/>
          <p:nvPr/>
        </p:nvSpPr>
        <p:spPr>
          <a:xfrm>
            <a:off x="4069080" y="2139696"/>
            <a:ext cx="1097280" cy="475488"/>
          </a:xfrm>
          <a:prstGeom prst="rect">
            <a:avLst/>
          </a:prstGeom>
          <a:solidFill>
            <a:srgbClr val="F5F7FC"/>
          </a:solidFill>
          <a:ln w="12700">
            <a:solidFill>
              <a:srgbClr val="D5DCF0"/>
            </a:solidFill>
            <a:prstDash val="solid"/>
          </a:ln>
        </p:spPr>
        <p:txBody>
          <a:bodyPr/>
          <a:lstStyle/>
          <a:p>
            <a:endParaRPr lang="en-IN"/>
          </a:p>
        </p:txBody>
      </p:sp>
      <p:sp>
        <p:nvSpPr>
          <p:cNvPr id="40" name="Text 38"/>
          <p:cNvSpPr/>
          <p:nvPr/>
        </p:nvSpPr>
        <p:spPr>
          <a:xfrm>
            <a:off x="4069080" y="2139696"/>
            <a:ext cx="109728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41" name="Shape 39"/>
          <p:cNvSpPr/>
          <p:nvPr/>
        </p:nvSpPr>
        <p:spPr>
          <a:xfrm>
            <a:off x="5166360" y="2139696"/>
            <a:ext cx="1234440" cy="475488"/>
          </a:xfrm>
          <a:prstGeom prst="rect">
            <a:avLst/>
          </a:prstGeom>
          <a:solidFill>
            <a:srgbClr val="F5F7FC"/>
          </a:solidFill>
          <a:ln w="12700">
            <a:solidFill>
              <a:srgbClr val="D5DCF0"/>
            </a:solidFill>
            <a:prstDash val="solid"/>
          </a:ln>
        </p:spPr>
        <p:txBody>
          <a:bodyPr/>
          <a:lstStyle/>
          <a:p>
            <a:endParaRPr lang="en-IN"/>
          </a:p>
        </p:txBody>
      </p:sp>
      <p:sp>
        <p:nvSpPr>
          <p:cNvPr id="42" name="Text 40"/>
          <p:cNvSpPr/>
          <p:nvPr/>
        </p:nvSpPr>
        <p:spPr>
          <a:xfrm>
            <a:off x="5166360" y="2139696"/>
            <a:ext cx="123444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43" name="Shape 41"/>
          <p:cNvSpPr/>
          <p:nvPr/>
        </p:nvSpPr>
        <p:spPr>
          <a:xfrm>
            <a:off x="6400800" y="2139696"/>
            <a:ext cx="822960" cy="475488"/>
          </a:xfrm>
          <a:prstGeom prst="rect">
            <a:avLst/>
          </a:prstGeom>
          <a:solidFill>
            <a:srgbClr val="F5F7FC"/>
          </a:solidFill>
          <a:ln w="12700">
            <a:solidFill>
              <a:srgbClr val="D5DCF0"/>
            </a:solidFill>
            <a:prstDash val="solid"/>
          </a:ln>
        </p:spPr>
        <p:txBody>
          <a:bodyPr/>
          <a:lstStyle/>
          <a:p>
            <a:endParaRPr lang="en-IN"/>
          </a:p>
        </p:txBody>
      </p:sp>
      <p:sp>
        <p:nvSpPr>
          <p:cNvPr id="44" name="Text 42"/>
          <p:cNvSpPr/>
          <p:nvPr/>
        </p:nvSpPr>
        <p:spPr>
          <a:xfrm>
            <a:off x="6400800" y="2139696"/>
            <a:ext cx="82296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45" name="Shape 43"/>
          <p:cNvSpPr/>
          <p:nvPr/>
        </p:nvSpPr>
        <p:spPr>
          <a:xfrm>
            <a:off x="7223760" y="2139696"/>
            <a:ext cx="914400" cy="475488"/>
          </a:xfrm>
          <a:prstGeom prst="rect">
            <a:avLst/>
          </a:prstGeom>
          <a:solidFill>
            <a:srgbClr val="F5F7FC"/>
          </a:solidFill>
          <a:ln w="12700">
            <a:solidFill>
              <a:srgbClr val="D5DCF0"/>
            </a:solidFill>
            <a:prstDash val="solid"/>
          </a:ln>
        </p:spPr>
        <p:txBody>
          <a:bodyPr/>
          <a:lstStyle/>
          <a:p>
            <a:endParaRPr lang="en-IN"/>
          </a:p>
        </p:txBody>
      </p:sp>
      <p:sp>
        <p:nvSpPr>
          <p:cNvPr id="46" name="Text 44"/>
          <p:cNvSpPr/>
          <p:nvPr/>
        </p:nvSpPr>
        <p:spPr>
          <a:xfrm>
            <a:off x="7223760" y="2139696"/>
            <a:ext cx="9144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Free</a:t>
            </a:r>
            <a:endParaRPr lang="en-US" sz="1050" dirty="0"/>
          </a:p>
        </p:txBody>
      </p:sp>
      <p:sp>
        <p:nvSpPr>
          <p:cNvPr id="47" name="Shape 45"/>
          <p:cNvSpPr/>
          <p:nvPr/>
        </p:nvSpPr>
        <p:spPr>
          <a:xfrm>
            <a:off x="228600" y="2615184"/>
            <a:ext cx="1828800" cy="475488"/>
          </a:xfrm>
          <a:prstGeom prst="rect">
            <a:avLst/>
          </a:prstGeom>
          <a:solidFill>
            <a:srgbClr val="FFFFFF"/>
          </a:solidFill>
          <a:ln w="12700">
            <a:solidFill>
              <a:srgbClr val="D5DCF0"/>
            </a:solidFill>
            <a:prstDash val="solid"/>
          </a:ln>
        </p:spPr>
        <p:txBody>
          <a:bodyPr/>
          <a:lstStyle/>
          <a:p>
            <a:endParaRPr lang="en-IN"/>
          </a:p>
        </p:txBody>
      </p:sp>
      <p:sp>
        <p:nvSpPr>
          <p:cNvPr id="48" name="Text 46"/>
          <p:cNvSpPr/>
          <p:nvPr/>
        </p:nvSpPr>
        <p:spPr>
          <a:xfrm>
            <a:off x="228600" y="2615184"/>
            <a:ext cx="18288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Groww</a:t>
            </a:r>
            <a:endParaRPr lang="en-US" sz="1050" dirty="0"/>
          </a:p>
        </p:txBody>
      </p:sp>
      <p:sp>
        <p:nvSpPr>
          <p:cNvPr id="49" name="Shape 47"/>
          <p:cNvSpPr/>
          <p:nvPr/>
        </p:nvSpPr>
        <p:spPr>
          <a:xfrm>
            <a:off x="2057400" y="2615184"/>
            <a:ext cx="1005840" cy="475488"/>
          </a:xfrm>
          <a:prstGeom prst="rect">
            <a:avLst/>
          </a:prstGeom>
          <a:solidFill>
            <a:srgbClr val="FFFFFF"/>
          </a:solidFill>
          <a:ln w="12700">
            <a:solidFill>
              <a:srgbClr val="D5DCF0"/>
            </a:solidFill>
            <a:prstDash val="solid"/>
          </a:ln>
        </p:spPr>
        <p:txBody>
          <a:bodyPr/>
          <a:lstStyle/>
          <a:p>
            <a:endParaRPr lang="en-IN"/>
          </a:p>
        </p:txBody>
      </p:sp>
      <p:sp>
        <p:nvSpPr>
          <p:cNvPr id="50" name="Text 48"/>
          <p:cNvSpPr/>
          <p:nvPr/>
        </p:nvSpPr>
        <p:spPr>
          <a:xfrm>
            <a:off x="2057400" y="2615184"/>
            <a:ext cx="100584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51" name="Shape 49"/>
          <p:cNvSpPr/>
          <p:nvPr/>
        </p:nvSpPr>
        <p:spPr>
          <a:xfrm>
            <a:off x="3063240" y="2615184"/>
            <a:ext cx="1005840" cy="475488"/>
          </a:xfrm>
          <a:prstGeom prst="rect">
            <a:avLst/>
          </a:prstGeom>
          <a:solidFill>
            <a:srgbClr val="FFFFFF"/>
          </a:solidFill>
          <a:ln w="12700">
            <a:solidFill>
              <a:srgbClr val="D5DCF0"/>
            </a:solidFill>
            <a:prstDash val="solid"/>
          </a:ln>
        </p:spPr>
        <p:txBody>
          <a:bodyPr/>
          <a:lstStyle/>
          <a:p>
            <a:endParaRPr lang="en-IN"/>
          </a:p>
        </p:txBody>
      </p:sp>
      <p:sp>
        <p:nvSpPr>
          <p:cNvPr id="52" name="Text 50"/>
          <p:cNvSpPr/>
          <p:nvPr/>
        </p:nvSpPr>
        <p:spPr>
          <a:xfrm>
            <a:off x="3063240" y="2615184"/>
            <a:ext cx="100584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53" name="Shape 51"/>
          <p:cNvSpPr/>
          <p:nvPr/>
        </p:nvSpPr>
        <p:spPr>
          <a:xfrm>
            <a:off x="4069080" y="2615184"/>
            <a:ext cx="1097280" cy="475488"/>
          </a:xfrm>
          <a:prstGeom prst="rect">
            <a:avLst/>
          </a:prstGeom>
          <a:solidFill>
            <a:srgbClr val="FFFFFF"/>
          </a:solidFill>
          <a:ln w="12700">
            <a:solidFill>
              <a:srgbClr val="D5DCF0"/>
            </a:solidFill>
            <a:prstDash val="solid"/>
          </a:ln>
        </p:spPr>
        <p:txBody>
          <a:bodyPr/>
          <a:lstStyle/>
          <a:p>
            <a:endParaRPr lang="en-IN"/>
          </a:p>
        </p:txBody>
      </p:sp>
      <p:sp>
        <p:nvSpPr>
          <p:cNvPr id="54" name="Text 52"/>
          <p:cNvSpPr/>
          <p:nvPr/>
        </p:nvSpPr>
        <p:spPr>
          <a:xfrm>
            <a:off x="4069080" y="2615184"/>
            <a:ext cx="109728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55" name="Shape 53"/>
          <p:cNvSpPr/>
          <p:nvPr/>
        </p:nvSpPr>
        <p:spPr>
          <a:xfrm>
            <a:off x="5166360" y="2615184"/>
            <a:ext cx="1234440" cy="475488"/>
          </a:xfrm>
          <a:prstGeom prst="rect">
            <a:avLst/>
          </a:prstGeom>
          <a:solidFill>
            <a:srgbClr val="FFFFFF"/>
          </a:solidFill>
          <a:ln w="12700">
            <a:solidFill>
              <a:srgbClr val="D5DCF0"/>
            </a:solidFill>
            <a:prstDash val="solid"/>
          </a:ln>
        </p:spPr>
        <p:txBody>
          <a:bodyPr/>
          <a:lstStyle/>
          <a:p>
            <a:endParaRPr lang="en-IN"/>
          </a:p>
        </p:txBody>
      </p:sp>
      <p:sp>
        <p:nvSpPr>
          <p:cNvPr id="56" name="Text 54"/>
          <p:cNvSpPr/>
          <p:nvPr/>
        </p:nvSpPr>
        <p:spPr>
          <a:xfrm>
            <a:off x="5166360" y="2615184"/>
            <a:ext cx="123444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57" name="Shape 55"/>
          <p:cNvSpPr/>
          <p:nvPr/>
        </p:nvSpPr>
        <p:spPr>
          <a:xfrm>
            <a:off x="6400800" y="2615184"/>
            <a:ext cx="822960" cy="475488"/>
          </a:xfrm>
          <a:prstGeom prst="rect">
            <a:avLst/>
          </a:prstGeom>
          <a:solidFill>
            <a:srgbClr val="FFFFFF"/>
          </a:solidFill>
          <a:ln w="12700">
            <a:solidFill>
              <a:srgbClr val="D5DCF0"/>
            </a:solidFill>
            <a:prstDash val="solid"/>
          </a:ln>
        </p:spPr>
        <p:txBody>
          <a:bodyPr/>
          <a:lstStyle/>
          <a:p>
            <a:endParaRPr lang="en-IN"/>
          </a:p>
        </p:txBody>
      </p:sp>
      <p:sp>
        <p:nvSpPr>
          <p:cNvPr id="58" name="Text 56"/>
          <p:cNvSpPr/>
          <p:nvPr/>
        </p:nvSpPr>
        <p:spPr>
          <a:xfrm>
            <a:off x="6400800" y="2615184"/>
            <a:ext cx="82296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59" name="Shape 57"/>
          <p:cNvSpPr/>
          <p:nvPr/>
        </p:nvSpPr>
        <p:spPr>
          <a:xfrm>
            <a:off x="7223760" y="2615184"/>
            <a:ext cx="914400" cy="475488"/>
          </a:xfrm>
          <a:prstGeom prst="rect">
            <a:avLst/>
          </a:prstGeom>
          <a:solidFill>
            <a:srgbClr val="FFFFFF"/>
          </a:solidFill>
          <a:ln w="12700">
            <a:solidFill>
              <a:srgbClr val="D5DCF0"/>
            </a:solidFill>
            <a:prstDash val="solid"/>
          </a:ln>
        </p:spPr>
        <p:txBody>
          <a:bodyPr/>
          <a:lstStyle/>
          <a:p>
            <a:endParaRPr lang="en-IN"/>
          </a:p>
        </p:txBody>
      </p:sp>
      <p:sp>
        <p:nvSpPr>
          <p:cNvPr id="60" name="Text 58"/>
          <p:cNvSpPr/>
          <p:nvPr/>
        </p:nvSpPr>
        <p:spPr>
          <a:xfrm>
            <a:off x="7223760" y="2615184"/>
            <a:ext cx="9144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Free</a:t>
            </a:r>
            <a:endParaRPr lang="en-US" sz="1050" dirty="0"/>
          </a:p>
        </p:txBody>
      </p:sp>
      <p:sp>
        <p:nvSpPr>
          <p:cNvPr id="61" name="Shape 59"/>
          <p:cNvSpPr/>
          <p:nvPr/>
        </p:nvSpPr>
        <p:spPr>
          <a:xfrm>
            <a:off x="228600" y="3090672"/>
            <a:ext cx="1828800" cy="475488"/>
          </a:xfrm>
          <a:prstGeom prst="rect">
            <a:avLst/>
          </a:prstGeom>
          <a:solidFill>
            <a:srgbClr val="F5F7FC"/>
          </a:solidFill>
          <a:ln w="12700">
            <a:solidFill>
              <a:srgbClr val="D5DCF0"/>
            </a:solidFill>
            <a:prstDash val="solid"/>
          </a:ln>
        </p:spPr>
        <p:txBody>
          <a:bodyPr/>
          <a:lstStyle/>
          <a:p>
            <a:endParaRPr lang="en-IN"/>
          </a:p>
        </p:txBody>
      </p:sp>
      <p:sp>
        <p:nvSpPr>
          <p:cNvPr id="62" name="Text 60"/>
          <p:cNvSpPr/>
          <p:nvPr/>
        </p:nvSpPr>
        <p:spPr>
          <a:xfrm>
            <a:off x="228600" y="3090672"/>
            <a:ext cx="18288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Screener.in</a:t>
            </a:r>
            <a:endParaRPr lang="en-US" sz="1050" dirty="0"/>
          </a:p>
        </p:txBody>
      </p:sp>
      <p:sp>
        <p:nvSpPr>
          <p:cNvPr id="63" name="Shape 61"/>
          <p:cNvSpPr/>
          <p:nvPr/>
        </p:nvSpPr>
        <p:spPr>
          <a:xfrm>
            <a:off x="2057400" y="3090672"/>
            <a:ext cx="1005840" cy="475488"/>
          </a:xfrm>
          <a:prstGeom prst="rect">
            <a:avLst/>
          </a:prstGeom>
          <a:solidFill>
            <a:srgbClr val="F5F7FC"/>
          </a:solidFill>
          <a:ln w="12700">
            <a:solidFill>
              <a:srgbClr val="D5DCF0"/>
            </a:solidFill>
            <a:prstDash val="solid"/>
          </a:ln>
        </p:spPr>
        <p:txBody>
          <a:bodyPr/>
          <a:lstStyle/>
          <a:p>
            <a:endParaRPr lang="en-IN"/>
          </a:p>
        </p:txBody>
      </p:sp>
      <p:sp>
        <p:nvSpPr>
          <p:cNvPr id="64" name="Text 62"/>
          <p:cNvSpPr/>
          <p:nvPr/>
        </p:nvSpPr>
        <p:spPr>
          <a:xfrm>
            <a:off x="2057400" y="3090672"/>
            <a:ext cx="100584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Fundamental</a:t>
            </a:r>
            <a:endParaRPr lang="en-US" sz="1050" dirty="0"/>
          </a:p>
        </p:txBody>
      </p:sp>
      <p:sp>
        <p:nvSpPr>
          <p:cNvPr id="65" name="Shape 63"/>
          <p:cNvSpPr/>
          <p:nvPr/>
        </p:nvSpPr>
        <p:spPr>
          <a:xfrm>
            <a:off x="3063240" y="3090672"/>
            <a:ext cx="1005840" cy="475488"/>
          </a:xfrm>
          <a:prstGeom prst="rect">
            <a:avLst/>
          </a:prstGeom>
          <a:solidFill>
            <a:srgbClr val="F5F7FC"/>
          </a:solidFill>
          <a:ln w="12700">
            <a:solidFill>
              <a:srgbClr val="D5DCF0"/>
            </a:solidFill>
            <a:prstDash val="solid"/>
          </a:ln>
        </p:spPr>
        <p:txBody>
          <a:bodyPr/>
          <a:lstStyle/>
          <a:p>
            <a:endParaRPr lang="en-IN"/>
          </a:p>
        </p:txBody>
      </p:sp>
      <p:sp>
        <p:nvSpPr>
          <p:cNvPr id="66" name="Text 64"/>
          <p:cNvSpPr/>
          <p:nvPr/>
        </p:nvSpPr>
        <p:spPr>
          <a:xfrm>
            <a:off x="3063240" y="3090672"/>
            <a:ext cx="100584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67" name="Shape 65"/>
          <p:cNvSpPr/>
          <p:nvPr/>
        </p:nvSpPr>
        <p:spPr>
          <a:xfrm>
            <a:off x="4069080" y="3090672"/>
            <a:ext cx="1097280" cy="475488"/>
          </a:xfrm>
          <a:prstGeom prst="rect">
            <a:avLst/>
          </a:prstGeom>
          <a:solidFill>
            <a:srgbClr val="F5F7FC"/>
          </a:solidFill>
          <a:ln w="12700">
            <a:solidFill>
              <a:srgbClr val="D5DCF0"/>
            </a:solidFill>
            <a:prstDash val="solid"/>
          </a:ln>
        </p:spPr>
        <p:txBody>
          <a:bodyPr/>
          <a:lstStyle/>
          <a:p>
            <a:endParaRPr lang="en-IN"/>
          </a:p>
        </p:txBody>
      </p:sp>
      <p:sp>
        <p:nvSpPr>
          <p:cNvPr id="68" name="Text 66"/>
          <p:cNvSpPr/>
          <p:nvPr/>
        </p:nvSpPr>
        <p:spPr>
          <a:xfrm>
            <a:off x="4069080" y="3090672"/>
            <a:ext cx="109728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69" name="Shape 67"/>
          <p:cNvSpPr/>
          <p:nvPr/>
        </p:nvSpPr>
        <p:spPr>
          <a:xfrm>
            <a:off x="5166360" y="3090672"/>
            <a:ext cx="1234440" cy="475488"/>
          </a:xfrm>
          <a:prstGeom prst="rect">
            <a:avLst/>
          </a:prstGeom>
          <a:solidFill>
            <a:srgbClr val="F5F7FC"/>
          </a:solidFill>
          <a:ln w="12700">
            <a:solidFill>
              <a:srgbClr val="D5DCF0"/>
            </a:solidFill>
            <a:prstDash val="solid"/>
          </a:ln>
        </p:spPr>
        <p:txBody>
          <a:bodyPr/>
          <a:lstStyle/>
          <a:p>
            <a:endParaRPr lang="en-IN"/>
          </a:p>
        </p:txBody>
      </p:sp>
      <p:sp>
        <p:nvSpPr>
          <p:cNvPr id="70" name="Text 68"/>
          <p:cNvSpPr/>
          <p:nvPr/>
        </p:nvSpPr>
        <p:spPr>
          <a:xfrm>
            <a:off x="5166360" y="3090672"/>
            <a:ext cx="123444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71" name="Shape 69"/>
          <p:cNvSpPr/>
          <p:nvPr/>
        </p:nvSpPr>
        <p:spPr>
          <a:xfrm>
            <a:off x="6400800" y="3090672"/>
            <a:ext cx="822960" cy="475488"/>
          </a:xfrm>
          <a:prstGeom prst="rect">
            <a:avLst/>
          </a:prstGeom>
          <a:solidFill>
            <a:srgbClr val="F5F7FC"/>
          </a:solidFill>
          <a:ln w="12700">
            <a:solidFill>
              <a:srgbClr val="D5DCF0"/>
            </a:solidFill>
            <a:prstDash val="solid"/>
          </a:ln>
        </p:spPr>
        <p:txBody>
          <a:bodyPr/>
          <a:lstStyle/>
          <a:p>
            <a:endParaRPr lang="en-IN"/>
          </a:p>
        </p:txBody>
      </p:sp>
      <p:sp>
        <p:nvSpPr>
          <p:cNvPr id="72" name="Text 70"/>
          <p:cNvSpPr/>
          <p:nvPr/>
        </p:nvSpPr>
        <p:spPr>
          <a:xfrm>
            <a:off x="6400800" y="3090672"/>
            <a:ext cx="822960" cy="475488"/>
          </a:xfrm>
          <a:prstGeom prst="rect">
            <a:avLst/>
          </a:prstGeom>
          <a:noFill/>
          <a:ln/>
        </p:spPr>
        <p:txBody>
          <a:bodyPr wrap="square" rtlCol="0" anchor="ctr"/>
          <a:lstStyle/>
          <a:p>
            <a:pPr marL="0" indent="0" algn="ctr">
              <a:buNone/>
            </a:pPr>
            <a:r>
              <a:rPr lang="en-US" sz="1050" dirty="0">
                <a:solidFill>
                  <a:srgbClr val="FF5252"/>
                </a:solidFill>
                <a:latin typeface="Calibri" pitchFamily="34" charset="0"/>
                <a:ea typeface="Calibri" pitchFamily="34" charset="-122"/>
                <a:cs typeface="Calibri" pitchFamily="34" charset="-120"/>
              </a:rPr>
              <a:t>✗</a:t>
            </a:r>
            <a:endParaRPr lang="en-US" sz="1050" dirty="0"/>
          </a:p>
        </p:txBody>
      </p:sp>
      <p:sp>
        <p:nvSpPr>
          <p:cNvPr id="73" name="Shape 71"/>
          <p:cNvSpPr/>
          <p:nvPr/>
        </p:nvSpPr>
        <p:spPr>
          <a:xfrm>
            <a:off x="7223760" y="3090672"/>
            <a:ext cx="914400" cy="475488"/>
          </a:xfrm>
          <a:prstGeom prst="rect">
            <a:avLst/>
          </a:prstGeom>
          <a:solidFill>
            <a:srgbClr val="F5F7FC"/>
          </a:solidFill>
          <a:ln w="12700">
            <a:solidFill>
              <a:srgbClr val="D5DCF0"/>
            </a:solidFill>
            <a:prstDash val="solid"/>
          </a:ln>
        </p:spPr>
        <p:txBody>
          <a:bodyPr/>
          <a:lstStyle/>
          <a:p>
            <a:endParaRPr lang="en-IN"/>
          </a:p>
        </p:txBody>
      </p:sp>
      <p:sp>
        <p:nvSpPr>
          <p:cNvPr id="74" name="Text 72"/>
          <p:cNvSpPr/>
          <p:nvPr/>
        </p:nvSpPr>
        <p:spPr>
          <a:xfrm>
            <a:off x="7223760" y="3090672"/>
            <a:ext cx="9144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Free</a:t>
            </a:r>
            <a:endParaRPr lang="en-US" sz="1050" dirty="0"/>
          </a:p>
        </p:txBody>
      </p:sp>
      <p:sp>
        <p:nvSpPr>
          <p:cNvPr id="75" name="Shape 73"/>
          <p:cNvSpPr/>
          <p:nvPr/>
        </p:nvSpPr>
        <p:spPr>
          <a:xfrm>
            <a:off x="228600" y="3566160"/>
            <a:ext cx="1828800" cy="475488"/>
          </a:xfrm>
          <a:prstGeom prst="rect">
            <a:avLst/>
          </a:prstGeom>
          <a:solidFill>
            <a:srgbClr val="FFFFFF"/>
          </a:solidFill>
          <a:ln w="12700">
            <a:solidFill>
              <a:srgbClr val="D5DCF0"/>
            </a:solidFill>
            <a:prstDash val="solid"/>
          </a:ln>
        </p:spPr>
        <p:txBody>
          <a:bodyPr/>
          <a:lstStyle/>
          <a:p>
            <a:endParaRPr lang="en-IN"/>
          </a:p>
        </p:txBody>
      </p:sp>
      <p:sp>
        <p:nvSpPr>
          <p:cNvPr id="76" name="Text 74"/>
          <p:cNvSpPr/>
          <p:nvPr/>
        </p:nvSpPr>
        <p:spPr>
          <a:xfrm>
            <a:off x="228600" y="3566160"/>
            <a:ext cx="18288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Bloomberg</a:t>
            </a:r>
            <a:endParaRPr lang="en-US" sz="1050" dirty="0"/>
          </a:p>
        </p:txBody>
      </p:sp>
      <p:sp>
        <p:nvSpPr>
          <p:cNvPr id="77" name="Shape 75"/>
          <p:cNvSpPr/>
          <p:nvPr/>
        </p:nvSpPr>
        <p:spPr>
          <a:xfrm>
            <a:off x="2057400" y="3566160"/>
            <a:ext cx="1005840" cy="475488"/>
          </a:xfrm>
          <a:prstGeom prst="rect">
            <a:avLst/>
          </a:prstGeom>
          <a:solidFill>
            <a:srgbClr val="FFFFFF"/>
          </a:solidFill>
          <a:ln w="12700">
            <a:solidFill>
              <a:srgbClr val="D5DCF0"/>
            </a:solidFill>
            <a:prstDash val="solid"/>
          </a:ln>
        </p:spPr>
        <p:txBody>
          <a:bodyPr/>
          <a:lstStyle/>
          <a:p>
            <a:endParaRPr lang="en-IN"/>
          </a:p>
        </p:txBody>
      </p:sp>
      <p:sp>
        <p:nvSpPr>
          <p:cNvPr id="78" name="Text 76"/>
          <p:cNvSpPr/>
          <p:nvPr/>
        </p:nvSpPr>
        <p:spPr>
          <a:xfrm>
            <a:off x="2057400" y="3566160"/>
            <a:ext cx="100584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79" name="Shape 77"/>
          <p:cNvSpPr/>
          <p:nvPr/>
        </p:nvSpPr>
        <p:spPr>
          <a:xfrm>
            <a:off x="3063240" y="3566160"/>
            <a:ext cx="1005840" cy="475488"/>
          </a:xfrm>
          <a:prstGeom prst="rect">
            <a:avLst/>
          </a:prstGeom>
          <a:solidFill>
            <a:srgbClr val="FFFFFF"/>
          </a:solidFill>
          <a:ln w="12700">
            <a:solidFill>
              <a:srgbClr val="D5DCF0"/>
            </a:solidFill>
            <a:prstDash val="solid"/>
          </a:ln>
        </p:spPr>
        <p:txBody>
          <a:bodyPr/>
          <a:lstStyle/>
          <a:p>
            <a:endParaRPr lang="en-IN"/>
          </a:p>
        </p:txBody>
      </p:sp>
      <p:sp>
        <p:nvSpPr>
          <p:cNvPr id="80" name="Text 78"/>
          <p:cNvSpPr/>
          <p:nvPr/>
        </p:nvSpPr>
        <p:spPr>
          <a:xfrm>
            <a:off x="3063240" y="3566160"/>
            <a:ext cx="100584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81" name="Shape 79"/>
          <p:cNvSpPr/>
          <p:nvPr/>
        </p:nvSpPr>
        <p:spPr>
          <a:xfrm>
            <a:off x="4069080" y="3566160"/>
            <a:ext cx="1097280" cy="475488"/>
          </a:xfrm>
          <a:prstGeom prst="rect">
            <a:avLst/>
          </a:prstGeom>
          <a:solidFill>
            <a:srgbClr val="FFFFFF"/>
          </a:solidFill>
          <a:ln w="12700">
            <a:solidFill>
              <a:srgbClr val="D5DCF0"/>
            </a:solidFill>
            <a:prstDash val="solid"/>
          </a:ln>
        </p:spPr>
        <p:txBody>
          <a:bodyPr/>
          <a:lstStyle/>
          <a:p>
            <a:endParaRPr lang="en-IN"/>
          </a:p>
        </p:txBody>
      </p:sp>
      <p:sp>
        <p:nvSpPr>
          <p:cNvPr id="82" name="Text 80"/>
          <p:cNvSpPr/>
          <p:nvPr/>
        </p:nvSpPr>
        <p:spPr>
          <a:xfrm>
            <a:off x="4069080" y="3566160"/>
            <a:ext cx="109728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83" name="Shape 81"/>
          <p:cNvSpPr/>
          <p:nvPr/>
        </p:nvSpPr>
        <p:spPr>
          <a:xfrm>
            <a:off x="5166360" y="3566160"/>
            <a:ext cx="1234440" cy="475488"/>
          </a:xfrm>
          <a:prstGeom prst="rect">
            <a:avLst/>
          </a:prstGeom>
          <a:solidFill>
            <a:srgbClr val="FFFFFF"/>
          </a:solidFill>
          <a:ln w="12700">
            <a:solidFill>
              <a:srgbClr val="D5DCF0"/>
            </a:solidFill>
            <a:prstDash val="solid"/>
          </a:ln>
        </p:spPr>
        <p:txBody>
          <a:bodyPr/>
          <a:lstStyle/>
          <a:p>
            <a:endParaRPr lang="en-IN"/>
          </a:p>
        </p:txBody>
      </p:sp>
      <p:sp>
        <p:nvSpPr>
          <p:cNvPr id="84" name="Text 82"/>
          <p:cNvSpPr/>
          <p:nvPr/>
        </p:nvSpPr>
        <p:spPr>
          <a:xfrm>
            <a:off x="5166360" y="3566160"/>
            <a:ext cx="123444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85" name="Shape 83"/>
          <p:cNvSpPr/>
          <p:nvPr/>
        </p:nvSpPr>
        <p:spPr>
          <a:xfrm>
            <a:off x="6400800" y="3566160"/>
            <a:ext cx="822960" cy="475488"/>
          </a:xfrm>
          <a:prstGeom prst="rect">
            <a:avLst/>
          </a:prstGeom>
          <a:solidFill>
            <a:srgbClr val="FFFFFF"/>
          </a:solidFill>
          <a:ln w="12700">
            <a:solidFill>
              <a:srgbClr val="D5DCF0"/>
            </a:solidFill>
            <a:prstDash val="solid"/>
          </a:ln>
        </p:spPr>
        <p:txBody>
          <a:bodyPr/>
          <a:lstStyle/>
          <a:p>
            <a:endParaRPr lang="en-IN"/>
          </a:p>
        </p:txBody>
      </p:sp>
      <p:sp>
        <p:nvSpPr>
          <p:cNvPr id="86" name="Text 84"/>
          <p:cNvSpPr/>
          <p:nvPr/>
        </p:nvSpPr>
        <p:spPr>
          <a:xfrm>
            <a:off x="6400800" y="3566160"/>
            <a:ext cx="822960" cy="475488"/>
          </a:xfrm>
          <a:prstGeom prst="rect">
            <a:avLst/>
          </a:prstGeom>
          <a:noFill/>
          <a:ln/>
        </p:spPr>
        <p:txBody>
          <a:bodyPr wrap="square" rtlCol="0" anchor="ctr"/>
          <a:lstStyle/>
          <a:p>
            <a:pPr marL="0" indent="0" algn="ctr">
              <a:buNone/>
            </a:pPr>
            <a:r>
              <a:rPr lang="en-US" sz="1050" dirty="0">
                <a:solidFill>
                  <a:srgbClr val="1A7F4E"/>
                </a:solidFill>
                <a:latin typeface="Calibri" pitchFamily="34" charset="0"/>
                <a:ea typeface="Calibri" pitchFamily="34" charset="-122"/>
                <a:cs typeface="Calibri" pitchFamily="34" charset="-120"/>
              </a:rPr>
              <a:t>✓</a:t>
            </a:r>
            <a:endParaRPr lang="en-US" sz="1050" dirty="0"/>
          </a:p>
        </p:txBody>
      </p:sp>
      <p:sp>
        <p:nvSpPr>
          <p:cNvPr id="87" name="Shape 85"/>
          <p:cNvSpPr/>
          <p:nvPr/>
        </p:nvSpPr>
        <p:spPr>
          <a:xfrm>
            <a:off x="7223760" y="3566160"/>
            <a:ext cx="914400" cy="475488"/>
          </a:xfrm>
          <a:prstGeom prst="rect">
            <a:avLst/>
          </a:prstGeom>
          <a:solidFill>
            <a:srgbClr val="FFFFFF"/>
          </a:solidFill>
          <a:ln w="12700">
            <a:solidFill>
              <a:srgbClr val="D5DCF0"/>
            </a:solidFill>
            <a:prstDash val="solid"/>
          </a:ln>
        </p:spPr>
        <p:txBody>
          <a:bodyPr/>
          <a:lstStyle/>
          <a:p>
            <a:endParaRPr lang="en-IN"/>
          </a:p>
        </p:txBody>
      </p:sp>
      <p:sp>
        <p:nvSpPr>
          <p:cNvPr id="88" name="Text 86"/>
          <p:cNvSpPr/>
          <p:nvPr/>
        </p:nvSpPr>
        <p:spPr>
          <a:xfrm>
            <a:off x="7223760" y="3566160"/>
            <a:ext cx="914400" cy="475488"/>
          </a:xfrm>
          <a:prstGeom prst="rect">
            <a:avLst/>
          </a:prstGeom>
          <a:noFill/>
          <a:ln/>
        </p:spPr>
        <p:txBody>
          <a:bodyPr wrap="square" rtlCol="0" anchor="ctr"/>
          <a:lstStyle/>
          <a:p>
            <a:pPr marL="0" indent="0" algn="ctr">
              <a:buNone/>
            </a:pPr>
            <a:r>
              <a:rPr lang="en-US" sz="1050" dirty="0">
                <a:solidFill>
                  <a:srgbClr val="0A1628"/>
                </a:solidFill>
                <a:latin typeface="Calibri" pitchFamily="34" charset="0"/>
                <a:ea typeface="Calibri" pitchFamily="34" charset="-122"/>
                <a:cs typeface="Calibri" pitchFamily="34" charset="-120"/>
              </a:rPr>
              <a:t>₹2L/yr</a:t>
            </a:r>
            <a:endParaRPr lang="en-US" sz="1050" dirty="0"/>
          </a:p>
        </p:txBody>
      </p:sp>
      <p:sp>
        <p:nvSpPr>
          <p:cNvPr id="89" name="Shape 87"/>
          <p:cNvSpPr/>
          <p:nvPr/>
        </p:nvSpPr>
        <p:spPr>
          <a:xfrm>
            <a:off x="228600" y="4041648"/>
            <a:ext cx="1828800" cy="475488"/>
          </a:xfrm>
          <a:prstGeom prst="rect">
            <a:avLst/>
          </a:prstGeom>
          <a:solidFill>
            <a:srgbClr val="00C896"/>
          </a:solidFill>
          <a:ln w="12700">
            <a:solidFill>
              <a:srgbClr val="D5DCF0"/>
            </a:solidFill>
            <a:prstDash val="solid"/>
          </a:ln>
        </p:spPr>
        <p:txBody>
          <a:bodyPr/>
          <a:lstStyle/>
          <a:p>
            <a:endParaRPr lang="en-IN"/>
          </a:p>
        </p:txBody>
      </p:sp>
      <p:sp>
        <p:nvSpPr>
          <p:cNvPr id="90" name="Text 88"/>
          <p:cNvSpPr/>
          <p:nvPr/>
        </p:nvSpPr>
        <p:spPr>
          <a:xfrm>
            <a:off x="228600" y="4041648"/>
            <a:ext cx="1828800"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Sarthak Nivesh</a:t>
            </a:r>
            <a:endParaRPr lang="en-US" sz="1200" dirty="0"/>
          </a:p>
        </p:txBody>
      </p:sp>
      <p:sp>
        <p:nvSpPr>
          <p:cNvPr id="91" name="Shape 89"/>
          <p:cNvSpPr/>
          <p:nvPr/>
        </p:nvSpPr>
        <p:spPr>
          <a:xfrm>
            <a:off x="2057400" y="4041648"/>
            <a:ext cx="1005840" cy="475488"/>
          </a:xfrm>
          <a:prstGeom prst="rect">
            <a:avLst/>
          </a:prstGeom>
          <a:solidFill>
            <a:srgbClr val="E8FAF3"/>
          </a:solidFill>
          <a:ln w="12700">
            <a:solidFill>
              <a:srgbClr val="D5DCF0"/>
            </a:solidFill>
            <a:prstDash val="solid"/>
          </a:ln>
        </p:spPr>
        <p:txBody>
          <a:bodyPr/>
          <a:lstStyle/>
          <a:p>
            <a:endParaRPr lang="en-IN"/>
          </a:p>
        </p:txBody>
      </p:sp>
      <p:sp>
        <p:nvSpPr>
          <p:cNvPr id="92" name="Text 90"/>
          <p:cNvSpPr/>
          <p:nvPr/>
        </p:nvSpPr>
        <p:spPr>
          <a:xfrm>
            <a:off x="2057400" y="4041648"/>
            <a:ext cx="1005840" cy="475488"/>
          </a:xfrm>
          <a:prstGeom prst="rect">
            <a:avLst/>
          </a:prstGeom>
          <a:noFill/>
          <a:ln/>
        </p:spPr>
        <p:txBody>
          <a:bodyPr wrap="square" rtlCol="0" anchor="ctr"/>
          <a:lstStyle/>
          <a:p>
            <a:pPr marL="0" indent="0" algn="ctr">
              <a:buNone/>
            </a:pPr>
            <a:r>
              <a:rPr lang="en-US" sz="1200" b="1" dirty="0">
                <a:solidFill>
                  <a:srgbClr val="006640"/>
                </a:solidFill>
                <a:latin typeface="Calibri" pitchFamily="34" charset="0"/>
                <a:ea typeface="Calibri" pitchFamily="34" charset="-122"/>
                <a:cs typeface="Calibri" pitchFamily="34" charset="-120"/>
              </a:rPr>
              <a:t>✓</a:t>
            </a:r>
            <a:endParaRPr lang="en-US" sz="1200" dirty="0"/>
          </a:p>
        </p:txBody>
      </p:sp>
      <p:sp>
        <p:nvSpPr>
          <p:cNvPr id="93" name="Shape 91"/>
          <p:cNvSpPr/>
          <p:nvPr/>
        </p:nvSpPr>
        <p:spPr>
          <a:xfrm>
            <a:off x="3063240" y="4041648"/>
            <a:ext cx="1005840" cy="475488"/>
          </a:xfrm>
          <a:prstGeom prst="rect">
            <a:avLst/>
          </a:prstGeom>
          <a:solidFill>
            <a:srgbClr val="E8FAF3"/>
          </a:solidFill>
          <a:ln w="12700">
            <a:solidFill>
              <a:srgbClr val="D5DCF0"/>
            </a:solidFill>
            <a:prstDash val="solid"/>
          </a:ln>
        </p:spPr>
        <p:txBody>
          <a:bodyPr/>
          <a:lstStyle/>
          <a:p>
            <a:endParaRPr lang="en-IN"/>
          </a:p>
        </p:txBody>
      </p:sp>
      <p:sp>
        <p:nvSpPr>
          <p:cNvPr id="94" name="Text 92"/>
          <p:cNvSpPr/>
          <p:nvPr/>
        </p:nvSpPr>
        <p:spPr>
          <a:xfrm>
            <a:off x="3063240" y="4041648"/>
            <a:ext cx="1005840" cy="475488"/>
          </a:xfrm>
          <a:prstGeom prst="rect">
            <a:avLst/>
          </a:prstGeom>
          <a:noFill/>
          <a:ln/>
        </p:spPr>
        <p:txBody>
          <a:bodyPr wrap="square" rtlCol="0" anchor="ctr"/>
          <a:lstStyle/>
          <a:p>
            <a:pPr marL="0" indent="0" algn="ctr">
              <a:buNone/>
            </a:pPr>
            <a:r>
              <a:rPr lang="en-US" sz="1200" b="1" dirty="0">
                <a:solidFill>
                  <a:srgbClr val="006640"/>
                </a:solidFill>
                <a:latin typeface="Calibri" pitchFamily="34" charset="0"/>
                <a:ea typeface="Calibri" pitchFamily="34" charset="-122"/>
                <a:cs typeface="Calibri" pitchFamily="34" charset="-120"/>
              </a:rPr>
              <a:t>Advanced</a:t>
            </a:r>
            <a:endParaRPr lang="en-US" sz="1200" dirty="0"/>
          </a:p>
        </p:txBody>
      </p:sp>
      <p:sp>
        <p:nvSpPr>
          <p:cNvPr id="95" name="Shape 93"/>
          <p:cNvSpPr/>
          <p:nvPr/>
        </p:nvSpPr>
        <p:spPr>
          <a:xfrm>
            <a:off x="4069080" y="4041648"/>
            <a:ext cx="1097280" cy="475488"/>
          </a:xfrm>
          <a:prstGeom prst="rect">
            <a:avLst/>
          </a:prstGeom>
          <a:solidFill>
            <a:srgbClr val="E8FAF3"/>
          </a:solidFill>
          <a:ln w="12700">
            <a:solidFill>
              <a:srgbClr val="D5DCF0"/>
            </a:solidFill>
            <a:prstDash val="solid"/>
          </a:ln>
        </p:spPr>
        <p:txBody>
          <a:bodyPr/>
          <a:lstStyle/>
          <a:p>
            <a:endParaRPr lang="en-IN"/>
          </a:p>
        </p:txBody>
      </p:sp>
      <p:sp>
        <p:nvSpPr>
          <p:cNvPr id="96" name="Text 94"/>
          <p:cNvSpPr/>
          <p:nvPr/>
        </p:nvSpPr>
        <p:spPr>
          <a:xfrm>
            <a:off x="4069080" y="4041648"/>
            <a:ext cx="1097280" cy="475488"/>
          </a:xfrm>
          <a:prstGeom prst="rect">
            <a:avLst/>
          </a:prstGeom>
          <a:noFill/>
          <a:ln/>
        </p:spPr>
        <p:txBody>
          <a:bodyPr wrap="square" rtlCol="0" anchor="ctr"/>
          <a:lstStyle/>
          <a:p>
            <a:pPr marL="0" indent="0" algn="ctr">
              <a:buNone/>
            </a:pPr>
            <a:r>
              <a:rPr lang="en-US" sz="1200" b="1" dirty="0">
                <a:solidFill>
                  <a:srgbClr val="006640"/>
                </a:solidFill>
                <a:latin typeface="Calibri" pitchFamily="34" charset="0"/>
                <a:ea typeface="Calibri" pitchFamily="34" charset="-122"/>
                <a:cs typeface="Calibri" pitchFamily="34" charset="-120"/>
              </a:rPr>
              <a:t>✓</a:t>
            </a:r>
            <a:endParaRPr lang="en-US" sz="1200" dirty="0"/>
          </a:p>
        </p:txBody>
      </p:sp>
      <p:sp>
        <p:nvSpPr>
          <p:cNvPr id="97" name="Shape 95"/>
          <p:cNvSpPr/>
          <p:nvPr/>
        </p:nvSpPr>
        <p:spPr>
          <a:xfrm>
            <a:off x="5166360" y="4041648"/>
            <a:ext cx="1234440" cy="475488"/>
          </a:xfrm>
          <a:prstGeom prst="rect">
            <a:avLst/>
          </a:prstGeom>
          <a:solidFill>
            <a:srgbClr val="E8FAF3"/>
          </a:solidFill>
          <a:ln w="12700">
            <a:solidFill>
              <a:srgbClr val="D5DCF0"/>
            </a:solidFill>
            <a:prstDash val="solid"/>
          </a:ln>
        </p:spPr>
        <p:txBody>
          <a:bodyPr/>
          <a:lstStyle/>
          <a:p>
            <a:endParaRPr lang="en-IN"/>
          </a:p>
        </p:txBody>
      </p:sp>
      <p:sp>
        <p:nvSpPr>
          <p:cNvPr id="98" name="Text 96"/>
          <p:cNvSpPr/>
          <p:nvPr/>
        </p:nvSpPr>
        <p:spPr>
          <a:xfrm>
            <a:off x="5166360" y="4041648"/>
            <a:ext cx="1234440" cy="475488"/>
          </a:xfrm>
          <a:prstGeom prst="rect">
            <a:avLst/>
          </a:prstGeom>
          <a:noFill/>
          <a:ln/>
        </p:spPr>
        <p:txBody>
          <a:bodyPr wrap="square" rtlCol="0" anchor="ctr"/>
          <a:lstStyle/>
          <a:p>
            <a:pPr marL="0" indent="0" algn="ctr">
              <a:buNone/>
            </a:pPr>
            <a:r>
              <a:rPr lang="en-US" sz="1200" b="1" dirty="0">
                <a:solidFill>
                  <a:srgbClr val="006640"/>
                </a:solidFill>
                <a:latin typeface="Calibri" pitchFamily="34" charset="0"/>
                <a:ea typeface="Calibri" pitchFamily="34" charset="-122"/>
                <a:cs typeface="Calibri" pitchFamily="34" charset="-120"/>
              </a:rPr>
              <a:t>✓</a:t>
            </a:r>
            <a:endParaRPr lang="en-US" sz="1200" dirty="0"/>
          </a:p>
        </p:txBody>
      </p:sp>
      <p:sp>
        <p:nvSpPr>
          <p:cNvPr id="99" name="Shape 97"/>
          <p:cNvSpPr/>
          <p:nvPr/>
        </p:nvSpPr>
        <p:spPr>
          <a:xfrm>
            <a:off x="6400800" y="4041648"/>
            <a:ext cx="822960" cy="475488"/>
          </a:xfrm>
          <a:prstGeom prst="rect">
            <a:avLst/>
          </a:prstGeom>
          <a:solidFill>
            <a:srgbClr val="E8FAF3"/>
          </a:solidFill>
          <a:ln w="12700">
            <a:solidFill>
              <a:srgbClr val="D5DCF0"/>
            </a:solidFill>
            <a:prstDash val="solid"/>
          </a:ln>
        </p:spPr>
        <p:txBody>
          <a:bodyPr/>
          <a:lstStyle/>
          <a:p>
            <a:endParaRPr lang="en-IN"/>
          </a:p>
        </p:txBody>
      </p:sp>
      <p:sp>
        <p:nvSpPr>
          <p:cNvPr id="100" name="Text 98"/>
          <p:cNvSpPr/>
          <p:nvPr/>
        </p:nvSpPr>
        <p:spPr>
          <a:xfrm>
            <a:off x="6400800" y="4041648"/>
            <a:ext cx="822960" cy="475488"/>
          </a:xfrm>
          <a:prstGeom prst="rect">
            <a:avLst/>
          </a:prstGeom>
          <a:noFill/>
          <a:ln/>
        </p:spPr>
        <p:txBody>
          <a:bodyPr wrap="square" rtlCol="0" anchor="ctr"/>
          <a:lstStyle/>
          <a:p>
            <a:pPr marL="0" indent="0" algn="ctr">
              <a:buNone/>
            </a:pPr>
            <a:r>
              <a:rPr lang="en-US" sz="1200" b="1" dirty="0">
                <a:solidFill>
                  <a:srgbClr val="006640"/>
                </a:solidFill>
                <a:latin typeface="Calibri" pitchFamily="34" charset="0"/>
                <a:ea typeface="Calibri" pitchFamily="34" charset="-122"/>
                <a:cs typeface="Calibri" pitchFamily="34" charset="-120"/>
              </a:rPr>
              <a:t>✓</a:t>
            </a:r>
            <a:endParaRPr lang="en-US" sz="1200" dirty="0"/>
          </a:p>
        </p:txBody>
      </p:sp>
      <p:sp>
        <p:nvSpPr>
          <p:cNvPr id="101" name="Shape 99"/>
          <p:cNvSpPr/>
          <p:nvPr/>
        </p:nvSpPr>
        <p:spPr>
          <a:xfrm>
            <a:off x="7223760" y="4041648"/>
            <a:ext cx="914400" cy="475488"/>
          </a:xfrm>
          <a:prstGeom prst="rect">
            <a:avLst/>
          </a:prstGeom>
          <a:solidFill>
            <a:srgbClr val="E8FAF3"/>
          </a:solidFill>
          <a:ln w="12700">
            <a:solidFill>
              <a:srgbClr val="D5DCF0"/>
            </a:solidFill>
            <a:prstDash val="solid"/>
          </a:ln>
        </p:spPr>
        <p:txBody>
          <a:bodyPr/>
          <a:lstStyle/>
          <a:p>
            <a:endParaRPr lang="en-IN"/>
          </a:p>
        </p:txBody>
      </p:sp>
      <p:sp>
        <p:nvSpPr>
          <p:cNvPr id="102" name="Text 100"/>
          <p:cNvSpPr/>
          <p:nvPr/>
        </p:nvSpPr>
        <p:spPr>
          <a:xfrm>
            <a:off x="7223760" y="4041648"/>
            <a:ext cx="914400" cy="475488"/>
          </a:xfrm>
          <a:prstGeom prst="rect">
            <a:avLst/>
          </a:prstGeom>
          <a:noFill/>
          <a:ln/>
        </p:spPr>
        <p:txBody>
          <a:bodyPr wrap="square" rtlCol="0" anchor="ctr"/>
          <a:lstStyle/>
          <a:p>
            <a:pPr marL="0" indent="0" algn="ctr">
              <a:buNone/>
            </a:pPr>
            <a:r>
              <a:rPr lang="en-US" sz="1200" b="1" dirty="0">
                <a:solidFill>
                  <a:srgbClr val="006640"/>
                </a:solidFill>
                <a:latin typeface="Calibri" pitchFamily="34" charset="0"/>
                <a:ea typeface="Calibri" pitchFamily="34" charset="-122"/>
                <a:cs typeface="Calibri" pitchFamily="34" charset="-120"/>
              </a:rPr>
              <a:t>FREE ✦</a:t>
            </a:r>
            <a:endParaRPr lang="en-US" sz="1200" dirty="0"/>
          </a:p>
        </p:txBody>
      </p:sp>
      <p:sp>
        <p:nvSpPr>
          <p:cNvPr id="103" name="Shape 101"/>
          <p:cNvSpPr/>
          <p:nvPr/>
        </p:nvSpPr>
        <p:spPr>
          <a:xfrm>
            <a:off x="228600" y="4526280"/>
            <a:ext cx="8686800" cy="438912"/>
          </a:xfrm>
          <a:prstGeom prst="rect">
            <a:avLst/>
          </a:prstGeom>
          <a:solidFill>
            <a:srgbClr val="F5C542">
              <a:alpha val="15000"/>
            </a:srgbClr>
          </a:solidFill>
          <a:ln w="12700">
            <a:solidFill>
              <a:srgbClr val="F5C542"/>
            </a:solidFill>
            <a:prstDash val="solid"/>
          </a:ln>
        </p:spPr>
        <p:txBody>
          <a:bodyPr/>
          <a:lstStyle/>
          <a:p>
            <a:endParaRPr lang="en-IN"/>
          </a:p>
        </p:txBody>
      </p:sp>
      <p:sp>
        <p:nvSpPr>
          <p:cNvPr id="104" name="Text 102"/>
          <p:cNvSpPr/>
          <p:nvPr/>
        </p:nvSpPr>
        <p:spPr>
          <a:xfrm>
            <a:off x="228600" y="4526280"/>
            <a:ext cx="8686800" cy="438912"/>
          </a:xfrm>
          <a:prstGeom prst="rect">
            <a:avLst/>
          </a:prstGeom>
          <a:noFill/>
          <a:ln/>
        </p:spPr>
        <p:txBody>
          <a:bodyPr wrap="square" rtlCol="0" anchor="ctr"/>
          <a:lstStyle/>
          <a:p>
            <a:pPr marL="0" indent="0" algn="ctr">
              <a:buNone/>
            </a:pPr>
            <a:r>
              <a:rPr lang="en-US" sz="1100" b="1" dirty="0">
                <a:solidFill>
                  <a:srgbClr val="5A3800"/>
                </a:solidFill>
                <a:latin typeface="Trebuchet MS" pitchFamily="34" charset="0"/>
                <a:ea typeface="Trebuchet MS" pitchFamily="34" charset="-122"/>
                <a:cs typeface="Trebuchet MS" pitchFamily="34" charset="-120"/>
              </a:rPr>
              <a:t>✦  Only platform to combine ALL features — Stocks · IPO · Mutual Funds · Smart Money · AI — completely FREE for Indian retail investors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1022"/>
          </a:solidFill>
          <a:ln/>
        </p:spPr>
        <p:txBody>
          <a:bodyPr/>
          <a:lstStyle/>
          <a:p>
            <a:endParaRPr lang="en-IN"/>
          </a:p>
        </p:txBody>
      </p:sp>
      <p:sp>
        <p:nvSpPr>
          <p:cNvPr id="3" name="Shape 1"/>
          <p:cNvSpPr/>
          <p:nvPr/>
        </p:nvSpPr>
        <p:spPr>
          <a:xfrm>
            <a:off x="0" y="1005840"/>
            <a:ext cx="9144000" cy="54864"/>
          </a:xfrm>
          <a:prstGeom prst="rect">
            <a:avLst/>
          </a:prstGeom>
          <a:solidFill>
            <a:srgbClr val="00C896"/>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FEATURES &amp; FUNCTIONALITY</a:t>
            </a:r>
            <a:endParaRPr lang="en-US" sz="2800" dirty="0"/>
          </a:p>
        </p:txBody>
      </p:sp>
      <p:sp>
        <p:nvSpPr>
          <p:cNvPr id="5" name="Shape 3"/>
          <p:cNvSpPr/>
          <p:nvPr/>
        </p:nvSpPr>
        <p:spPr>
          <a:xfrm>
            <a:off x="256032" y="1207008"/>
            <a:ext cx="2743200" cy="109728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56032" y="1207008"/>
            <a:ext cx="256032" cy="1097280"/>
          </a:xfrm>
          <a:prstGeom prst="rect">
            <a:avLst/>
          </a:prstGeom>
          <a:solidFill>
            <a:srgbClr val="00C896"/>
          </a:solidFill>
          <a:ln/>
        </p:spPr>
        <p:txBody>
          <a:bodyPr/>
          <a:lstStyle/>
          <a:p>
            <a:endParaRPr lang="en-IN"/>
          </a:p>
        </p:txBody>
      </p:sp>
      <p:sp>
        <p:nvSpPr>
          <p:cNvPr id="7" name="Text 5"/>
          <p:cNvSpPr/>
          <p:nvPr/>
        </p:nvSpPr>
        <p:spPr>
          <a:xfrm>
            <a:off x="256032" y="120700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1</a:t>
            </a:r>
            <a:endParaRPr lang="en-US" sz="1100" dirty="0"/>
          </a:p>
        </p:txBody>
      </p:sp>
      <p:sp>
        <p:nvSpPr>
          <p:cNvPr id="8" name="Text 6"/>
          <p:cNvSpPr/>
          <p:nvPr/>
        </p:nvSpPr>
        <p:spPr>
          <a:xfrm>
            <a:off x="576072" y="131673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Stock Intelligence Hub</a:t>
            </a:r>
            <a:endParaRPr lang="en-US" sz="1200" dirty="0"/>
          </a:p>
        </p:txBody>
      </p:sp>
      <p:sp>
        <p:nvSpPr>
          <p:cNvPr id="9" name="Text 7"/>
          <p:cNvSpPr/>
          <p:nvPr/>
        </p:nvSpPr>
        <p:spPr>
          <a:xfrm>
            <a:off x="576072" y="170992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120+ stocks · 50+ indicators · BUY/SELL/HOLD</a:t>
            </a:r>
            <a:endParaRPr lang="en-US" sz="1000" dirty="0"/>
          </a:p>
        </p:txBody>
      </p:sp>
      <p:sp>
        <p:nvSpPr>
          <p:cNvPr id="10" name="Shape 8"/>
          <p:cNvSpPr/>
          <p:nvPr/>
        </p:nvSpPr>
        <p:spPr>
          <a:xfrm>
            <a:off x="3182112" y="1207008"/>
            <a:ext cx="2743200" cy="1097280"/>
          </a:xfrm>
          <a:prstGeom prst="rect">
            <a:avLst/>
          </a:prstGeom>
          <a:solidFill>
            <a:srgbClr val="132140"/>
          </a:solidFill>
          <a:ln w="12700">
            <a:solidFill>
              <a:srgbClr val="1D72E8"/>
            </a:solidFill>
            <a:prstDash val="solid"/>
          </a:ln>
          <a:effectLst>
            <a:outerShdw blurRad="101600" dist="38100" dir="8100000" algn="bl" rotWithShape="0">
              <a:srgbClr val="000000">
                <a:alpha val="18000"/>
              </a:srgbClr>
            </a:outerShdw>
          </a:effectLst>
        </p:spPr>
        <p:txBody>
          <a:bodyPr/>
          <a:lstStyle/>
          <a:p>
            <a:endParaRPr lang="en-IN"/>
          </a:p>
        </p:txBody>
      </p:sp>
      <p:sp>
        <p:nvSpPr>
          <p:cNvPr id="11" name="Shape 9"/>
          <p:cNvSpPr/>
          <p:nvPr/>
        </p:nvSpPr>
        <p:spPr>
          <a:xfrm>
            <a:off x="3182112" y="1207008"/>
            <a:ext cx="256032" cy="1097280"/>
          </a:xfrm>
          <a:prstGeom prst="rect">
            <a:avLst/>
          </a:prstGeom>
          <a:solidFill>
            <a:srgbClr val="1D72E8"/>
          </a:solidFill>
          <a:ln/>
        </p:spPr>
        <p:txBody>
          <a:bodyPr/>
          <a:lstStyle/>
          <a:p>
            <a:endParaRPr lang="en-IN"/>
          </a:p>
        </p:txBody>
      </p:sp>
      <p:sp>
        <p:nvSpPr>
          <p:cNvPr id="12" name="Text 10"/>
          <p:cNvSpPr/>
          <p:nvPr/>
        </p:nvSpPr>
        <p:spPr>
          <a:xfrm>
            <a:off x="3182112" y="120700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2</a:t>
            </a:r>
            <a:endParaRPr lang="en-US" sz="1100" dirty="0"/>
          </a:p>
        </p:txBody>
      </p:sp>
      <p:sp>
        <p:nvSpPr>
          <p:cNvPr id="13" name="Text 11"/>
          <p:cNvSpPr/>
          <p:nvPr/>
        </p:nvSpPr>
        <p:spPr>
          <a:xfrm>
            <a:off x="3502152" y="131673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Smart Money Tracker</a:t>
            </a:r>
            <a:endParaRPr lang="en-US" sz="1200" dirty="0"/>
          </a:p>
        </p:txBody>
      </p:sp>
      <p:sp>
        <p:nvSpPr>
          <p:cNvPr id="14" name="Text 12"/>
          <p:cNvSpPr/>
          <p:nvPr/>
        </p:nvSpPr>
        <p:spPr>
          <a:xfrm>
            <a:off x="3502152" y="170992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FII/DII flow · Bulk/Block deals · Sector trend</a:t>
            </a:r>
            <a:endParaRPr lang="en-US" sz="1000" dirty="0"/>
          </a:p>
        </p:txBody>
      </p:sp>
      <p:sp>
        <p:nvSpPr>
          <p:cNvPr id="15" name="Shape 13"/>
          <p:cNvSpPr/>
          <p:nvPr/>
        </p:nvSpPr>
        <p:spPr>
          <a:xfrm>
            <a:off x="6108192" y="1207008"/>
            <a:ext cx="2743200" cy="1097280"/>
          </a:xfrm>
          <a:prstGeom prst="rect">
            <a:avLst/>
          </a:prstGeom>
          <a:solidFill>
            <a:srgbClr val="132140"/>
          </a:solidFill>
          <a:ln w="12700">
            <a:solidFill>
              <a:srgbClr val="F5C542"/>
            </a:solidFill>
            <a:prstDash val="solid"/>
          </a:ln>
          <a:effectLst>
            <a:outerShdw blurRad="101600" dist="38100" dir="8100000" algn="bl" rotWithShape="0">
              <a:srgbClr val="000000">
                <a:alpha val="18000"/>
              </a:srgbClr>
            </a:outerShdw>
          </a:effectLst>
        </p:spPr>
        <p:txBody>
          <a:bodyPr/>
          <a:lstStyle/>
          <a:p>
            <a:endParaRPr lang="en-IN"/>
          </a:p>
        </p:txBody>
      </p:sp>
      <p:sp>
        <p:nvSpPr>
          <p:cNvPr id="16" name="Shape 14"/>
          <p:cNvSpPr/>
          <p:nvPr/>
        </p:nvSpPr>
        <p:spPr>
          <a:xfrm>
            <a:off x="6108192" y="1207008"/>
            <a:ext cx="256032" cy="1097280"/>
          </a:xfrm>
          <a:prstGeom prst="rect">
            <a:avLst/>
          </a:prstGeom>
          <a:solidFill>
            <a:srgbClr val="F5C542"/>
          </a:solidFill>
          <a:ln/>
        </p:spPr>
        <p:txBody>
          <a:bodyPr/>
          <a:lstStyle/>
          <a:p>
            <a:endParaRPr lang="en-IN"/>
          </a:p>
        </p:txBody>
      </p:sp>
      <p:sp>
        <p:nvSpPr>
          <p:cNvPr id="17" name="Text 15"/>
          <p:cNvSpPr/>
          <p:nvPr/>
        </p:nvSpPr>
        <p:spPr>
          <a:xfrm>
            <a:off x="6108192" y="120700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3</a:t>
            </a:r>
            <a:endParaRPr lang="en-US" sz="1100" dirty="0"/>
          </a:p>
        </p:txBody>
      </p:sp>
      <p:sp>
        <p:nvSpPr>
          <p:cNvPr id="18" name="Text 16"/>
          <p:cNvSpPr/>
          <p:nvPr/>
        </p:nvSpPr>
        <p:spPr>
          <a:xfrm>
            <a:off x="6428232" y="131673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IPO Intelligence Hub</a:t>
            </a:r>
            <a:endParaRPr lang="en-US" sz="1200" dirty="0"/>
          </a:p>
        </p:txBody>
      </p:sp>
      <p:sp>
        <p:nvSpPr>
          <p:cNvPr id="19" name="Text 17"/>
          <p:cNvSpPr/>
          <p:nvPr/>
        </p:nvSpPr>
        <p:spPr>
          <a:xfrm>
            <a:off x="6428232" y="170992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Live GMP · Subscription · Apply/Avoid signal</a:t>
            </a:r>
            <a:endParaRPr lang="en-US" sz="1000" dirty="0"/>
          </a:p>
        </p:txBody>
      </p:sp>
      <p:sp>
        <p:nvSpPr>
          <p:cNvPr id="20" name="Shape 18"/>
          <p:cNvSpPr/>
          <p:nvPr/>
        </p:nvSpPr>
        <p:spPr>
          <a:xfrm>
            <a:off x="256032" y="2487168"/>
            <a:ext cx="2743200" cy="1097280"/>
          </a:xfrm>
          <a:prstGeom prst="rect">
            <a:avLst/>
          </a:prstGeom>
          <a:solidFill>
            <a:srgbClr val="132140"/>
          </a:solidFill>
          <a:ln w="12700">
            <a:solidFill>
              <a:srgbClr val="E040FB"/>
            </a:solidFill>
            <a:prstDash val="solid"/>
          </a:ln>
          <a:effectLst>
            <a:outerShdw blurRad="101600" dist="38100" dir="8100000" algn="bl" rotWithShape="0">
              <a:srgbClr val="000000">
                <a:alpha val="18000"/>
              </a:srgbClr>
            </a:outerShdw>
          </a:effectLst>
        </p:spPr>
        <p:txBody>
          <a:bodyPr/>
          <a:lstStyle/>
          <a:p>
            <a:endParaRPr lang="en-IN"/>
          </a:p>
        </p:txBody>
      </p:sp>
      <p:sp>
        <p:nvSpPr>
          <p:cNvPr id="21" name="Shape 19"/>
          <p:cNvSpPr/>
          <p:nvPr/>
        </p:nvSpPr>
        <p:spPr>
          <a:xfrm>
            <a:off x="256032" y="2487168"/>
            <a:ext cx="256032" cy="1097280"/>
          </a:xfrm>
          <a:prstGeom prst="rect">
            <a:avLst/>
          </a:prstGeom>
          <a:solidFill>
            <a:srgbClr val="E040FB"/>
          </a:solidFill>
          <a:ln/>
        </p:spPr>
        <p:txBody>
          <a:bodyPr/>
          <a:lstStyle/>
          <a:p>
            <a:endParaRPr lang="en-IN"/>
          </a:p>
        </p:txBody>
      </p:sp>
      <p:sp>
        <p:nvSpPr>
          <p:cNvPr id="22" name="Text 20"/>
          <p:cNvSpPr/>
          <p:nvPr/>
        </p:nvSpPr>
        <p:spPr>
          <a:xfrm>
            <a:off x="256032" y="248716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4</a:t>
            </a:r>
            <a:endParaRPr lang="en-US" sz="1100" dirty="0"/>
          </a:p>
        </p:txBody>
      </p:sp>
      <p:sp>
        <p:nvSpPr>
          <p:cNvPr id="23" name="Text 21"/>
          <p:cNvSpPr/>
          <p:nvPr/>
        </p:nvSpPr>
        <p:spPr>
          <a:xfrm>
            <a:off x="576072" y="259689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Mutual Fund Center</a:t>
            </a:r>
            <a:endParaRPr lang="en-US" sz="1200" dirty="0"/>
          </a:p>
        </p:txBody>
      </p:sp>
      <p:sp>
        <p:nvSpPr>
          <p:cNvPr id="24" name="Text 22"/>
          <p:cNvSpPr/>
          <p:nvPr/>
        </p:nvSpPr>
        <p:spPr>
          <a:xfrm>
            <a:off x="576072" y="299008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50+ funds · SIP calculator · Returns comparison</a:t>
            </a:r>
            <a:endParaRPr lang="en-US" sz="1000" dirty="0"/>
          </a:p>
        </p:txBody>
      </p:sp>
      <p:sp>
        <p:nvSpPr>
          <p:cNvPr id="25" name="Shape 23"/>
          <p:cNvSpPr/>
          <p:nvPr/>
        </p:nvSpPr>
        <p:spPr>
          <a:xfrm>
            <a:off x="3182112" y="2487168"/>
            <a:ext cx="2743200" cy="1097280"/>
          </a:xfrm>
          <a:prstGeom prst="rect">
            <a:avLst/>
          </a:prstGeom>
          <a:solidFill>
            <a:srgbClr val="132140"/>
          </a:solidFill>
          <a:ln w="12700">
            <a:solidFill>
              <a:srgbClr val="FF7043"/>
            </a:solidFill>
            <a:prstDash val="solid"/>
          </a:ln>
          <a:effectLst>
            <a:outerShdw blurRad="101600" dist="38100" dir="8100000" algn="bl" rotWithShape="0">
              <a:srgbClr val="000000">
                <a:alpha val="18000"/>
              </a:srgbClr>
            </a:outerShdw>
          </a:effectLst>
        </p:spPr>
        <p:txBody>
          <a:bodyPr/>
          <a:lstStyle/>
          <a:p>
            <a:endParaRPr lang="en-IN"/>
          </a:p>
        </p:txBody>
      </p:sp>
      <p:sp>
        <p:nvSpPr>
          <p:cNvPr id="26" name="Shape 24"/>
          <p:cNvSpPr/>
          <p:nvPr/>
        </p:nvSpPr>
        <p:spPr>
          <a:xfrm>
            <a:off x="3182112" y="2487168"/>
            <a:ext cx="256032" cy="1097280"/>
          </a:xfrm>
          <a:prstGeom prst="rect">
            <a:avLst/>
          </a:prstGeom>
          <a:solidFill>
            <a:srgbClr val="FF7043"/>
          </a:solidFill>
          <a:ln/>
        </p:spPr>
        <p:txBody>
          <a:bodyPr/>
          <a:lstStyle/>
          <a:p>
            <a:endParaRPr lang="en-IN"/>
          </a:p>
        </p:txBody>
      </p:sp>
      <p:sp>
        <p:nvSpPr>
          <p:cNvPr id="27" name="Text 25"/>
          <p:cNvSpPr/>
          <p:nvPr/>
        </p:nvSpPr>
        <p:spPr>
          <a:xfrm>
            <a:off x="3182112" y="248716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5</a:t>
            </a:r>
            <a:endParaRPr lang="en-US" sz="1100" dirty="0"/>
          </a:p>
        </p:txBody>
      </p:sp>
      <p:sp>
        <p:nvSpPr>
          <p:cNvPr id="28" name="Text 26"/>
          <p:cNvSpPr/>
          <p:nvPr/>
        </p:nvSpPr>
        <p:spPr>
          <a:xfrm>
            <a:off x="3502152" y="259689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Agentic AI Hub</a:t>
            </a:r>
            <a:endParaRPr lang="en-US" sz="1200" dirty="0"/>
          </a:p>
        </p:txBody>
      </p:sp>
      <p:sp>
        <p:nvSpPr>
          <p:cNvPr id="29" name="Text 27"/>
          <p:cNvSpPr/>
          <p:nvPr/>
        </p:nvSpPr>
        <p:spPr>
          <a:xfrm>
            <a:off x="3502152" y="299008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6 AI agents · Groq LLM · 85% confidence score</a:t>
            </a:r>
            <a:endParaRPr lang="en-US" sz="1000" dirty="0"/>
          </a:p>
        </p:txBody>
      </p:sp>
      <p:sp>
        <p:nvSpPr>
          <p:cNvPr id="30" name="Shape 28"/>
          <p:cNvSpPr/>
          <p:nvPr/>
        </p:nvSpPr>
        <p:spPr>
          <a:xfrm>
            <a:off x="6108192" y="2487168"/>
            <a:ext cx="2743200" cy="1097280"/>
          </a:xfrm>
          <a:prstGeom prst="rect">
            <a:avLst/>
          </a:prstGeom>
          <a:solidFill>
            <a:srgbClr val="132140"/>
          </a:solidFill>
          <a:ln w="12700">
            <a:solidFill>
              <a:srgbClr val="29B6F6"/>
            </a:solidFill>
            <a:prstDash val="solid"/>
          </a:ln>
          <a:effectLst>
            <a:outerShdw blurRad="101600" dist="38100" dir="8100000" algn="bl" rotWithShape="0">
              <a:srgbClr val="000000">
                <a:alpha val="18000"/>
              </a:srgbClr>
            </a:outerShdw>
          </a:effectLst>
        </p:spPr>
        <p:txBody>
          <a:bodyPr/>
          <a:lstStyle/>
          <a:p>
            <a:endParaRPr lang="en-IN"/>
          </a:p>
        </p:txBody>
      </p:sp>
      <p:sp>
        <p:nvSpPr>
          <p:cNvPr id="31" name="Shape 29"/>
          <p:cNvSpPr/>
          <p:nvPr/>
        </p:nvSpPr>
        <p:spPr>
          <a:xfrm>
            <a:off x="6108192" y="2487168"/>
            <a:ext cx="256032" cy="1097280"/>
          </a:xfrm>
          <a:prstGeom prst="rect">
            <a:avLst/>
          </a:prstGeom>
          <a:solidFill>
            <a:srgbClr val="29B6F6"/>
          </a:solidFill>
          <a:ln/>
        </p:spPr>
        <p:txBody>
          <a:bodyPr/>
          <a:lstStyle/>
          <a:p>
            <a:endParaRPr lang="en-IN"/>
          </a:p>
        </p:txBody>
      </p:sp>
      <p:sp>
        <p:nvSpPr>
          <p:cNvPr id="32" name="Text 30"/>
          <p:cNvSpPr/>
          <p:nvPr/>
        </p:nvSpPr>
        <p:spPr>
          <a:xfrm>
            <a:off x="6108192" y="248716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6</a:t>
            </a:r>
            <a:endParaRPr lang="en-US" sz="1100" dirty="0"/>
          </a:p>
        </p:txBody>
      </p:sp>
      <p:sp>
        <p:nvSpPr>
          <p:cNvPr id="33" name="Text 31"/>
          <p:cNvSpPr/>
          <p:nvPr/>
        </p:nvSpPr>
        <p:spPr>
          <a:xfrm>
            <a:off x="6428232" y="259689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Portfolio Management</a:t>
            </a:r>
            <a:endParaRPr lang="en-US" sz="1200" dirty="0"/>
          </a:p>
        </p:txBody>
      </p:sp>
      <p:sp>
        <p:nvSpPr>
          <p:cNvPr id="34" name="Text 32"/>
          <p:cNvSpPr/>
          <p:nvPr/>
        </p:nvSpPr>
        <p:spPr>
          <a:xfrm>
            <a:off x="6428232" y="299008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Live P&amp;L · Risk score · Rebalancing tips</a:t>
            </a:r>
            <a:endParaRPr lang="en-US" sz="1000" dirty="0"/>
          </a:p>
        </p:txBody>
      </p:sp>
      <p:sp>
        <p:nvSpPr>
          <p:cNvPr id="35" name="Shape 33"/>
          <p:cNvSpPr/>
          <p:nvPr/>
        </p:nvSpPr>
        <p:spPr>
          <a:xfrm>
            <a:off x="256032" y="3767328"/>
            <a:ext cx="2743200" cy="1097280"/>
          </a:xfrm>
          <a:prstGeom prst="rect">
            <a:avLst/>
          </a:prstGeom>
          <a:solidFill>
            <a:srgbClr val="132140"/>
          </a:solidFill>
          <a:ln w="12700">
            <a:solidFill>
              <a:srgbClr val="66BB6A"/>
            </a:solidFill>
            <a:prstDash val="solid"/>
          </a:ln>
          <a:effectLst>
            <a:outerShdw blurRad="101600" dist="38100" dir="8100000" algn="bl" rotWithShape="0">
              <a:srgbClr val="000000">
                <a:alpha val="18000"/>
              </a:srgbClr>
            </a:outerShdw>
          </a:effectLst>
        </p:spPr>
        <p:txBody>
          <a:bodyPr/>
          <a:lstStyle/>
          <a:p>
            <a:endParaRPr lang="en-IN"/>
          </a:p>
        </p:txBody>
      </p:sp>
      <p:sp>
        <p:nvSpPr>
          <p:cNvPr id="36" name="Shape 34"/>
          <p:cNvSpPr/>
          <p:nvPr/>
        </p:nvSpPr>
        <p:spPr>
          <a:xfrm>
            <a:off x="256032" y="3767328"/>
            <a:ext cx="256032" cy="1097280"/>
          </a:xfrm>
          <a:prstGeom prst="rect">
            <a:avLst/>
          </a:prstGeom>
          <a:solidFill>
            <a:srgbClr val="66BB6A"/>
          </a:solidFill>
          <a:ln/>
        </p:spPr>
        <p:txBody>
          <a:bodyPr/>
          <a:lstStyle/>
          <a:p>
            <a:endParaRPr lang="en-IN"/>
          </a:p>
        </p:txBody>
      </p:sp>
      <p:sp>
        <p:nvSpPr>
          <p:cNvPr id="37" name="Text 35"/>
          <p:cNvSpPr/>
          <p:nvPr/>
        </p:nvSpPr>
        <p:spPr>
          <a:xfrm>
            <a:off x="256032" y="376732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7</a:t>
            </a:r>
            <a:endParaRPr lang="en-US" sz="1100" dirty="0"/>
          </a:p>
        </p:txBody>
      </p:sp>
      <p:sp>
        <p:nvSpPr>
          <p:cNvPr id="38" name="Text 36"/>
          <p:cNvSpPr/>
          <p:nvPr/>
        </p:nvSpPr>
        <p:spPr>
          <a:xfrm>
            <a:off x="576072" y="387705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News &amp; Sentiment</a:t>
            </a:r>
            <a:endParaRPr lang="en-US" sz="1200" dirty="0"/>
          </a:p>
        </p:txBody>
      </p:sp>
      <p:sp>
        <p:nvSpPr>
          <p:cNvPr id="39" name="Text 37"/>
          <p:cNvSpPr/>
          <p:nvPr/>
        </p:nvSpPr>
        <p:spPr>
          <a:xfrm>
            <a:off x="576072" y="427024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Google News RSS · TextBlob · Positive/Negative</a:t>
            </a:r>
            <a:endParaRPr lang="en-US" sz="1000" dirty="0"/>
          </a:p>
        </p:txBody>
      </p:sp>
      <p:sp>
        <p:nvSpPr>
          <p:cNvPr id="40" name="Shape 38"/>
          <p:cNvSpPr/>
          <p:nvPr/>
        </p:nvSpPr>
        <p:spPr>
          <a:xfrm>
            <a:off x="3182112" y="3767328"/>
            <a:ext cx="2743200" cy="1097280"/>
          </a:xfrm>
          <a:prstGeom prst="rect">
            <a:avLst/>
          </a:prstGeom>
          <a:solidFill>
            <a:srgbClr val="132140"/>
          </a:solidFill>
          <a:ln w="12700">
            <a:solidFill>
              <a:srgbClr val="AB47BC"/>
            </a:solidFill>
            <a:prstDash val="solid"/>
          </a:ln>
          <a:effectLst>
            <a:outerShdw blurRad="101600" dist="38100" dir="8100000" algn="bl" rotWithShape="0">
              <a:srgbClr val="000000">
                <a:alpha val="18000"/>
              </a:srgbClr>
            </a:outerShdw>
          </a:effectLst>
        </p:spPr>
        <p:txBody>
          <a:bodyPr/>
          <a:lstStyle/>
          <a:p>
            <a:endParaRPr lang="en-IN"/>
          </a:p>
        </p:txBody>
      </p:sp>
      <p:sp>
        <p:nvSpPr>
          <p:cNvPr id="41" name="Shape 39"/>
          <p:cNvSpPr/>
          <p:nvPr/>
        </p:nvSpPr>
        <p:spPr>
          <a:xfrm>
            <a:off x="3182112" y="3767328"/>
            <a:ext cx="256032" cy="1097280"/>
          </a:xfrm>
          <a:prstGeom prst="rect">
            <a:avLst/>
          </a:prstGeom>
          <a:solidFill>
            <a:srgbClr val="AB47BC"/>
          </a:solidFill>
          <a:ln/>
        </p:spPr>
        <p:txBody>
          <a:bodyPr/>
          <a:lstStyle/>
          <a:p>
            <a:endParaRPr lang="en-IN"/>
          </a:p>
        </p:txBody>
      </p:sp>
      <p:sp>
        <p:nvSpPr>
          <p:cNvPr id="42" name="Text 40"/>
          <p:cNvSpPr/>
          <p:nvPr/>
        </p:nvSpPr>
        <p:spPr>
          <a:xfrm>
            <a:off x="3182112" y="376732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8</a:t>
            </a:r>
            <a:endParaRPr lang="en-US" sz="1100" dirty="0"/>
          </a:p>
        </p:txBody>
      </p:sp>
      <p:sp>
        <p:nvSpPr>
          <p:cNvPr id="43" name="Text 41"/>
          <p:cNvSpPr/>
          <p:nvPr/>
        </p:nvSpPr>
        <p:spPr>
          <a:xfrm>
            <a:off x="3502152" y="387705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Market Intelligence</a:t>
            </a:r>
            <a:endParaRPr lang="en-US" sz="1200" dirty="0"/>
          </a:p>
        </p:txBody>
      </p:sp>
      <p:sp>
        <p:nvSpPr>
          <p:cNvPr id="44" name="Text 42"/>
          <p:cNvSpPr/>
          <p:nvPr/>
        </p:nvSpPr>
        <p:spPr>
          <a:xfrm>
            <a:off x="3502152" y="427024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NIFTY · SENSEX · Global markets overview</a:t>
            </a:r>
            <a:endParaRPr lang="en-US" sz="1000" dirty="0"/>
          </a:p>
        </p:txBody>
      </p:sp>
      <p:sp>
        <p:nvSpPr>
          <p:cNvPr id="45" name="Shape 43"/>
          <p:cNvSpPr/>
          <p:nvPr/>
        </p:nvSpPr>
        <p:spPr>
          <a:xfrm>
            <a:off x="6108192" y="3767328"/>
            <a:ext cx="2743200" cy="1097280"/>
          </a:xfrm>
          <a:prstGeom prst="rect">
            <a:avLst/>
          </a:prstGeom>
          <a:solidFill>
            <a:srgbClr val="132140"/>
          </a:solidFill>
          <a:ln w="12700">
            <a:solidFill>
              <a:srgbClr val="F06292"/>
            </a:solidFill>
            <a:prstDash val="solid"/>
          </a:ln>
          <a:effectLst>
            <a:outerShdw blurRad="101600" dist="38100" dir="8100000" algn="bl" rotWithShape="0">
              <a:srgbClr val="000000">
                <a:alpha val="18000"/>
              </a:srgbClr>
            </a:outerShdw>
          </a:effectLst>
        </p:spPr>
        <p:txBody>
          <a:bodyPr/>
          <a:lstStyle/>
          <a:p>
            <a:endParaRPr lang="en-IN"/>
          </a:p>
        </p:txBody>
      </p:sp>
      <p:sp>
        <p:nvSpPr>
          <p:cNvPr id="46" name="Shape 44"/>
          <p:cNvSpPr/>
          <p:nvPr/>
        </p:nvSpPr>
        <p:spPr>
          <a:xfrm>
            <a:off x="6108192" y="3767328"/>
            <a:ext cx="256032" cy="1097280"/>
          </a:xfrm>
          <a:prstGeom prst="rect">
            <a:avLst/>
          </a:prstGeom>
          <a:solidFill>
            <a:srgbClr val="F06292"/>
          </a:solidFill>
          <a:ln/>
        </p:spPr>
        <p:txBody>
          <a:bodyPr/>
          <a:lstStyle/>
          <a:p>
            <a:endParaRPr lang="en-IN"/>
          </a:p>
        </p:txBody>
      </p:sp>
      <p:sp>
        <p:nvSpPr>
          <p:cNvPr id="47" name="Text 45"/>
          <p:cNvSpPr/>
          <p:nvPr/>
        </p:nvSpPr>
        <p:spPr>
          <a:xfrm>
            <a:off x="6108192" y="3767328"/>
            <a:ext cx="256032"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9</a:t>
            </a:r>
            <a:endParaRPr lang="en-US" sz="1100" dirty="0"/>
          </a:p>
        </p:txBody>
      </p:sp>
      <p:sp>
        <p:nvSpPr>
          <p:cNvPr id="48" name="Text 46"/>
          <p:cNvSpPr/>
          <p:nvPr/>
        </p:nvSpPr>
        <p:spPr>
          <a:xfrm>
            <a:off x="6428232" y="3877056"/>
            <a:ext cx="2331720" cy="36576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Advanced Analytics</a:t>
            </a:r>
            <a:endParaRPr lang="en-US" sz="1200" dirty="0"/>
          </a:p>
        </p:txBody>
      </p:sp>
      <p:sp>
        <p:nvSpPr>
          <p:cNvPr id="49" name="Text 47"/>
          <p:cNvSpPr/>
          <p:nvPr/>
        </p:nvSpPr>
        <p:spPr>
          <a:xfrm>
            <a:off x="6428232" y="4270248"/>
            <a:ext cx="2331720" cy="502920"/>
          </a:xfrm>
          <a:prstGeom prst="rect">
            <a:avLst/>
          </a:prstGeom>
          <a:noFill/>
          <a:ln/>
        </p:spPr>
        <p:txBody>
          <a:bodyPr wrap="square" rtlCol="0" anchor="ctr"/>
          <a:lstStyle/>
          <a:p>
            <a:pPr marL="0" indent="0">
              <a:buNone/>
            </a:pPr>
            <a:r>
              <a:rPr lang="en-US" sz="1000" dirty="0">
                <a:solidFill>
                  <a:srgbClr val="8A9BB8"/>
                </a:solidFill>
                <a:latin typeface="Calibri" pitchFamily="34" charset="0"/>
                <a:ea typeface="Calibri" pitchFamily="34" charset="-122"/>
                <a:cs typeface="Calibri" pitchFamily="34" charset="-120"/>
              </a:rPr>
              <a:t>Candlestick · RSI · Bollinger Bands · Plotly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1022"/>
          </a:solidFill>
          <a:ln/>
        </p:spPr>
        <p:txBody>
          <a:bodyPr/>
          <a:lstStyle/>
          <a:p>
            <a:endParaRPr lang="en-IN"/>
          </a:p>
        </p:txBody>
      </p:sp>
      <p:sp>
        <p:nvSpPr>
          <p:cNvPr id="3" name="Shape 1"/>
          <p:cNvSpPr/>
          <p:nvPr/>
        </p:nvSpPr>
        <p:spPr>
          <a:xfrm>
            <a:off x="0" y="1005840"/>
            <a:ext cx="9144000" cy="54864"/>
          </a:xfrm>
          <a:prstGeom prst="rect">
            <a:avLst/>
          </a:prstGeom>
          <a:solidFill>
            <a:srgbClr val="1D72E8"/>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DATA SOURCES</a:t>
            </a:r>
            <a:endParaRPr lang="en-US" sz="3000" dirty="0"/>
          </a:p>
        </p:txBody>
      </p:sp>
      <p:sp>
        <p:nvSpPr>
          <p:cNvPr id="5" name="Shape 3"/>
          <p:cNvSpPr/>
          <p:nvPr/>
        </p:nvSpPr>
        <p:spPr>
          <a:xfrm>
            <a:off x="274320" y="1188720"/>
            <a:ext cx="8595360" cy="502920"/>
          </a:xfrm>
          <a:prstGeom prst="rect">
            <a:avLst/>
          </a:prstGeom>
          <a:solidFill>
            <a:srgbClr val="00C896">
              <a:alpha val="20000"/>
            </a:srgbClr>
          </a:solidFill>
          <a:ln w="12700">
            <a:solidFill>
              <a:srgbClr val="00C896"/>
            </a:solidFill>
            <a:prstDash val="solid"/>
          </a:ln>
        </p:spPr>
        <p:txBody>
          <a:bodyPr/>
          <a:lstStyle/>
          <a:p>
            <a:endParaRPr lang="en-IN"/>
          </a:p>
        </p:txBody>
      </p:sp>
      <p:sp>
        <p:nvSpPr>
          <p:cNvPr id="6" name="Text 4"/>
          <p:cNvSpPr/>
          <p:nvPr/>
        </p:nvSpPr>
        <p:spPr>
          <a:xfrm>
            <a:off x="274320" y="1188720"/>
            <a:ext cx="8595360" cy="502920"/>
          </a:xfrm>
          <a:prstGeom prst="rect">
            <a:avLst/>
          </a:prstGeom>
          <a:noFill/>
          <a:ln/>
        </p:spPr>
        <p:txBody>
          <a:bodyPr wrap="square" rtlCol="0" anchor="ctr"/>
          <a:lstStyle/>
          <a:p>
            <a:pPr marL="0" indent="0" algn="ctr">
              <a:buNone/>
            </a:pPr>
            <a:r>
              <a:rPr lang="en-US" sz="1200" b="1" dirty="0">
                <a:solidFill>
                  <a:srgbClr val="00C896"/>
                </a:solidFill>
                <a:latin typeface="Trebuchet MS" pitchFamily="34" charset="0"/>
                <a:ea typeface="Trebuchet MS" pitchFamily="34" charset="-122"/>
                <a:cs typeface="Trebuchet MS" pitchFamily="34" charset="-120"/>
              </a:rPr>
              <a:t>⚡  ZERO HARDCODED DATA POLICY — Every value is fetched LIVE from official or verified sources</a:t>
            </a:r>
            <a:endParaRPr lang="en-US" sz="1200" dirty="0"/>
          </a:p>
        </p:txBody>
      </p:sp>
      <p:sp>
        <p:nvSpPr>
          <p:cNvPr id="7" name="Shape 5"/>
          <p:cNvSpPr/>
          <p:nvPr/>
        </p:nvSpPr>
        <p:spPr>
          <a:xfrm>
            <a:off x="256032" y="1874520"/>
            <a:ext cx="2743200" cy="132588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8" name="Shape 6"/>
          <p:cNvSpPr/>
          <p:nvPr/>
        </p:nvSpPr>
        <p:spPr>
          <a:xfrm>
            <a:off x="365760" y="2039112"/>
            <a:ext cx="457200" cy="457200"/>
          </a:xfrm>
          <a:prstGeom prst="ellipse">
            <a:avLst/>
          </a:prstGeom>
          <a:solidFill>
            <a:srgbClr val="00C896"/>
          </a:solidFill>
          <a:ln/>
        </p:spPr>
        <p:txBody>
          <a:bodyPr/>
          <a:lstStyle/>
          <a:p>
            <a:endParaRPr lang="en-IN"/>
          </a:p>
        </p:txBody>
      </p:sp>
      <p:sp>
        <p:nvSpPr>
          <p:cNvPr id="9" name="Text 7"/>
          <p:cNvSpPr/>
          <p:nvPr/>
        </p:nvSpPr>
        <p:spPr>
          <a:xfrm>
            <a:off x="896112" y="2002536"/>
            <a:ext cx="2011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Yahoo Finance</a:t>
            </a:r>
            <a:endParaRPr lang="en-US" sz="1300" dirty="0"/>
          </a:p>
        </p:txBody>
      </p:sp>
      <p:sp>
        <p:nvSpPr>
          <p:cNvPr id="10" name="Text 8"/>
          <p:cNvSpPr/>
          <p:nvPr/>
        </p:nvSpPr>
        <p:spPr>
          <a:xfrm>
            <a:off x="393192" y="2532888"/>
            <a:ext cx="2514600" cy="274320"/>
          </a:xfrm>
          <a:prstGeom prst="rect">
            <a:avLst/>
          </a:prstGeom>
          <a:noFill/>
          <a:ln/>
        </p:spPr>
        <p:txBody>
          <a:bodyPr wrap="square" rtlCol="0" anchor="ctr"/>
          <a:lstStyle/>
          <a:p>
            <a:pPr marL="0" indent="0">
              <a:buNone/>
            </a:pPr>
            <a:r>
              <a:rPr lang="en-US" sz="1100" dirty="0">
                <a:solidFill>
                  <a:srgbClr val="AABBD8"/>
                </a:solidFill>
                <a:latin typeface="Calibri" pitchFamily="34" charset="0"/>
                <a:ea typeface="Calibri" pitchFamily="34" charset="-122"/>
                <a:cs typeface="Calibri" pitchFamily="34" charset="-120"/>
              </a:rPr>
              <a:t>Data Type: Stock Prices</a:t>
            </a:r>
            <a:endParaRPr lang="en-US" sz="1100" dirty="0"/>
          </a:p>
        </p:txBody>
      </p:sp>
      <p:sp>
        <p:nvSpPr>
          <p:cNvPr id="11" name="Text 9"/>
          <p:cNvSpPr/>
          <p:nvPr/>
        </p:nvSpPr>
        <p:spPr>
          <a:xfrm>
            <a:off x="393192" y="2807208"/>
            <a:ext cx="2514600" cy="274320"/>
          </a:xfrm>
          <a:prstGeom prst="rect">
            <a:avLst/>
          </a:prstGeom>
          <a:noFill/>
          <a:ln/>
        </p:spPr>
        <p:txBody>
          <a:bodyPr wrap="square" rtlCol="0" anchor="ctr"/>
          <a:lstStyle/>
          <a:p>
            <a:pPr marL="0" indent="0">
              <a:buNone/>
            </a:pPr>
            <a:r>
              <a:rPr lang="en-US" sz="1100" dirty="0">
                <a:solidFill>
                  <a:srgbClr val="00C896"/>
                </a:solidFill>
                <a:latin typeface="Calibri" pitchFamily="34" charset="0"/>
                <a:ea typeface="Calibri" pitchFamily="34" charset="-122"/>
                <a:cs typeface="Calibri" pitchFamily="34" charset="-120"/>
              </a:rPr>
              <a:t>Update: Real-time (15 min)</a:t>
            </a:r>
            <a:endParaRPr lang="en-US" sz="1100" dirty="0"/>
          </a:p>
        </p:txBody>
      </p:sp>
      <p:sp>
        <p:nvSpPr>
          <p:cNvPr id="12" name="Shape 10"/>
          <p:cNvSpPr/>
          <p:nvPr/>
        </p:nvSpPr>
        <p:spPr>
          <a:xfrm>
            <a:off x="3182112" y="1874520"/>
            <a:ext cx="2743200" cy="1325880"/>
          </a:xfrm>
          <a:prstGeom prst="rect">
            <a:avLst/>
          </a:prstGeom>
          <a:solidFill>
            <a:srgbClr val="132140"/>
          </a:solidFill>
          <a:ln w="12700">
            <a:solidFill>
              <a:srgbClr val="1D72E8"/>
            </a:solidFill>
            <a:prstDash val="solid"/>
          </a:ln>
          <a:effectLst>
            <a:outerShdw blurRad="101600" dist="38100" dir="8100000" algn="bl" rotWithShape="0">
              <a:srgbClr val="000000">
                <a:alpha val="18000"/>
              </a:srgbClr>
            </a:outerShdw>
          </a:effectLst>
        </p:spPr>
        <p:txBody>
          <a:bodyPr/>
          <a:lstStyle/>
          <a:p>
            <a:endParaRPr lang="en-IN"/>
          </a:p>
        </p:txBody>
      </p:sp>
      <p:sp>
        <p:nvSpPr>
          <p:cNvPr id="13" name="Shape 11"/>
          <p:cNvSpPr/>
          <p:nvPr/>
        </p:nvSpPr>
        <p:spPr>
          <a:xfrm>
            <a:off x="3291840" y="2039112"/>
            <a:ext cx="457200" cy="457200"/>
          </a:xfrm>
          <a:prstGeom prst="ellipse">
            <a:avLst/>
          </a:prstGeom>
          <a:solidFill>
            <a:srgbClr val="1D72E8"/>
          </a:solidFill>
          <a:ln/>
        </p:spPr>
        <p:txBody>
          <a:bodyPr/>
          <a:lstStyle/>
          <a:p>
            <a:endParaRPr lang="en-IN"/>
          </a:p>
        </p:txBody>
      </p:sp>
      <p:sp>
        <p:nvSpPr>
          <p:cNvPr id="14" name="Text 12"/>
          <p:cNvSpPr/>
          <p:nvPr/>
        </p:nvSpPr>
        <p:spPr>
          <a:xfrm>
            <a:off x="3822192" y="2002536"/>
            <a:ext cx="2011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NSE India API</a:t>
            </a:r>
            <a:endParaRPr lang="en-US" sz="1300" dirty="0"/>
          </a:p>
        </p:txBody>
      </p:sp>
      <p:sp>
        <p:nvSpPr>
          <p:cNvPr id="15" name="Text 13"/>
          <p:cNvSpPr/>
          <p:nvPr/>
        </p:nvSpPr>
        <p:spPr>
          <a:xfrm>
            <a:off x="3319272" y="2532888"/>
            <a:ext cx="2514600" cy="274320"/>
          </a:xfrm>
          <a:prstGeom prst="rect">
            <a:avLst/>
          </a:prstGeom>
          <a:noFill/>
          <a:ln/>
        </p:spPr>
        <p:txBody>
          <a:bodyPr wrap="square" rtlCol="0" anchor="ctr"/>
          <a:lstStyle/>
          <a:p>
            <a:pPr marL="0" indent="0">
              <a:buNone/>
            </a:pPr>
            <a:r>
              <a:rPr lang="en-US" sz="1100" dirty="0">
                <a:solidFill>
                  <a:srgbClr val="AABBD8"/>
                </a:solidFill>
                <a:latin typeface="Calibri" pitchFamily="34" charset="0"/>
                <a:ea typeface="Calibri" pitchFamily="34" charset="-122"/>
                <a:cs typeface="Calibri" pitchFamily="34" charset="-120"/>
              </a:rPr>
              <a:t>Data Type: FII/DII + Deals</a:t>
            </a:r>
            <a:endParaRPr lang="en-US" sz="1100" dirty="0"/>
          </a:p>
        </p:txBody>
      </p:sp>
      <p:sp>
        <p:nvSpPr>
          <p:cNvPr id="16" name="Text 14"/>
          <p:cNvSpPr/>
          <p:nvPr/>
        </p:nvSpPr>
        <p:spPr>
          <a:xfrm>
            <a:off x="3319272" y="2807208"/>
            <a:ext cx="2514600" cy="274320"/>
          </a:xfrm>
          <a:prstGeom prst="rect">
            <a:avLst/>
          </a:prstGeom>
          <a:noFill/>
          <a:ln/>
        </p:spPr>
        <p:txBody>
          <a:bodyPr wrap="square" rtlCol="0" anchor="ctr"/>
          <a:lstStyle/>
          <a:p>
            <a:pPr marL="0" indent="0">
              <a:buNone/>
            </a:pPr>
            <a:r>
              <a:rPr lang="en-US" sz="1100" dirty="0">
                <a:solidFill>
                  <a:srgbClr val="1D72E8"/>
                </a:solidFill>
                <a:latin typeface="Calibri" pitchFamily="34" charset="0"/>
                <a:ea typeface="Calibri" pitchFamily="34" charset="-122"/>
                <a:cs typeface="Calibri" pitchFamily="34" charset="-120"/>
              </a:rPr>
              <a:t>Update: Daily after close</a:t>
            </a:r>
            <a:endParaRPr lang="en-US" sz="1100" dirty="0"/>
          </a:p>
        </p:txBody>
      </p:sp>
      <p:sp>
        <p:nvSpPr>
          <p:cNvPr id="17" name="Shape 15"/>
          <p:cNvSpPr/>
          <p:nvPr/>
        </p:nvSpPr>
        <p:spPr>
          <a:xfrm>
            <a:off x="6108192" y="1874520"/>
            <a:ext cx="2743200" cy="1325880"/>
          </a:xfrm>
          <a:prstGeom prst="rect">
            <a:avLst/>
          </a:prstGeom>
          <a:solidFill>
            <a:srgbClr val="132140"/>
          </a:solidFill>
          <a:ln w="12700">
            <a:solidFill>
              <a:srgbClr val="F5C542"/>
            </a:solidFill>
            <a:prstDash val="solid"/>
          </a:ln>
          <a:effectLst>
            <a:outerShdw blurRad="101600" dist="38100" dir="8100000" algn="bl" rotWithShape="0">
              <a:srgbClr val="000000">
                <a:alpha val="18000"/>
              </a:srgbClr>
            </a:outerShdw>
          </a:effectLst>
        </p:spPr>
        <p:txBody>
          <a:bodyPr/>
          <a:lstStyle/>
          <a:p>
            <a:endParaRPr lang="en-IN"/>
          </a:p>
        </p:txBody>
      </p:sp>
      <p:sp>
        <p:nvSpPr>
          <p:cNvPr id="18" name="Shape 16"/>
          <p:cNvSpPr/>
          <p:nvPr/>
        </p:nvSpPr>
        <p:spPr>
          <a:xfrm>
            <a:off x="6217920" y="2039112"/>
            <a:ext cx="457200" cy="457200"/>
          </a:xfrm>
          <a:prstGeom prst="ellipse">
            <a:avLst/>
          </a:prstGeom>
          <a:solidFill>
            <a:srgbClr val="F5C542"/>
          </a:solidFill>
          <a:ln/>
        </p:spPr>
        <p:txBody>
          <a:bodyPr/>
          <a:lstStyle/>
          <a:p>
            <a:endParaRPr lang="en-IN"/>
          </a:p>
        </p:txBody>
      </p:sp>
      <p:sp>
        <p:nvSpPr>
          <p:cNvPr id="19" name="Text 17"/>
          <p:cNvSpPr/>
          <p:nvPr/>
        </p:nvSpPr>
        <p:spPr>
          <a:xfrm>
            <a:off x="6748272" y="2002536"/>
            <a:ext cx="2011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ipowatch.in</a:t>
            </a:r>
            <a:endParaRPr lang="en-US" sz="1300" dirty="0"/>
          </a:p>
        </p:txBody>
      </p:sp>
      <p:sp>
        <p:nvSpPr>
          <p:cNvPr id="20" name="Text 18"/>
          <p:cNvSpPr/>
          <p:nvPr/>
        </p:nvSpPr>
        <p:spPr>
          <a:xfrm>
            <a:off x="6245352" y="2532888"/>
            <a:ext cx="2514600" cy="274320"/>
          </a:xfrm>
          <a:prstGeom prst="rect">
            <a:avLst/>
          </a:prstGeom>
          <a:noFill/>
          <a:ln/>
        </p:spPr>
        <p:txBody>
          <a:bodyPr wrap="square" rtlCol="0" anchor="ctr"/>
          <a:lstStyle/>
          <a:p>
            <a:pPr marL="0" indent="0">
              <a:buNone/>
            </a:pPr>
            <a:r>
              <a:rPr lang="en-US" sz="1100" dirty="0">
                <a:solidFill>
                  <a:srgbClr val="AABBD8"/>
                </a:solidFill>
                <a:latin typeface="Calibri" pitchFamily="34" charset="0"/>
                <a:ea typeface="Calibri" pitchFamily="34" charset="-122"/>
                <a:cs typeface="Calibri" pitchFamily="34" charset="-120"/>
              </a:rPr>
              <a:t>Data Type: IPO GMP + Subs</a:t>
            </a:r>
            <a:endParaRPr lang="en-US" sz="1100" dirty="0"/>
          </a:p>
        </p:txBody>
      </p:sp>
      <p:sp>
        <p:nvSpPr>
          <p:cNvPr id="21" name="Text 19"/>
          <p:cNvSpPr/>
          <p:nvPr/>
        </p:nvSpPr>
        <p:spPr>
          <a:xfrm>
            <a:off x="6245352" y="2807208"/>
            <a:ext cx="2514600" cy="274320"/>
          </a:xfrm>
          <a:prstGeom prst="rect">
            <a:avLst/>
          </a:prstGeom>
          <a:noFill/>
          <a:ln/>
        </p:spPr>
        <p:txBody>
          <a:bodyPr wrap="square" rtlCol="0" anchor="ctr"/>
          <a:lstStyle/>
          <a:p>
            <a:pPr marL="0" indent="0">
              <a:buNone/>
            </a:pPr>
            <a:r>
              <a:rPr lang="en-US" sz="1100" dirty="0">
                <a:solidFill>
                  <a:srgbClr val="F5C542"/>
                </a:solidFill>
                <a:latin typeface="Calibri" pitchFamily="34" charset="0"/>
                <a:ea typeface="Calibri" pitchFamily="34" charset="-122"/>
                <a:cs typeface="Calibri" pitchFamily="34" charset="-120"/>
              </a:rPr>
              <a:t>Update: Real-time</a:t>
            </a:r>
            <a:endParaRPr lang="en-US" sz="1100" dirty="0"/>
          </a:p>
        </p:txBody>
      </p:sp>
      <p:sp>
        <p:nvSpPr>
          <p:cNvPr id="22" name="Shape 20"/>
          <p:cNvSpPr/>
          <p:nvPr/>
        </p:nvSpPr>
        <p:spPr>
          <a:xfrm>
            <a:off x="256032" y="3383280"/>
            <a:ext cx="2743200" cy="1325880"/>
          </a:xfrm>
          <a:prstGeom prst="rect">
            <a:avLst/>
          </a:prstGeom>
          <a:solidFill>
            <a:srgbClr val="132140"/>
          </a:solidFill>
          <a:ln w="12700">
            <a:solidFill>
              <a:srgbClr val="EA4335"/>
            </a:solidFill>
            <a:prstDash val="solid"/>
          </a:ln>
          <a:effectLst>
            <a:outerShdw blurRad="101600" dist="38100" dir="8100000" algn="bl" rotWithShape="0">
              <a:srgbClr val="000000">
                <a:alpha val="18000"/>
              </a:srgbClr>
            </a:outerShdw>
          </a:effectLst>
        </p:spPr>
        <p:txBody>
          <a:bodyPr/>
          <a:lstStyle/>
          <a:p>
            <a:endParaRPr lang="en-IN"/>
          </a:p>
        </p:txBody>
      </p:sp>
      <p:sp>
        <p:nvSpPr>
          <p:cNvPr id="23" name="Shape 21"/>
          <p:cNvSpPr/>
          <p:nvPr/>
        </p:nvSpPr>
        <p:spPr>
          <a:xfrm>
            <a:off x="365760" y="3547872"/>
            <a:ext cx="457200" cy="457200"/>
          </a:xfrm>
          <a:prstGeom prst="ellipse">
            <a:avLst/>
          </a:prstGeom>
          <a:solidFill>
            <a:srgbClr val="EA4335"/>
          </a:solidFill>
          <a:ln/>
        </p:spPr>
        <p:txBody>
          <a:bodyPr/>
          <a:lstStyle/>
          <a:p>
            <a:endParaRPr lang="en-IN"/>
          </a:p>
        </p:txBody>
      </p:sp>
      <p:sp>
        <p:nvSpPr>
          <p:cNvPr id="24" name="Text 22"/>
          <p:cNvSpPr/>
          <p:nvPr/>
        </p:nvSpPr>
        <p:spPr>
          <a:xfrm>
            <a:off x="896112" y="3511296"/>
            <a:ext cx="2011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Google News RSS</a:t>
            </a:r>
            <a:endParaRPr lang="en-US" sz="1300" dirty="0"/>
          </a:p>
        </p:txBody>
      </p:sp>
      <p:sp>
        <p:nvSpPr>
          <p:cNvPr id="25" name="Text 23"/>
          <p:cNvSpPr/>
          <p:nvPr/>
        </p:nvSpPr>
        <p:spPr>
          <a:xfrm>
            <a:off x="393192" y="4041648"/>
            <a:ext cx="2514600" cy="274320"/>
          </a:xfrm>
          <a:prstGeom prst="rect">
            <a:avLst/>
          </a:prstGeom>
          <a:noFill/>
          <a:ln/>
        </p:spPr>
        <p:txBody>
          <a:bodyPr wrap="square" rtlCol="0" anchor="ctr"/>
          <a:lstStyle/>
          <a:p>
            <a:pPr marL="0" indent="0">
              <a:buNone/>
            </a:pPr>
            <a:r>
              <a:rPr lang="en-US" sz="1100" dirty="0">
                <a:solidFill>
                  <a:srgbClr val="AABBD8"/>
                </a:solidFill>
                <a:latin typeface="Calibri" pitchFamily="34" charset="0"/>
                <a:ea typeface="Calibri" pitchFamily="34" charset="-122"/>
                <a:cs typeface="Calibri" pitchFamily="34" charset="-120"/>
              </a:rPr>
              <a:t>Data Type: Market Headlines</a:t>
            </a:r>
            <a:endParaRPr lang="en-US" sz="1100" dirty="0"/>
          </a:p>
        </p:txBody>
      </p:sp>
      <p:sp>
        <p:nvSpPr>
          <p:cNvPr id="26" name="Text 24"/>
          <p:cNvSpPr/>
          <p:nvPr/>
        </p:nvSpPr>
        <p:spPr>
          <a:xfrm>
            <a:off x="393192" y="4315968"/>
            <a:ext cx="2514600" cy="274320"/>
          </a:xfrm>
          <a:prstGeom prst="rect">
            <a:avLst/>
          </a:prstGeom>
          <a:noFill/>
          <a:ln/>
        </p:spPr>
        <p:txBody>
          <a:bodyPr wrap="square" rtlCol="0" anchor="ctr"/>
          <a:lstStyle/>
          <a:p>
            <a:pPr marL="0" indent="0">
              <a:buNone/>
            </a:pPr>
            <a:r>
              <a:rPr lang="en-US" sz="1100" dirty="0">
                <a:solidFill>
                  <a:srgbClr val="EA4335"/>
                </a:solidFill>
                <a:latin typeface="Calibri" pitchFamily="34" charset="0"/>
                <a:ea typeface="Calibri" pitchFamily="34" charset="-122"/>
                <a:cs typeface="Calibri" pitchFamily="34" charset="-120"/>
              </a:rPr>
              <a:t>Update: Real-time</a:t>
            </a:r>
            <a:endParaRPr lang="en-US" sz="1100" dirty="0"/>
          </a:p>
        </p:txBody>
      </p:sp>
      <p:sp>
        <p:nvSpPr>
          <p:cNvPr id="27" name="Shape 25"/>
          <p:cNvSpPr/>
          <p:nvPr/>
        </p:nvSpPr>
        <p:spPr>
          <a:xfrm>
            <a:off x="3182112" y="3383280"/>
            <a:ext cx="2743200" cy="1325880"/>
          </a:xfrm>
          <a:prstGeom prst="rect">
            <a:avLst/>
          </a:prstGeom>
          <a:solidFill>
            <a:srgbClr val="132140"/>
          </a:solidFill>
          <a:ln w="12700">
            <a:solidFill>
              <a:srgbClr val="66BB6A"/>
            </a:solidFill>
            <a:prstDash val="solid"/>
          </a:ln>
          <a:effectLst>
            <a:outerShdw blurRad="101600" dist="38100" dir="8100000" algn="bl" rotWithShape="0">
              <a:srgbClr val="000000">
                <a:alpha val="18000"/>
              </a:srgbClr>
            </a:outerShdw>
          </a:effectLst>
        </p:spPr>
        <p:txBody>
          <a:bodyPr/>
          <a:lstStyle/>
          <a:p>
            <a:endParaRPr lang="en-IN"/>
          </a:p>
        </p:txBody>
      </p:sp>
      <p:sp>
        <p:nvSpPr>
          <p:cNvPr id="28" name="Shape 26"/>
          <p:cNvSpPr/>
          <p:nvPr/>
        </p:nvSpPr>
        <p:spPr>
          <a:xfrm>
            <a:off x="3291840" y="3547872"/>
            <a:ext cx="457200" cy="457200"/>
          </a:xfrm>
          <a:prstGeom prst="ellipse">
            <a:avLst/>
          </a:prstGeom>
          <a:solidFill>
            <a:srgbClr val="66BB6A"/>
          </a:solidFill>
          <a:ln/>
        </p:spPr>
        <p:txBody>
          <a:bodyPr/>
          <a:lstStyle/>
          <a:p>
            <a:endParaRPr lang="en-IN"/>
          </a:p>
        </p:txBody>
      </p:sp>
      <p:sp>
        <p:nvSpPr>
          <p:cNvPr id="29" name="Text 27"/>
          <p:cNvSpPr/>
          <p:nvPr/>
        </p:nvSpPr>
        <p:spPr>
          <a:xfrm>
            <a:off x="3822192" y="3511296"/>
            <a:ext cx="2011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AMFI India</a:t>
            </a:r>
            <a:endParaRPr lang="en-US" sz="1300" dirty="0"/>
          </a:p>
        </p:txBody>
      </p:sp>
      <p:sp>
        <p:nvSpPr>
          <p:cNvPr id="30" name="Text 28"/>
          <p:cNvSpPr/>
          <p:nvPr/>
        </p:nvSpPr>
        <p:spPr>
          <a:xfrm>
            <a:off x="3319272" y="4041648"/>
            <a:ext cx="2514600" cy="274320"/>
          </a:xfrm>
          <a:prstGeom prst="rect">
            <a:avLst/>
          </a:prstGeom>
          <a:noFill/>
          <a:ln/>
        </p:spPr>
        <p:txBody>
          <a:bodyPr wrap="square" rtlCol="0" anchor="ctr"/>
          <a:lstStyle/>
          <a:p>
            <a:pPr marL="0" indent="0">
              <a:buNone/>
            </a:pPr>
            <a:r>
              <a:rPr lang="en-US" sz="1100" dirty="0">
                <a:solidFill>
                  <a:srgbClr val="AABBD8"/>
                </a:solidFill>
                <a:latin typeface="Calibri" pitchFamily="34" charset="0"/>
                <a:ea typeface="Calibri" pitchFamily="34" charset="-122"/>
                <a:cs typeface="Calibri" pitchFamily="34" charset="-120"/>
              </a:rPr>
              <a:t>Data Type: MF NAV</a:t>
            </a:r>
            <a:endParaRPr lang="en-US" sz="1100" dirty="0"/>
          </a:p>
        </p:txBody>
      </p:sp>
      <p:sp>
        <p:nvSpPr>
          <p:cNvPr id="31" name="Text 29"/>
          <p:cNvSpPr/>
          <p:nvPr/>
        </p:nvSpPr>
        <p:spPr>
          <a:xfrm>
            <a:off x="3319272" y="4315968"/>
            <a:ext cx="2514600" cy="274320"/>
          </a:xfrm>
          <a:prstGeom prst="rect">
            <a:avLst/>
          </a:prstGeom>
          <a:noFill/>
          <a:ln/>
        </p:spPr>
        <p:txBody>
          <a:bodyPr wrap="square" rtlCol="0" anchor="ctr"/>
          <a:lstStyle/>
          <a:p>
            <a:pPr marL="0" indent="0">
              <a:buNone/>
            </a:pPr>
            <a:r>
              <a:rPr lang="en-US" sz="1100" dirty="0">
                <a:solidFill>
                  <a:srgbClr val="66BB6A"/>
                </a:solidFill>
                <a:latin typeface="Calibri" pitchFamily="34" charset="0"/>
                <a:ea typeface="Calibri" pitchFamily="34" charset="-122"/>
                <a:cs typeface="Calibri" pitchFamily="34" charset="-120"/>
              </a:rPr>
              <a:t>Update: Daily 9 PM</a:t>
            </a:r>
            <a:endParaRPr lang="en-US" sz="1100" dirty="0"/>
          </a:p>
        </p:txBody>
      </p:sp>
      <p:sp>
        <p:nvSpPr>
          <p:cNvPr id="32" name="Shape 30"/>
          <p:cNvSpPr/>
          <p:nvPr/>
        </p:nvSpPr>
        <p:spPr>
          <a:xfrm>
            <a:off x="6108192" y="3383280"/>
            <a:ext cx="2743200" cy="1325880"/>
          </a:xfrm>
          <a:prstGeom prst="rect">
            <a:avLst/>
          </a:prstGeom>
          <a:solidFill>
            <a:srgbClr val="132140"/>
          </a:solidFill>
          <a:ln w="12700">
            <a:solidFill>
              <a:srgbClr val="AB47BC"/>
            </a:solidFill>
            <a:prstDash val="solid"/>
          </a:ln>
          <a:effectLst>
            <a:outerShdw blurRad="101600" dist="38100" dir="8100000" algn="bl" rotWithShape="0">
              <a:srgbClr val="000000">
                <a:alpha val="18000"/>
              </a:srgbClr>
            </a:outerShdw>
          </a:effectLst>
        </p:spPr>
        <p:txBody>
          <a:bodyPr/>
          <a:lstStyle/>
          <a:p>
            <a:endParaRPr lang="en-IN"/>
          </a:p>
        </p:txBody>
      </p:sp>
      <p:sp>
        <p:nvSpPr>
          <p:cNvPr id="33" name="Shape 31"/>
          <p:cNvSpPr/>
          <p:nvPr/>
        </p:nvSpPr>
        <p:spPr>
          <a:xfrm>
            <a:off x="6217920" y="3547872"/>
            <a:ext cx="457200" cy="457200"/>
          </a:xfrm>
          <a:prstGeom prst="ellipse">
            <a:avLst/>
          </a:prstGeom>
          <a:solidFill>
            <a:srgbClr val="AB47BC"/>
          </a:solidFill>
          <a:ln/>
        </p:spPr>
        <p:txBody>
          <a:bodyPr/>
          <a:lstStyle/>
          <a:p>
            <a:endParaRPr lang="en-IN"/>
          </a:p>
        </p:txBody>
      </p:sp>
      <p:sp>
        <p:nvSpPr>
          <p:cNvPr id="34" name="Text 32"/>
          <p:cNvSpPr/>
          <p:nvPr/>
        </p:nvSpPr>
        <p:spPr>
          <a:xfrm>
            <a:off x="6748272" y="3511296"/>
            <a:ext cx="2011680" cy="347472"/>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SQLite3 DB</a:t>
            </a:r>
            <a:endParaRPr lang="en-US" sz="1300" dirty="0"/>
          </a:p>
        </p:txBody>
      </p:sp>
      <p:sp>
        <p:nvSpPr>
          <p:cNvPr id="35" name="Text 33"/>
          <p:cNvSpPr/>
          <p:nvPr/>
        </p:nvSpPr>
        <p:spPr>
          <a:xfrm>
            <a:off x="6245352" y="4041648"/>
            <a:ext cx="2514600" cy="274320"/>
          </a:xfrm>
          <a:prstGeom prst="rect">
            <a:avLst/>
          </a:prstGeom>
          <a:noFill/>
          <a:ln/>
        </p:spPr>
        <p:txBody>
          <a:bodyPr wrap="square" rtlCol="0" anchor="ctr"/>
          <a:lstStyle/>
          <a:p>
            <a:pPr marL="0" indent="0">
              <a:buNone/>
            </a:pPr>
            <a:r>
              <a:rPr lang="en-US" sz="1100" dirty="0">
                <a:solidFill>
                  <a:srgbClr val="AABBD8"/>
                </a:solidFill>
                <a:latin typeface="Calibri" pitchFamily="34" charset="0"/>
                <a:ea typeface="Calibri" pitchFamily="34" charset="-122"/>
                <a:cs typeface="Calibri" pitchFamily="34" charset="-120"/>
              </a:rPr>
              <a:t>Data Type: Portfolio / Alerts</a:t>
            </a:r>
            <a:endParaRPr lang="en-US" sz="1100" dirty="0"/>
          </a:p>
        </p:txBody>
      </p:sp>
      <p:sp>
        <p:nvSpPr>
          <p:cNvPr id="36" name="Text 34"/>
          <p:cNvSpPr/>
          <p:nvPr/>
        </p:nvSpPr>
        <p:spPr>
          <a:xfrm>
            <a:off x="6245352" y="4315968"/>
            <a:ext cx="2514600" cy="274320"/>
          </a:xfrm>
          <a:prstGeom prst="rect">
            <a:avLst/>
          </a:prstGeom>
          <a:noFill/>
          <a:ln/>
        </p:spPr>
        <p:txBody>
          <a:bodyPr wrap="square" rtlCol="0" anchor="ctr"/>
          <a:lstStyle/>
          <a:p>
            <a:pPr marL="0" indent="0">
              <a:buNone/>
            </a:pPr>
            <a:r>
              <a:rPr lang="en-US" sz="1100" dirty="0">
                <a:solidFill>
                  <a:srgbClr val="AB47BC"/>
                </a:solidFill>
                <a:latin typeface="Calibri" pitchFamily="34" charset="0"/>
                <a:ea typeface="Calibri" pitchFamily="34" charset="-122"/>
                <a:cs typeface="Calibri" pitchFamily="34" charset="-120"/>
              </a:rPr>
              <a:t>Update: Per user session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a:extLst>
            <a:ext uri="{FF2B5EF4-FFF2-40B4-BE49-F238E27FC236}">
              <a16:creationId xmlns:a16="http://schemas.microsoft.com/office/drawing/2014/main" id="{47F534DD-6415-30BD-44B6-C4F9CBE3B2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8752281-C405-90AC-0D97-BA2FB1D79758}"/>
              </a:ext>
            </a:extLst>
          </p:cNvPr>
          <p:cNvSpPr/>
          <p:nvPr/>
        </p:nvSpPr>
        <p:spPr>
          <a:xfrm>
            <a:off x="0" y="0"/>
            <a:ext cx="9144000" cy="1005840"/>
          </a:xfrm>
          <a:prstGeom prst="rect">
            <a:avLst/>
          </a:prstGeom>
          <a:solidFill>
            <a:srgbClr val="0A1628"/>
          </a:solidFill>
          <a:ln/>
        </p:spPr>
        <p:txBody>
          <a:bodyPr/>
          <a:lstStyle/>
          <a:p>
            <a:endParaRPr lang="en-IN"/>
          </a:p>
        </p:txBody>
      </p:sp>
      <p:sp>
        <p:nvSpPr>
          <p:cNvPr id="3" name="Shape 1">
            <a:extLst>
              <a:ext uri="{FF2B5EF4-FFF2-40B4-BE49-F238E27FC236}">
                <a16:creationId xmlns:a16="http://schemas.microsoft.com/office/drawing/2014/main" id="{CF79F57D-9E0E-71D9-267E-3BFC01AFD7E7}"/>
              </a:ext>
            </a:extLst>
          </p:cNvPr>
          <p:cNvSpPr/>
          <p:nvPr/>
        </p:nvSpPr>
        <p:spPr>
          <a:xfrm>
            <a:off x="0" y="1005840"/>
            <a:ext cx="9144000" cy="54864"/>
          </a:xfrm>
          <a:prstGeom prst="rect">
            <a:avLst/>
          </a:prstGeom>
          <a:solidFill>
            <a:srgbClr val="00C896"/>
          </a:solidFill>
          <a:ln/>
        </p:spPr>
        <p:txBody>
          <a:bodyPr/>
          <a:lstStyle/>
          <a:p>
            <a:endParaRPr lang="en-IN"/>
          </a:p>
        </p:txBody>
      </p:sp>
      <p:sp>
        <p:nvSpPr>
          <p:cNvPr id="4" name="Text 2">
            <a:extLst>
              <a:ext uri="{FF2B5EF4-FFF2-40B4-BE49-F238E27FC236}">
                <a16:creationId xmlns:a16="http://schemas.microsoft.com/office/drawing/2014/main" id="{C4243625-7203-35AE-23C5-2EE445D56417}"/>
              </a:ext>
            </a:extLst>
          </p:cNvPr>
          <p:cNvSpPr/>
          <p:nvPr/>
        </p:nvSpPr>
        <p:spPr>
          <a:xfrm>
            <a:off x="365760" y="109728"/>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TECHNOLOGY STACK</a:t>
            </a:r>
            <a:endParaRPr lang="en-US" sz="3000" dirty="0"/>
          </a:p>
        </p:txBody>
      </p:sp>
      <p:sp>
        <p:nvSpPr>
          <p:cNvPr id="5" name="Shape 3">
            <a:extLst>
              <a:ext uri="{FF2B5EF4-FFF2-40B4-BE49-F238E27FC236}">
                <a16:creationId xmlns:a16="http://schemas.microsoft.com/office/drawing/2014/main" id="{72906D7F-F3D7-D853-CF14-697F9F1E80A6}"/>
              </a:ext>
            </a:extLst>
          </p:cNvPr>
          <p:cNvSpPr/>
          <p:nvPr/>
        </p:nvSpPr>
        <p:spPr>
          <a:xfrm>
            <a:off x="256032" y="120700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6" name="Shape 4">
            <a:extLst>
              <a:ext uri="{FF2B5EF4-FFF2-40B4-BE49-F238E27FC236}">
                <a16:creationId xmlns:a16="http://schemas.microsoft.com/office/drawing/2014/main" id="{7E4131FC-9D79-5A67-C7A3-E60375555091}"/>
              </a:ext>
            </a:extLst>
          </p:cNvPr>
          <p:cNvSpPr/>
          <p:nvPr/>
        </p:nvSpPr>
        <p:spPr>
          <a:xfrm>
            <a:off x="256032" y="1207008"/>
            <a:ext cx="228600" cy="804672"/>
          </a:xfrm>
          <a:prstGeom prst="rect">
            <a:avLst/>
          </a:prstGeom>
          <a:solidFill>
            <a:srgbClr val="1D72E8"/>
          </a:solidFill>
          <a:ln/>
        </p:spPr>
        <p:txBody>
          <a:bodyPr/>
          <a:lstStyle/>
          <a:p>
            <a:endParaRPr lang="en-IN"/>
          </a:p>
        </p:txBody>
      </p:sp>
      <p:sp>
        <p:nvSpPr>
          <p:cNvPr id="7" name="Text 5">
            <a:extLst>
              <a:ext uri="{FF2B5EF4-FFF2-40B4-BE49-F238E27FC236}">
                <a16:creationId xmlns:a16="http://schemas.microsoft.com/office/drawing/2014/main" id="{1A5B41CC-6346-22F3-4621-A23E0FA622B6}"/>
              </a:ext>
            </a:extLst>
          </p:cNvPr>
          <p:cNvSpPr/>
          <p:nvPr/>
        </p:nvSpPr>
        <p:spPr>
          <a:xfrm>
            <a:off x="548640" y="125272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Python 3.12</a:t>
            </a:r>
            <a:endParaRPr lang="en-US" sz="1200" dirty="0"/>
          </a:p>
        </p:txBody>
      </p:sp>
      <p:sp>
        <p:nvSpPr>
          <p:cNvPr id="8" name="Text 6">
            <a:extLst>
              <a:ext uri="{FF2B5EF4-FFF2-40B4-BE49-F238E27FC236}">
                <a16:creationId xmlns:a16="http://schemas.microsoft.com/office/drawing/2014/main" id="{E1F5292A-A31C-E896-6DE2-FD45E085FADC}"/>
              </a:ext>
            </a:extLst>
          </p:cNvPr>
          <p:cNvSpPr/>
          <p:nvPr/>
        </p:nvSpPr>
        <p:spPr>
          <a:xfrm>
            <a:off x="548640" y="157276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Core Language — Best ecosystem for AI &amp; finance</a:t>
            </a:r>
            <a:endParaRPr lang="en-US" sz="950" dirty="0"/>
          </a:p>
        </p:txBody>
      </p:sp>
      <p:sp>
        <p:nvSpPr>
          <p:cNvPr id="9" name="Shape 7">
            <a:extLst>
              <a:ext uri="{FF2B5EF4-FFF2-40B4-BE49-F238E27FC236}">
                <a16:creationId xmlns:a16="http://schemas.microsoft.com/office/drawing/2014/main" id="{788426F6-498E-FB6F-06C5-85BCB2E0D130}"/>
              </a:ext>
            </a:extLst>
          </p:cNvPr>
          <p:cNvSpPr/>
          <p:nvPr/>
        </p:nvSpPr>
        <p:spPr>
          <a:xfrm>
            <a:off x="3182112" y="120700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10" name="Shape 8">
            <a:extLst>
              <a:ext uri="{FF2B5EF4-FFF2-40B4-BE49-F238E27FC236}">
                <a16:creationId xmlns:a16="http://schemas.microsoft.com/office/drawing/2014/main" id="{AFC7E457-8E7D-CE89-4201-C3966AE0754B}"/>
              </a:ext>
            </a:extLst>
          </p:cNvPr>
          <p:cNvSpPr/>
          <p:nvPr/>
        </p:nvSpPr>
        <p:spPr>
          <a:xfrm>
            <a:off x="3182112" y="1207008"/>
            <a:ext cx="228600" cy="804672"/>
          </a:xfrm>
          <a:prstGeom prst="rect">
            <a:avLst/>
          </a:prstGeom>
          <a:solidFill>
            <a:srgbClr val="FF4B4B"/>
          </a:solidFill>
          <a:ln/>
        </p:spPr>
        <p:txBody>
          <a:bodyPr/>
          <a:lstStyle/>
          <a:p>
            <a:endParaRPr lang="en-IN"/>
          </a:p>
        </p:txBody>
      </p:sp>
      <p:sp>
        <p:nvSpPr>
          <p:cNvPr id="11" name="Text 9">
            <a:extLst>
              <a:ext uri="{FF2B5EF4-FFF2-40B4-BE49-F238E27FC236}">
                <a16:creationId xmlns:a16="http://schemas.microsoft.com/office/drawing/2014/main" id="{47A7297F-CB2B-1542-9929-708B956CC9D7}"/>
              </a:ext>
            </a:extLst>
          </p:cNvPr>
          <p:cNvSpPr/>
          <p:nvPr/>
        </p:nvSpPr>
        <p:spPr>
          <a:xfrm>
            <a:off x="3474720" y="125272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Streamlit</a:t>
            </a:r>
            <a:endParaRPr lang="en-US" sz="1200" dirty="0"/>
          </a:p>
        </p:txBody>
      </p:sp>
      <p:sp>
        <p:nvSpPr>
          <p:cNvPr id="12" name="Text 10">
            <a:extLst>
              <a:ext uri="{FF2B5EF4-FFF2-40B4-BE49-F238E27FC236}">
                <a16:creationId xmlns:a16="http://schemas.microsoft.com/office/drawing/2014/main" id="{49DE6A32-1C2A-698E-A7E2-AD3E380AC398}"/>
              </a:ext>
            </a:extLst>
          </p:cNvPr>
          <p:cNvSpPr/>
          <p:nvPr/>
        </p:nvSpPr>
        <p:spPr>
          <a:xfrm>
            <a:off x="3474720" y="157276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Web Interface — Pure-Python, rapid development</a:t>
            </a:r>
            <a:endParaRPr lang="en-US" sz="950" dirty="0"/>
          </a:p>
        </p:txBody>
      </p:sp>
      <p:sp>
        <p:nvSpPr>
          <p:cNvPr id="13" name="Shape 11">
            <a:extLst>
              <a:ext uri="{FF2B5EF4-FFF2-40B4-BE49-F238E27FC236}">
                <a16:creationId xmlns:a16="http://schemas.microsoft.com/office/drawing/2014/main" id="{32A52B80-BE44-2F07-CCDE-CDBB14C23A65}"/>
              </a:ext>
            </a:extLst>
          </p:cNvPr>
          <p:cNvSpPr/>
          <p:nvPr/>
        </p:nvSpPr>
        <p:spPr>
          <a:xfrm>
            <a:off x="6108192" y="120700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14" name="Shape 12">
            <a:extLst>
              <a:ext uri="{FF2B5EF4-FFF2-40B4-BE49-F238E27FC236}">
                <a16:creationId xmlns:a16="http://schemas.microsoft.com/office/drawing/2014/main" id="{C038C070-4289-1415-6F06-1D3AB834E655}"/>
              </a:ext>
            </a:extLst>
          </p:cNvPr>
          <p:cNvSpPr/>
          <p:nvPr/>
        </p:nvSpPr>
        <p:spPr>
          <a:xfrm>
            <a:off x="6108192" y="1207008"/>
            <a:ext cx="228600" cy="804672"/>
          </a:xfrm>
          <a:prstGeom prst="rect">
            <a:avLst/>
          </a:prstGeom>
          <a:solidFill>
            <a:srgbClr val="00C896"/>
          </a:solidFill>
          <a:ln/>
        </p:spPr>
        <p:txBody>
          <a:bodyPr/>
          <a:lstStyle/>
          <a:p>
            <a:endParaRPr lang="en-IN"/>
          </a:p>
        </p:txBody>
      </p:sp>
      <p:sp>
        <p:nvSpPr>
          <p:cNvPr id="15" name="Text 13">
            <a:extLst>
              <a:ext uri="{FF2B5EF4-FFF2-40B4-BE49-F238E27FC236}">
                <a16:creationId xmlns:a16="http://schemas.microsoft.com/office/drawing/2014/main" id="{E666B728-004F-D8F7-FA7D-B4C9CA8586A2}"/>
              </a:ext>
            </a:extLst>
          </p:cNvPr>
          <p:cNvSpPr/>
          <p:nvPr/>
        </p:nvSpPr>
        <p:spPr>
          <a:xfrm>
            <a:off x="6400800" y="125272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Groq + Llama 3.3 70B</a:t>
            </a:r>
            <a:endParaRPr lang="en-US" sz="1200" dirty="0"/>
          </a:p>
        </p:txBody>
      </p:sp>
      <p:sp>
        <p:nvSpPr>
          <p:cNvPr id="16" name="Text 14">
            <a:extLst>
              <a:ext uri="{FF2B5EF4-FFF2-40B4-BE49-F238E27FC236}">
                <a16:creationId xmlns:a16="http://schemas.microsoft.com/office/drawing/2014/main" id="{A30AAE24-9D76-A1FC-9772-3EB2EC7CA45F}"/>
              </a:ext>
            </a:extLst>
          </p:cNvPr>
          <p:cNvSpPr/>
          <p:nvPr/>
        </p:nvSpPr>
        <p:spPr>
          <a:xfrm>
            <a:off x="6400800" y="157276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AI Engine — 3–5 sec response, free, latest model</a:t>
            </a:r>
            <a:endParaRPr lang="en-US" sz="950" dirty="0"/>
          </a:p>
        </p:txBody>
      </p:sp>
      <p:sp>
        <p:nvSpPr>
          <p:cNvPr id="17" name="Shape 15">
            <a:extLst>
              <a:ext uri="{FF2B5EF4-FFF2-40B4-BE49-F238E27FC236}">
                <a16:creationId xmlns:a16="http://schemas.microsoft.com/office/drawing/2014/main" id="{84733023-9A1A-74CC-62EB-1CD4CA89D51D}"/>
              </a:ext>
            </a:extLst>
          </p:cNvPr>
          <p:cNvSpPr/>
          <p:nvPr/>
        </p:nvSpPr>
        <p:spPr>
          <a:xfrm>
            <a:off x="256032" y="216712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18" name="Shape 16">
            <a:extLst>
              <a:ext uri="{FF2B5EF4-FFF2-40B4-BE49-F238E27FC236}">
                <a16:creationId xmlns:a16="http://schemas.microsoft.com/office/drawing/2014/main" id="{8DA411F7-C366-AFCF-0EAF-F543F0CD4F81}"/>
              </a:ext>
            </a:extLst>
          </p:cNvPr>
          <p:cNvSpPr/>
          <p:nvPr/>
        </p:nvSpPr>
        <p:spPr>
          <a:xfrm>
            <a:off x="256032" y="2167128"/>
            <a:ext cx="228600" cy="804672"/>
          </a:xfrm>
          <a:prstGeom prst="rect">
            <a:avLst/>
          </a:prstGeom>
          <a:solidFill>
            <a:srgbClr val="66BB6A"/>
          </a:solidFill>
          <a:ln/>
        </p:spPr>
        <p:txBody>
          <a:bodyPr/>
          <a:lstStyle/>
          <a:p>
            <a:endParaRPr lang="en-IN"/>
          </a:p>
        </p:txBody>
      </p:sp>
      <p:sp>
        <p:nvSpPr>
          <p:cNvPr id="19" name="Text 17">
            <a:extLst>
              <a:ext uri="{FF2B5EF4-FFF2-40B4-BE49-F238E27FC236}">
                <a16:creationId xmlns:a16="http://schemas.microsoft.com/office/drawing/2014/main" id="{A738AFBD-A980-6FD1-CB0A-A6353F5B45FC}"/>
              </a:ext>
            </a:extLst>
          </p:cNvPr>
          <p:cNvSpPr/>
          <p:nvPr/>
        </p:nvSpPr>
        <p:spPr>
          <a:xfrm>
            <a:off x="548640" y="221284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yfinance</a:t>
            </a:r>
            <a:endParaRPr lang="en-US" sz="1200" dirty="0"/>
          </a:p>
        </p:txBody>
      </p:sp>
      <p:sp>
        <p:nvSpPr>
          <p:cNvPr id="20" name="Text 18">
            <a:extLst>
              <a:ext uri="{FF2B5EF4-FFF2-40B4-BE49-F238E27FC236}">
                <a16:creationId xmlns:a16="http://schemas.microsoft.com/office/drawing/2014/main" id="{6BC7BC13-620D-4220-13CD-302BC029490B}"/>
              </a:ext>
            </a:extLst>
          </p:cNvPr>
          <p:cNvSpPr/>
          <p:nvPr/>
        </p:nvSpPr>
        <p:spPr>
          <a:xfrm>
            <a:off x="548640" y="253288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Stock Prices — Free real-time data, all NSE stocks</a:t>
            </a:r>
            <a:endParaRPr lang="en-US" sz="950" dirty="0"/>
          </a:p>
        </p:txBody>
      </p:sp>
      <p:sp>
        <p:nvSpPr>
          <p:cNvPr id="21" name="Shape 19">
            <a:extLst>
              <a:ext uri="{FF2B5EF4-FFF2-40B4-BE49-F238E27FC236}">
                <a16:creationId xmlns:a16="http://schemas.microsoft.com/office/drawing/2014/main" id="{B9B88203-5C11-F64E-D57A-5F9D3951C6B3}"/>
              </a:ext>
            </a:extLst>
          </p:cNvPr>
          <p:cNvSpPr/>
          <p:nvPr/>
        </p:nvSpPr>
        <p:spPr>
          <a:xfrm>
            <a:off x="3182112" y="216712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22" name="Shape 20">
            <a:extLst>
              <a:ext uri="{FF2B5EF4-FFF2-40B4-BE49-F238E27FC236}">
                <a16:creationId xmlns:a16="http://schemas.microsoft.com/office/drawing/2014/main" id="{6DC1EF5B-0329-9181-0608-E5279C885032}"/>
              </a:ext>
            </a:extLst>
          </p:cNvPr>
          <p:cNvSpPr/>
          <p:nvPr/>
        </p:nvSpPr>
        <p:spPr>
          <a:xfrm>
            <a:off x="3182112" y="2167128"/>
            <a:ext cx="228600" cy="804672"/>
          </a:xfrm>
          <a:prstGeom prst="rect">
            <a:avLst/>
          </a:prstGeom>
          <a:solidFill>
            <a:srgbClr val="F5C542"/>
          </a:solidFill>
          <a:ln/>
        </p:spPr>
        <p:txBody>
          <a:bodyPr/>
          <a:lstStyle/>
          <a:p>
            <a:endParaRPr lang="en-IN"/>
          </a:p>
        </p:txBody>
      </p:sp>
      <p:sp>
        <p:nvSpPr>
          <p:cNvPr id="23" name="Text 21">
            <a:extLst>
              <a:ext uri="{FF2B5EF4-FFF2-40B4-BE49-F238E27FC236}">
                <a16:creationId xmlns:a16="http://schemas.microsoft.com/office/drawing/2014/main" id="{AD755D3B-BFF1-9B1B-99BD-957FAF553677}"/>
              </a:ext>
            </a:extLst>
          </p:cNvPr>
          <p:cNvSpPr/>
          <p:nvPr/>
        </p:nvSpPr>
        <p:spPr>
          <a:xfrm>
            <a:off x="3474720" y="221284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NSE India API</a:t>
            </a:r>
            <a:endParaRPr lang="en-US" sz="1200" dirty="0"/>
          </a:p>
        </p:txBody>
      </p:sp>
      <p:sp>
        <p:nvSpPr>
          <p:cNvPr id="24" name="Text 22">
            <a:extLst>
              <a:ext uri="{FF2B5EF4-FFF2-40B4-BE49-F238E27FC236}">
                <a16:creationId xmlns:a16="http://schemas.microsoft.com/office/drawing/2014/main" id="{3E378FC9-9804-C1F8-9C33-88D216781E28}"/>
              </a:ext>
            </a:extLst>
          </p:cNvPr>
          <p:cNvSpPr/>
          <p:nvPr/>
        </p:nvSpPr>
        <p:spPr>
          <a:xfrm>
            <a:off x="3474720" y="253288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FII/DII + IPO — Official government source, reliable</a:t>
            </a:r>
            <a:endParaRPr lang="en-US" sz="950" dirty="0"/>
          </a:p>
        </p:txBody>
      </p:sp>
      <p:sp>
        <p:nvSpPr>
          <p:cNvPr id="25" name="Shape 23">
            <a:extLst>
              <a:ext uri="{FF2B5EF4-FFF2-40B4-BE49-F238E27FC236}">
                <a16:creationId xmlns:a16="http://schemas.microsoft.com/office/drawing/2014/main" id="{EC84DD8C-6873-0A60-74CB-CAA4505879BC}"/>
              </a:ext>
            </a:extLst>
          </p:cNvPr>
          <p:cNvSpPr/>
          <p:nvPr/>
        </p:nvSpPr>
        <p:spPr>
          <a:xfrm>
            <a:off x="6108192" y="216712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26" name="Shape 24">
            <a:extLst>
              <a:ext uri="{FF2B5EF4-FFF2-40B4-BE49-F238E27FC236}">
                <a16:creationId xmlns:a16="http://schemas.microsoft.com/office/drawing/2014/main" id="{036C2A01-48FA-237E-5F5F-4E271DDA933C}"/>
              </a:ext>
            </a:extLst>
          </p:cNvPr>
          <p:cNvSpPr/>
          <p:nvPr/>
        </p:nvSpPr>
        <p:spPr>
          <a:xfrm>
            <a:off x="6108192" y="2167128"/>
            <a:ext cx="228600" cy="804672"/>
          </a:xfrm>
          <a:prstGeom prst="rect">
            <a:avLst/>
          </a:prstGeom>
          <a:solidFill>
            <a:srgbClr val="AB47BC"/>
          </a:solidFill>
          <a:ln/>
        </p:spPr>
        <p:txBody>
          <a:bodyPr/>
          <a:lstStyle/>
          <a:p>
            <a:endParaRPr lang="en-IN"/>
          </a:p>
        </p:txBody>
      </p:sp>
      <p:sp>
        <p:nvSpPr>
          <p:cNvPr id="27" name="Text 25">
            <a:extLst>
              <a:ext uri="{FF2B5EF4-FFF2-40B4-BE49-F238E27FC236}">
                <a16:creationId xmlns:a16="http://schemas.microsoft.com/office/drawing/2014/main" id="{1238DA8E-5335-9689-6423-A70BC320A47C}"/>
              </a:ext>
            </a:extLst>
          </p:cNvPr>
          <p:cNvSpPr/>
          <p:nvPr/>
        </p:nvSpPr>
        <p:spPr>
          <a:xfrm>
            <a:off x="6400800" y="221284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Plotly</a:t>
            </a:r>
            <a:endParaRPr lang="en-US" sz="1200" dirty="0"/>
          </a:p>
        </p:txBody>
      </p:sp>
      <p:sp>
        <p:nvSpPr>
          <p:cNvPr id="28" name="Text 26">
            <a:extLst>
              <a:ext uri="{FF2B5EF4-FFF2-40B4-BE49-F238E27FC236}">
                <a16:creationId xmlns:a16="http://schemas.microsoft.com/office/drawing/2014/main" id="{7EC67686-E052-3CAB-72B7-1FC8D41AF846}"/>
              </a:ext>
            </a:extLst>
          </p:cNvPr>
          <p:cNvSpPr/>
          <p:nvPr/>
        </p:nvSpPr>
        <p:spPr>
          <a:xfrm>
            <a:off x="6400800" y="253288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Charts &amp; Viz — Interactive candlestick &amp; indicator charts</a:t>
            </a:r>
            <a:endParaRPr lang="en-US" sz="950" dirty="0"/>
          </a:p>
        </p:txBody>
      </p:sp>
      <p:sp>
        <p:nvSpPr>
          <p:cNvPr id="29" name="Shape 27">
            <a:extLst>
              <a:ext uri="{FF2B5EF4-FFF2-40B4-BE49-F238E27FC236}">
                <a16:creationId xmlns:a16="http://schemas.microsoft.com/office/drawing/2014/main" id="{C2ECBBCE-2205-93BD-85F9-F53CA361EB21}"/>
              </a:ext>
            </a:extLst>
          </p:cNvPr>
          <p:cNvSpPr/>
          <p:nvPr/>
        </p:nvSpPr>
        <p:spPr>
          <a:xfrm>
            <a:off x="256032" y="312724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30" name="Shape 28">
            <a:extLst>
              <a:ext uri="{FF2B5EF4-FFF2-40B4-BE49-F238E27FC236}">
                <a16:creationId xmlns:a16="http://schemas.microsoft.com/office/drawing/2014/main" id="{C6510A51-2ACF-20DA-FE66-144D691C1930}"/>
              </a:ext>
            </a:extLst>
          </p:cNvPr>
          <p:cNvSpPr/>
          <p:nvPr/>
        </p:nvSpPr>
        <p:spPr>
          <a:xfrm>
            <a:off x="256032" y="3127248"/>
            <a:ext cx="228600" cy="804672"/>
          </a:xfrm>
          <a:prstGeom prst="rect">
            <a:avLst/>
          </a:prstGeom>
          <a:solidFill>
            <a:srgbClr val="29B6F6"/>
          </a:solidFill>
          <a:ln/>
        </p:spPr>
        <p:txBody>
          <a:bodyPr/>
          <a:lstStyle/>
          <a:p>
            <a:endParaRPr lang="en-IN"/>
          </a:p>
        </p:txBody>
      </p:sp>
      <p:sp>
        <p:nvSpPr>
          <p:cNvPr id="31" name="Text 29">
            <a:extLst>
              <a:ext uri="{FF2B5EF4-FFF2-40B4-BE49-F238E27FC236}">
                <a16:creationId xmlns:a16="http://schemas.microsoft.com/office/drawing/2014/main" id="{050066F2-A3DE-75D7-13A4-E77DCBEECBFF}"/>
              </a:ext>
            </a:extLst>
          </p:cNvPr>
          <p:cNvSpPr/>
          <p:nvPr/>
        </p:nvSpPr>
        <p:spPr>
          <a:xfrm>
            <a:off x="548640" y="317296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TextBlob</a:t>
            </a:r>
            <a:endParaRPr lang="en-US" sz="1200" dirty="0"/>
          </a:p>
        </p:txBody>
      </p:sp>
      <p:sp>
        <p:nvSpPr>
          <p:cNvPr id="32" name="Text 30">
            <a:extLst>
              <a:ext uri="{FF2B5EF4-FFF2-40B4-BE49-F238E27FC236}">
                <a16:creationId xmlns:a16="http://schemas.microsoft.com/office/drawing/2014/main" id="{E2B449D6-3A42-903C-35B1-047E415A08F5}"/>
              </a:ext>
            </a:extLst>
          </p:cNvPr>
          <p:cNvSpPr/>
          <p:nvPr/>
        </p:nvSpPr>
        <p:spPr>
          <a:xfrm>
            <a:off x="548640" y="349300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Sentiment Analysis — Simple, accurate for financial news</a:t>
            </a:r>
            <a:endParaRPr lang="en-US" sz="950" dirty="0"/>
          </a:p>
        </p:txBody>
      </p:sp>
      <p:sp>
        <p:nvSpPr>
          <p:cNvPr id="33" name="Shape 31">
            <a:extLst>
              <a:ext uri="{FF2B5EF4-FFF2-40B4-BE49-F238E27FC236}">
                <a16:creationId xmlns:a16="http://schemas.microsoft.com/office/drawing/2014/main" id="{A251FEF6-117D-8B5F-F399-E08FB92F3713}"/>
              </a:ext>
            </a:extLst>
          </p:cNvPr>
          <p:cNvSpPr/>
          <p:nvPr/>
        </p:nvSpPr>
        <p:spPr>
          <a:xfrm>
            <a:off x="3182112" y="312724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34" name="Shape 32">
            <a:extLst>
              <a:ext uri="{FF2B5EF4-FFF2-40B4-BE49-F238E27FC236}">
                <a16:creationId xmlns:a16="http://schemas.microsoft.com/office/drawing/2014/main" id="{2A0CC746-7957-1398-8758-DF171298396B}"/>
              </a:ext>
            </a:extLst>
          </p:cNvPr>
          <p:cNvSpPr/>
          <p:nvPr/>
        </p:nvSpPr>
        <p:spPr>
          <a:xfrm>
            <a:off x="3182112" y="3127248"/>
            <a:ext cx="228600" cy="804672"/>
          </a:xfrm>
          <a:prstGeom prst="rect">
            <a:avLst/>
          </a:prstGeom>
          <a:solidFill>
            <a:srgbClr val="FF7043"/>
          </a:solidFill>
          <a:ln/>
        </p:spPr>
        <p:txBody>
          <a:bodyPr/>
          <a:lstStyle/>
          <a:p>
            <a:endParaRPr lang="en-IN"/>
          </a:p>
        </p:txBody>
      </p:sp>
      <p:sp>
        <p:nvSpPr>
          <p:cNvPr id="35" name="Text 33">
            <a:extLst>
              <a:ext uri="{FF2B5EF4-FFF2-40B4-BE49-F238E27FC236}">
                <a16:creationId xmlns:a16="http://schemas.microsoft.com/office/drawing/2014/main" id="{7FB8B5D1-CE38-897A-1446-56021712B90C}"/>
              </a:ext>
            </a:extLst>
          </p:cNvPr>
          <p:cNvSpPr/>
          <p:nvPr/>
        </p:nvSpPr>
        <p:spPr>
          <a:xfrm>
            <a:off x="3474720" y="317296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SQLite3</a:t>
            </a:r>
            <a:endParaRPr lang="en-US" sz="1200" dirty="0"/>
          </a:p>
        </p:txBody>
      </p:sp>
      <p:sp>
        <p:nvSpPr>
          <p:cNvPr id="36" name="Text 34">
            <a:extLst>
              <a:ext uri="{FF2B5EF4-FFF2-40B4-BE49-F238E27FC236}">
                <a16:creationId xmlns:a16="http://schemas.microsoft.com/office/drawing/2014/main" id="{2F0F5E48-D075-0E96-9926-21B7A9941752}"/>
              </a:ext>
            </a:extLst>
          </p:cNvPr>
          <p:cNvSpPr/>
          <p:nvPr/>
        </p:nvSpPr>
        <p:spPr>
          <a:xfrm>
            <a:off x="3474720" y="349300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Database — Zero config, Python built-in, fast</a:t>
            </a:r>
            <a:endParaRPr lang="en-US" sz="950" dirty="0"/>
          </a:p>
        </p:txBody>
      </p:sp>
      <p:sp>
        <p:nvSpPr>
          <p:cNvPr id="37" name="Shape 35">
            <a:extLst>
              <a:ext uri="{FF2B5EF4-FFF2-40B4-BE49-F238E27FC236}">
                <a16:creationId xmlns:a16="http://schemas.microsoft.com/office/drawing/2014/main" id="{80240EC9-4395-81AE-3214-3CB7FA76E478}"/>
              </a:ext>
            </a:extLst>
          </p:cNvPr>
          <p:cNvSpPr/>
          <p:nvPr/>
        </p:nvSpPr>
        <p:spPr>
          <a:xfrm>
            <a:off x="6108192" y="312724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38" name="Shape 36">
            <a:extLst>
              <a:ext uri="{FF2B5EF4-FFF2-40B4-BE49-F238E27FC236}">
                <a16:creationId xmlns:a16="http://schemas.microsoft.com/office/drawing/2014/main" id="{15412D5C-D773-A6BC-539C-F15504636409}"/>
              </a:ext>
            </a:extLst>
          </p:cNvPr>
          <p:cNvSpPr/>
          <p:nvPr/>
        </p:nvSpPr>
        <p:spPr>
          <a:xfrm>
            <a:off x="6108192" y="3127248"/>
            <a:ext cx="228600" cy="804672"/>
          </a:xfrm>
          <a:prstGeom prst="rect">
            <a:avLst/>
          </a:prstGeom>
          <a:solidFill>
            <a:srgbClr val="F06292"/>
          </a:solidFill>
          <a:ln/>
        </p:spPr>
        <p:txBody>
          <a:bodyPr/>
          <a:lstStyle/>
          <a:p>
            <a:endParaRPr lang="en-IN"/>
          </a:p>
        </p:txBody>
      </p:sp>
      <p:sp>
        <p:nvSpPr>
          <p:cNvPr id="39" name="Text 37">
            <a:extLst>
              <a:ext uri="{FF2B5EF4-FFF2-40B4-BE49-F238E27FC236}">
                <a16:creationId xmlns:a16="http://schemas.microsoft.com/office/drawing/2014/main" id="{2DE09BE0-9C01-E15B-487F-23C2CDCC2642}"/>
              </a:ext>
            </a:extLst>
          </p:cNvPr>
          <p:cNvSpPr/>
          <p:nvPr/>
        </p:nvSpPr>
        <p:spPr>
          <a:xfrm>
            <a:off x="6400800" y="317296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BeautifulSoup4</a:t>
            </a:r>
            <a:endParaRPr lang="en-US" sz="1200" dirty="0"/>
          </a:p>
        </p:txBody>
      </p:sp>
      <p:sp>
        <p:nvSpPr>
          <p:cNvPr id="40" name="Text 38">
            <a:extLst>
              <a:ext uri="{FF2B5EF4-FFF2-40B4-BE49-F238E27FC236}">
                <a16:creationId xmlns:a16="http://schemas.microsoft.com/office/drawing/2014/main" id="{602C1DB0-5E1B-46FB-8B2F-BFCDB80125BC}"/>
              </a:ext>
            </a:extLst>
          </p:cNvPr>
          <p:cNvSpPr/>
          <p:nvPr/>
        </p:nvSpPr>
        <p:spPr>
          <a:xfrm>
            <a:off x="6400800" y="349300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Web Scraping — Scrapes live GMP from ipowatch.in</a:t>
            </a:r>
            <a:endParaRPr lang="en-US" sz="950" dirty="0"/>
          </a:p>
        </p:txBody>
      </p:sp>
      <p:sp>
        <p:nvSpPr>
          <p:cNvPr id="41" name="Shape 39">
            <a:extLst>
              <a:ext uri="{FF2B5EF4-FFF2-40B4-BE49-F238E27FC236}">
                <a16:creationId xmlns:a16="http://schemas.microsoft.com/office/drawing/2014/main" id="{FCA52F5F-CB56-0FB0-7E31-C106353C4C3C}"/>
              </a:ext>
            </a:extLst>
          </p:cNvPr>
          <p:cNvSpPr/>
          <p:nvPr/>
        </p:nvSpPr>
        <p:spPr>
          <a:xfrm>
            <a:off x="256032" y="408736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42" name="Shape 40">
            <a:extLst>
              <a:ext uri="{FF2B5EF4-FFF2-40B4-BE49-F238E27FC236}">
                <a16:creationId xmlns:a16="http://schemas.microsoft.com/office/drawing/2014/main" id="{A54A53CE-DFB3-9698-499F-B0BF1D31F016}"/>
              </a:ext>
            </a:extLst>
          </p:cNvPr>
          <p:cNvSpPr/>
          <p:nvPr/>
        </p:nvSpPr>
        <p:spPr>
          <a:xfrm>
            <a:off x="256032" y="4087368"/>
            <a:ext cx="228600" cy="804672"/>
          </a:xfrm>
          <a:prstGeom prst="rect">
            <a:avLst/>
          </a:prstGeom>
          <a:solidFill>
            <a:srgbClr val="8BC34A"/>
          </a:solidFill>
          <a:ln/>
        </p:spPr>
        <p:txBody>
          <a:bodyPr/>
          <a:lstStyle/>
          <a:p>
            <a:endParaRPr lang="en-IN"/>
          </a:p>
        </p:txBody>
      </p:sp>
      <p:sp>
        <p:nvSpPr>
          <p:cNvPr id="43" name="Text 41">
            <a:extLst>
              <a:ext uri="{FF2B5EF4-FFF2-40B4-BE49-F238E27FC236}">
                <a16:creationId xmlns:a16="http://schemas.microsoft.com/office/drawing/2014/main" id="{5FC5785C-D1A7-AB05-98B8-1973F6317D9E}"/>
              </a:ext>
            </a:extLst>
          </p:cNvPr>
          <p:cNvSpPr/>
          <p:nvPr/>
        </p:nvSpPr>
        <p:spPr>
          <a:xfrm>
            <a:off x="548640" y="413308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Pandas</a:t>
            </a:r>
            <a:endParaRPr lang="en-US" sz="1200" dirty="0"/>
          </a:p>
        </p:txBody>
      </p:sp>
      <p:sp>
        <p:nvSpPr>
          <p:cNvPr id="44" name="Text 42">
            <a:extLst>
              <a:ext uri="{FF2B5EF4-FFF2-40B4-BE49-F238E27FC236}">
                <a16:creationId xmlns:a16="http://schemas.microsoft.com/office/drawing/2014/main" id="{6B96D496-8DBF-5942-9151-5964C60B2E14}"/>
              </a:ext>
            </a:extLst>
          </p:cNvPr>
          <p:cNvSpPr/>
          <p:nvPr/>
        </p:nvSpPr>
        <p:spPr>
          <a:xfrm>
            <a:off x="548640" y="445312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Data Processing — Industry standard for financial data</a:t>
            </a:r>
            <a:endParaRPr lang="en-US" sz="950" dirty="0"/>
          </a:p>
        </p:txBody>
      </p:sp>
      <p:sp>
        <p:nvSpPr>
          <p:cNvPr id="45" name="Shape 43">
            <a:extLst>
              <a:ext uri="{FF2B5EF4-FFF2-40B4-BE49-F238E27FC236}">
                <a16:creationId xmlns:a16="http://schemas.microsoft.com/office/drawing/2014/main" id="{E4D7BEA7-B317-5E59-4370-5186C60C753C}"/>
              </a:ext>
            </a:extLst>
          </p:cNvPr>
          <p:cNvSpPr/>
          <p:nvPr/>
        </p:nvSpPr>
        <p:spPr>
          <a:xfrm>
            <a:off x="3182112" y="408736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46" name="Shape 44">
            <a:extLst>
              <a:ext uri="{FF2B5EF4-FFF2-40B4-BE49-F238E27FC236}">
                <a16:creationId xmlns:a16="http://schemas.microsoft.com/office/drawing/2014/main" id="{F4D76AC5-3CD5-27DB-B054-D2B63583376B}"/>
              </a:ext>
            </a:extLst>
          </p:cNvPr>
          <p:cNvSpPr/>
          <p:nvPr/>
        </p:nvSpPr>
        <p:spPr>
          <a:xfrm>
            <a:off x="3182112" y="4087368"/>
            <a:ext cx="228600" cy="804672"/>
          </a:xfrm>
          <a:prstGeom prst="rect">
            <a:avLst/>
          </a:prstGeom>
          <a:solidFill>
            <a:srgbClr val="EA4335"/>
          </a:solidFill>
          <a:ln/>
        </p:spPr>
        <p:txBody>
          <a:bodyPr/>
          <a:lstStyle/>
          <a:p>
            <a:endParaRPr lang="en-IN"/>
          </a:p>
        </p:txBody>
      </p:sp>
      <p:sp>
        <p:nvSpPr>
          <p:cNvPr id="47" name="Text 45">
            <a:extLst>
              <a:ext uri="{FF2B5EF4-FFF2-40B4-BE49-F238E27FC236}">
                <a16:creationId xmlns:a16="http://schemas.microsoft.com/office/drawing/2014/main" id="{C353B989-CC10-B910-3414-006B3B8DA131}"/>
              </a:ext>
            </a:extLst>
          </p:cNvPr>
          <p:cNvSpPr/>
          <p:nvPr/>
        </p:nvSpPr>
        <p:spPr>
          <a:xfrm>
            <a:off x="3474720" y="413308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Google News RSS</a:t>
            </a:r>
            <a:endParaRPr lang="en-US" sz="1200" dirty="0"/>
          </a:p>
        </p:txBody>
      </p:sp>
      <p:sp>
        <p:nvSpPr>
          <p:cNvPr id="48" name="Text 46">
            <a:extLst>
              <a:ext uri="{FF2B5EF4-FFF2-40B4-BE49-F238E27FC236}">
                <a16:creationId xmlns:a16="http://schemas.microsoft.com/office/drawing/2014/main" id="{76958DDC-6666-666B-C34D-6A41FCBD69D8}"/>
              </a:ext>
            </a:extLst>
          </p:cNvPr>
          <p:cNvSpPr/>
          <p:nvPr/>
        </p:nvSpPr>
        <p:spPr>
          <a:xfrm>
            <a:off x="3474720" y="445312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News Feed — Real-time, no API key needed</a:t>
            </a:r>
            <a:endParaRPr lang="en-US" sz="950" dirty="0"/>
          </a:p>
        </p:txBody>
      </p:sp>
      <p:sp>
        <p:nvSpPr>
          <p:cNvPr id="49" name="Shape 47">
            <a:extLst>
              <a:ext uri="{FF2B5EF4-FFF2-40B4-BE49-F238E27FC236}">
                <a16:creationId xmlns:a16="http://schemas.microsoft.com/office/drawing/2014/main" id="{86AE8558-A784-796D-F873-1C0D84F2DF09}"/>
              </a:ext>
            </a:extLst>
          </p:cNvPr>
          <p:cNvSpPr/>
          <p:nvPr/>
        </p:nvSpPr>
        <p:spPr>
          <a:xfrm>
            <a:off x="6108192" y="4087368"/>
            <a:ext cx="274320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50" name="Shape 48">
            <a:extLst>
              <a:ext uri="{FF2B5EF4-FFF2-40B4-BE49-F238E27FC236}">
                <a16:creationId xmlns:a16="http://schemas.microsoft.com/office/drawing/2014/main" id="{5743C947-689F-458E-0FC3-9564BFBDD2F6}"/>
              </a:ext>
            </a:extLst>
          </p:cNvPr>
          <p:cNvSpPr/>
          <p:nvPr/>
        </p:nvSpPr>
        <p:spPr>
          <a:xfrm>
            <a:off x="6108192" y="4087368"/>
            <a:ext cx="228600" cy="804672"/>
          </a:xfrm>
          <a:prstGeom prst="rect">
            <a:avLst/>
          </a:prstGeom>
          <a:solidFill>
            <a:srgbClr val="5C6BC0"/>
          </a:solidFill>
          <a:ln/>
        </p:spPr>
        <p:txBody>
          <a:bodyPr/>
          <a:lstStyle/>
          <a:p>
            <a:endParaRPr lang="en-IN"/>
          </a:p>
        </p:txBody>
      </p:sp>
      <p:sp>
        <p:nvSpPr>
          <p:cNvPr id="51" name="Text 49">
            <a:extLst>
              <a:ext uri="{FF2B5EF4-FFF2-40B4-BE49-F238E27FC236}">
                <a16:creationId xmlns:a16="http://schemas.microsoft.com/office/drawing/2014/main" id="{944AE218-0C45-BCC5-BE1D-338AA5CDA809}"/>
              </a:ext>
            </a:extLst>
          </p:cNvPr>
          <p:cNvSpPr/>
          <p:nvPr/>
        </p:nvSpPr>
        <p:spPr>
          <a:xfrm>
            <a:off x="6400800" y="4133088"/>
            <a:ext cx="2377440" cy="32004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AMFI API</a:t>
            </a:r>
            <a:endParaRPr lang="en-US" sz="1200" dirty="0"/>
          </a:p>
        </p:txBody>
      </p:sp>
      <p:sp>
        <p:nvSpPr>
          <p:cNvPr id="52" name="Text 50">
            <a:extLst>
              <a:ext uri="{FF2B5EF4-FFF2-40B4-BE49-F238E27FC236}">
                <a16:creationId xmlns:a16="http://schemas.microsoft.com/office/drawing/2014/main" id="{803399E1-4FC9-F3CA-B428-8F481320C44A}"/>
              </a:ext>
            </a:extLst>
          </p:cNvPr>
          <p:cNvSpPr/>
          <p:nvPr/>
        </p:nvSpPr>
        <p:spPr>
          <a:xfrm>
            <a:off x="6400800" y="4453128"/>
            <a:ext cx="2377440" cy="365760"/>
          </a:xfrm>
          <a:prstGeom prst="rect">
            <a:avLst/>
          </a:prstGeom>
          <a:noFill/>
          <a:ln/>
        </p:spPr>
        <p:txBody>
          <a:bodyPr wrap="square" rtlCol="0" anchor="ctr"/>
          <a:lstStyle/>
          <a:p>
            <a:pPr marL="0" indent="0">
              <a:buNone/>
            </a:pPr>
            <a:r>
              <a:rPr lang="en-US" sz="950" dirty="0">
                <a:solidFill>
                  <a:srgbClr val="4A5E82"/>
                </a:solidFill>
                <a:latin typeface="Calibri" pitchFamily="34" charset="0"/>
                <a:ea typeface="Calibri" pitchFamily="34" charset="-122"/>
                <a:cs typeface="Calibri" pitchFamily="34" charset="-120"/>
              </a:rPr>
              <a:t>Mutual Fund NAV — Official daily NAV source</a:t>
            </a:r>
            <a:endParaRPr lang="en-US" sz="950" dirty="0"/>
          </a:p>
        </p:txBody>
      </p:sp>
    </p:spTree>
    <p:extLst>
      <p:ext uri="{BB962C8B-B14F-4D97-AF65-F5344CB8AC3E}">
        <p14:creationId xmlns:p14="http://schemas.microsoft.com/office/powerpoint/2010/main" val="2754458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0F4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txBody>
          <a:bodyPr/>
          <a:lstStyle/>
          <a:p>
            <a:endParaRPr lang="en-IN" dirty="0"/>
          </a:p>
        </p:txBody>
      </p:sp>
      <p:sp>
        <p:nvSpPr>
          <p:cNvPr id="3" name="Shape 1"/>
          <p:cNvSpPr/>
          <p:nvPr/>
        </p:nvSpPr>
        <p:spPr>
          <a:xfrm>
            <a:off x="0" y="1005840"/>
            <a:ext cx="9144000" cy="54864"/>
          </a:xfrm>
          <a:prstGeom prst="rect">
            <a:avLst/>
          </a:prstGeom>
          <a:solidFill>
            <a:srgbClr val="00C896"/>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rPr>
              <a:t>Methodology Flowchart</a:t>
            </a:r>
            <a:endParaRPr lang="en-US" sz="3000" dirty="0"/>
          </a:p>
        </p:txBody>
      </p:sp>
      <p:pic>
        <p:nvPicPr>
          <p:cNvPr id="6" name="Picture 5">
            <a:extLst>
              <a:ext uri="{FF2B5EF4-FFF2-40B4-BE49-F238E27FC236}">
                <a16:creationId xmlns:a16="http://schemas.microsoft.com/office/drawing/2014/main" id="{2B27896B-8625-3A8F-076C-40539587D0B0}"/>
              </a:ext>
            </a:extLst>
          </p:cNvPr>
          <p:cNvPicPr>
            <a:picLocks noChangeAspect="1"/>
          </p:cNvPicPr>
          <p:nvPr/>
        </p:nvPicPr>
        <p:blipFill>
          <a:blip r:embed="rId3"/>
          <a:stretch>
            <a:fillRect/>
          </a:stretch>
        </p:blipFill>
        <p:spPr>
          <a:xfrm>
            <a:off x="1981381" y="1178168"/>
            <a:ext cx="4672539" cy="35358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a:extLst>
            <a:ext uri="{FF2B5EF4-FFF2-40B4-BE49-F238E27FC236}">
              <a16:creationId xmlns:a16="http://schemas.microsoft.com/office/drawing/2014/main" id="{6C41DCA8-28F1-1527-BCD6-FB14215AC0B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49CB8F-4593-213A-162A-B3485306F401}"/>
              </a:ext>
            </a:extLst>
          </p:cNvPr>
          <p:cNvSpPr/>
          <p:nvPr/>
        </p:nvSpPr>
        <p:spPr>
          <a:xfrm>
            <a:off x="0" y="0"/>
            <a:ext cx="9144000" cy="1005840"/>
          </a:xfrm>
          <a:prstGeom prst="rect">
            <a:avLst/>
          </a:prstGeom>
          <a:solidFill>
            <a:srgbClr val="0A1628"/>
          </a:solidFill>
          <a:ln/>
        </p:spPr>
        <p:txBody>
          <a:bodyPr/>
          <a:lstStyle/>
          <a:p>
            <a:endParaRPr lang="en-IN"/>
          </a:p>
        </p:txBody>
      </p:sp>
      <p:sp>
        <p:nvSpPr>
          <p:cNvPr id="3" name="Shape 1">
            <a:extLst>
              <a:ext uri="{FF2B5EF4-FFF2-40B4-BE49-F238E27FC236}">
                <a16:creationId xmlns:a16="http://schemas.microsoft.com/office/drawing/2014/main" id="{8CF575E7-C341-7C0B-851F-30788CD7DDF7}"/>
              </a:ext>
            </a:extLst>
          </p:cNvPr>
          <p:cNvSpPr/>
          <p:nvPr/>
        </p:nvSpPr>
        <p:spPr>
          <a:xfrm>
            <a:off x="0" y="1005840"/>
            <a:ext cx="9144000" cy="54864"/>
          </a:xfrm>
          <a:prstGeom prst="rect">
            <a:avLst/>
          </a:prstGeom>
          <a:solidFill>
            <a:srgbClr val="00C896"/>
          </a:solidFill>
          <a:ln/>
        </p:spPr>
        <p:txBody>
          <a:bodyPr/>
          <a:lstStyle/>
          <a:p>
            <a:endParaRPr lang="en-IN"/>
          </a:p>
        </p:txBody>
      </p:sp>
      <p:sp>
        <p:nvSpPr>
          <p:cNvPr id="4" name="Text 2">
            <a:extLst>
              <a:ext uri="{FF2B5EF4-FFF2-40B4-BE49-F238E27FC236}">
                <a16:creationId xmlns:a16="http://schemas.microsoft.com/office/drawing/2014/main" id="{A45CE134-40FB-CF69-FABF-1B9C2428CE24}"/>
              </a:ext>
            </a:extLst>
          </p:cNvPr>
          <p:cNvSpPr/>
          <p:nvPr/>
        </p:nvSpPr>
        <p:spPr>
          <a:xfrm>
            <a:off x="365760" y="109728"/>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rPr>
              <a:t>Literature Review</a:t>
            </a:r>
            <a:endParaRPr lang="en-US" sz="3000" dirty="0"/>
          </a:p>
        </p:txBody>
      </p:sp>
      <p:sp>
        <p:nvSpPr>
          <p:cNvPr id="24" name="Text 22">
            <a:extLst>
              <a:ext uri="{FF2B5EF4-FFF2-40B4-BE49-F238E27FC236}">
                <a16:creationId xmlns:a16="http://schemas.microsoft.com/office/drawing/2014/main" id="{BF479559-A2D6-0F0E-299A-DCE591B0FC50}"/>
              </a:ext>
            </a:extLst>
          </p:cNvPr>
          <p:cNvSpPr/>
          <p:nvPr/>
        </p:nvSpPr>
        <p:spPr>
          <a:xfrm>
            <a:off x="411480" y="3520440"/>
            <a:ext cx="2468880" cy="1188720"/>
          </a:xfrm>
          <a:prstGeom prst="rect">
            <a:avLst/>
          </a:prstGeom>
          <a:noFill/>
          <a:ln/>
        </p:spPr>
        <p:txBody>
          <a:bodyPr wrap="square" rtlCol="0" anchor="ctr"/>
          <a:lstStyle/>
          <a:p>
            <a:pPr marL="0" indent="0">
              <a:buNone/>
            </a:pPr>
            <a:endParaRPr lang="en-US" sz="1100" dirty="0"/>
          </a:p>
        </p:txBody>
      </p:sp>
      <p:graphicFrame>
        <p:nvGraphicFramePr>
          <p:cNvPr id="36" name="Table 35">
            <a:extLst>
              <a:ext uri="{FF2B5EF4-FFF2-40B4-BE49-F238E27FC236}">
                <a16:creationId xmlns:a16="http://schemas.microsoft.com/office/drawing/2014/main" id="{11A7596A-1DD1-076E-CCEA-D630D0F8B86A}"/>
              </a:ext>
            </a:extLst>
          </p:cNvPr>
          <p:cNvGraphicFramePr>
            <a:graphicFrameLocks noGrp="1"/>
          </p:cNvGraphicFramePr>
          <p:nvPr>
            <p:extLst>
              <p:ext uri="{D42A27DB-BD31-4B8C-83A1-F6EECF244321}">
                <p14:modId xmlns:p14="http://schemas.microsoft.com/office/powerpoint/2010/main" val="448802847"/>
              </p:ext>
            </p:extLst>
          </p:nvPr>
        </p:nvGraphicFramePr>
        <p:xfrm>
          <a:off x="128955" y="1219200"/>
          <a:ext cx="6090137" cy="3786554"/>
        </p:xfrm>
        <a:graphic>
          <a:graphicData uri="http://schemas.openxmlformats.org/drawingml/2006/table">
            <a:tbl>
              <a:tblPr>
                <a:tableStyleId>{69C7853C-536D-4A76-A0AE-DD22124D55A5}</a:tableStyleId>
              </a:tblPr>
              <a:tblGrid>
                <a:gridCol w="540581">
                  <a:extLst>
                    <a:ext uri="{9D8B030D-6E8A-4147-A177-3AD203B41FA5}">
                      <a16:colId xmlns:a16="http://schemas.microsoft.com/office/drawing/2014/main" val="3619425491"/>
                    </a:ext>
                  </a:extLst>
                </a:gridCol>
                <a:gridCol w="1515560">
                  <a:extLst>
                    <a:ext uri="{9D8B030D-6E8A-4147-A177-3AD203B41FA5}">
                      <a16:colId xmlns:a16="http://schemas.microsoft.com/office/drawing/2014/main" val="3174711058"/>
                    </a:ext>
                  </a:extLst>
                </a:gridCol>
                <a:gridCol w="2388019">
                  <a:extLst>
                    <a:ext uri="{9D8B030D-6E8A-4147-A177-3AD203B41FA5}">
                      <a16:colId xmlns:a16="http://schemas.microsoft.com/office/drawing/2014/main" val="368758185"/>
                    </a:ext>
                  </a:extLst>
                </a:gridCol>
                <a:gridCol w="1645977">
                  <a:extLst>
                    <a:ext uri="{9D8B030D-6E8A-4147-A177-3AD203B41FA5}">
                      <a16:colId xmlns:a16="http://schemas.microsoft.com/office/drawing/2014/main" val="3115160800"/>
                    </a:ext>
                  </a:extLst>
                </a:gridCol>
              </a:tblGrid>
              <a:tr h="326195">
                <a:tc>
                  <a:txBody>
                    <a:bodyPr/>
                    <a:lstStyle/>
                    <a:p>
                      <a:pPr>
                        <a:buNone/>
                      </a:pPr>
                      <a:r>
                        <a:rPr lang="en-IN" sz="900" b="1" dirty="0"/>
                        <a:t>      </a:t>
                      </a:r>
                      <a:r>
                        <a:rPr lang="en-IN" sz="900" b="1" dirty="0">
                          <a:solidFill>
                            <a:schemeClr val="bg2"/>
                          </a:solidFill>
                        </a:rPr>
                        <a:t>Year</a:t>
                      </a:r>
                    </a:p>
                  </a:txBody>
                  <a:tcPr marL="16230" marR="16230" marT="8115" marB="8115" anchor="ctr">
                    <a:solidFill>
                      <a:schemeClr val="tx1"/>
                    </a:solidFill>
                  </a:tcPr>
                </a:tc>
                <a:tc>
                  <a:txBody>
                    <a:bodyPr/>
                    <a:lstStyle/>
                    <a:p>
                      <a:pPr>
                        <a:buNone/>
                      </a:pPr>
                      <a:r>
                        <a:rPr lang="en-IN" sz="900" b="1" dirty="0">
                          <a:solidFill>
                            <a:schemeClr val="bg2"/>
                          </a:solidFill>
                        </a:rPr>
                        <a:t>        Research Paper Title</a:t>
                      </a:r>
                    </a:p>
                  </a:txBody>
                  <a:tcPr marL="16230" marR="16230" marT="8115" marB="8115" anchor="ctr">
                    <a:solidFill>
                      <a:schemeClr val="accent1"/>
                    </a:solidFill>
                  </a:tcPr>
                </a:tc>
                <a:tc>
                  <a:txBody>
                    <a:bodyPr/>
                    <a:lstStyle/>
                    <a:p>
                      <a:pPr>
                        <a:buNone/>
                      </a:pPr>
                      <a:r>
                        <a:rPr lang="en-US" sz="900" b="1" dirty="0">
                          <a:solidFill>
                            <a:schemeClr val="bg2"/>
                          </a:solidFill>
                        </a:rPr>
                        <a:t>                       Main Idea / Relation to Project</a:t>
                      </a:r>
                    </a:p>
                  </a:txBody>
                  <a:tcPr marL="16230" marR="16230" marT="8115" marB="8115" anchor="ctr">
                    <a:solidFill>
                      <a:schemeClr val="accent1">
                        <a:lumMod val="75000"/>
                      </a:schemeClr>
                    </a:solidFill>
                  </a:tcPr>
                </a:tc>
                <a:tc>
                  <a:txBody>
                    <a:bodyPr/>
                    <a:lstStyle/>
                    <a:p>
                      <a:pPr>
                        <a:buNone/>
                      </a:pPr>
                      <a:r>
                        <a:rPr lang="en-IN" sz="900" b="1" dirty="0">
                          <a:solidFill>
                            <a:schemeClr val="bg2"/>
                          </a:solidFill>
                        </a:rPr>
                        <a:t>  Key Technology / Method Used</a:t>
                      </a:r>
                    </a:p>
                  </a:txBody>
                  <a:tcPr marL="16230" marR="16230" marT="8115" marB="8115" anchor="ctr">
                    <a:solidFill>
                      <a:srgbClr val="7030A0"/>
                    </a:solidFill>
                  </a:tcPr>
                </a:tc>
                <a:extLst>
                  <a:ext uri="{0D108BD9-81ED-4DB2-BD59-A6C34878D82A}">
                    <a16:rowId xmlns:a16="http://schemas.microsoft.com/office/drawing/2014/main" val="2031789047"/>
                  </a:ext>
                </a:extLst>
              </a:tr>
              <a:tr h="689806">
                <a:tc>
                  <a:txBody>
                    <a:bodyPr/>
                    <a:lstStyle/>
                    <a:p>
                      <a:pPr>
                        <a:buNone/>
                      </a:pPr>
                      <a:r>
                        <a:rPr lang="en-IN" sz="900" dirty="0"/>
                        <a:t>     2020</a:t>
                      </a:r>
                    </a:p>
                  </a:txBody>
                  <a:tcPr marL="16230" marR="16230" marT="8115" marB="8115" anchor="ctr"/>
                </a:tc>
                <a:tc>
                  <a:txBody>
                    <a:bodyPr/>
                    <a:lstStyle/>
                    <a:p>
                      <a:pPr>
                        <a:buNone/>
                      </a:pPr>
                      <a:r>
                        <a:rPr lang="en-US" sz="900" dirty="0"/>
                        <a:t>“Stock Price Prediction Using Machine Learning and LSTM-Based Deep Learning Models”</a:t>
                      </a:r>
                    </a:p>
                  </a:txBody>
                  <a:tcPr marL="16230" marR="16230" marT="8115" marB="8115" anchor="ctr"/>
                </a:tc>
                <a:tc>
                  <a:txBody>
                    <a:bodyPr/>
                    <a:lstStyle/>
                    <a:p>
                      <a:pPr>
                        <a:buNone/>
                      </a:pPr>
                      <a:r>
                        <a:rPr lang="en-US" sz="900" dirty="0"/>
                        <a:t>This paper predicts Indian stock prices using NIFTY 50 data. It is useful for your Stock Intelligence Hub because it shows how AI and deep learning can generate stock recommendations. (</a:t>
                      </a:r>
                      <a:r>
                        <a:rPr lang="en-US" sz="900" dirty="0" err="1">
                          <a:hlinkClick r:id="rId3" tooltip="Stock Price Prediction Using Machine Learning and LSTM-Based Deep Learning Models"/>
                        </a:rPr>
                        <a:t>arXiv</a:t>
                      </a:r>
                      <a:r>
                        <a:rPr lang="en-US" sz="900" dirty="0"/>
                        <a:t>)</a:t>
                      </a:r>
                    </a:p>
                  </a:txBody>
                  <a:tcPr marL="16230" marR="16230" marT="8115" marB="8115" anchor="ctr"/>
                </a:tc>
                <a:tc>
                  <a:txBody>
                    <a:bodyPr/>
                    <a:lstStyle/>
                    <a:p>
                      <a:pPr>
                        <a:buNone/>
                      </a:pPr>
                      <a:r>
                        <a:rPr lang="en-US" sz="900"/>
                        <a:t>LSTM, Machine Learning, NIFTY 50 data</a:t>
                      </a:r>
                    </a:p>
                  </a:txBody>
                  <a:tcPr marL="16230" marR="16230" marT="8115" marB="8115" anchor="ctr"/>
                </a:tc>
                <a:extLst>
                  <a:ext uri="{0D108BD9-81ED-4DB2-BD59-A6C34878D82A}">
                    <a16:rowId xmlns:a16="http://schemas.microsoft.com/office/drawing/2014/main" val="741093193"/>
                  </a:ext>
                </a:extLst>
              </a:tr>
              <a:tr h="715583">
                <a:tc>
                  <a:txBody>
                    <a:bodyPr/>
                    <a:lstStyle/>
                    <a:p>
                      <a:pPr>
                        <a:buNone/>
                      </a:pPr>
                      <a:r>
                        <a:rPr lang="en-IN" sz="900" dirty="0"/>
                        <a:t>    2021</a:t>
                      </a:r>
                    </a:p>
                  </a:txBody>
                  <a:tcPr marL="16230" marR="16230" marT="8115" marB="8115" anchor="ctr"/>
                </a:tc>
                <a:tc>
                  <a:txBody>
                    <a:bodyPr/>
                    <a:lstStyle/>
                    <a:p>
                      <a:pPr>
                        <a:buNone/>
                      </a:pPr>
                      <a:r>
                        <a:rPr lang="en-US" sz="900"/>
                        <a:t>“Effectiveness of Artificial Intelligence in Stock Market Prediction based on Machine Learning”</a:t>
                      </a:r>
                    </a:p>
                  </a:txBody>
                  <a:tcPr marL="16230" marR="16230" marT="8115" marB="8115" anchor="ctr"/>
                </a:tc>
                <a:tc>
                  <a:txBody>
                    <a:bodyPr/>
                    <a:lstStyle/>
                    <a:p>
                      <a:pPr>
                        <a:buNone/>
                      </a:pPr>
                      <a:r>
                        <a:rPr lang="en-US" sz="900" dirty="0"/>
                        <a:t>This paper studies how AI can combine technical analysis and sentiment analysis from news and Twitter for stock prediction. It supports your News Sentiment + AI recommendation module. (</a:t>
                      </a:r>
                      <a:r>
                        <a:rPr lang="en-US" sz="900" dirty="0" err="1">
                          <a:hlinkClick r:id="rId4" tooltip="Effectiveness of Artificial Intelligence in Stock Market Prediction based on Machine Learning"/>
                        </a:rPr>
                        <a:t>arXiv</a:t>
                      </a:r>
                      <a:r>
                        <a:rPr lang="en-US" sz="900" dirty="0"/>
                        <a:t>)</a:t>
                      </a:r>
                    </a:p>
                  </a:txBody>
                  <a:tcPr marL="16230" marR="16230" marT="8115" marB="8115" anchor="ctr"/>
                </a:tc>
                <a:tc>
                  <a:txBody>
                    <a:bodyPr/>
                    <a:lstStyle/>
                    <a:p>
                      <a:pPr>
                        <a:buNone/>
                      </a:pPr>
                      <a:r>
                        <a:rPr lang="en-US" sz="900" dirty="0"/>
                        <a:t>Machine Learning, Twitter Sentiment, Technical + Fundamental Analysis</a:t>
                      </a:r>
                    </a:p>
                  </a:txBody>
                  <a:tcPr marL="16230" marR="16230" marT="8115" marB="8115" anchor="ctr"/>
                </a:tc>
                <a:extLst>
                  <a:ext uri="{0D108BD9-81ED-4DB2-BD59-A6C34878D82A}">
                    <a16:rowId xmlns:a16="http://schemas.microsoft.com/office/drawing/2014/main" val="604886694"/>
                  </a:ext>
                </a:extLst>
              </a:tr>
              <a:tr h="715583">
                <a:tc>
                  <a:txBody>
                    <a:bodyPr/>
                    <a:lstStyle/>
                    <a:p>
                      <a:pPr>
                        <a:buNone/>
                      </a:pPr>
                      <a:r>
                        <a:rPr lang="en-IN" sz="900" dirty="0"/>
                        <a:t>    2022</a:t>
                      </a:r>
                    </a:p>
                  </a:txBody>
                  <a:tcPr marL="16230" marR="16230" marT="8115" marB="8115" anchor="ctr"/>
                </a:tc>
                <a:tc>
                  <a:txBody>
                    <a:bodyPr/>
                    <a:lstStyle/>
                    <a:p>
                      <a:pPr>
                        <a:buNone/>
                      </a:pPr>
                      <a:r>
                        <a:rPr lang="en-US" sz="900" dirty="0"/>
                        <a:t>“Stock Price Prediction using Sentiment Analysis and Deep Learning”</a:t>
                      </a:r>
                    </a:p>
                  </a:txBody>
                  <a:tcPr marL="16230" marR="16230" marT="8115" marB="8115" anchor="ctr"/>
                </a:tc>
                <a:tc>
                  <a:txBody>
                    <a:bodyPr/>
                    <a:lstStyle/>
                    <a:p>
                      <a:pPr>
                        <a:buNone/>
                      </a:pPr>
                      <a:r>
                        <a:rPr lang="en-US" sz="900"/>
                        <a:t>This research combines historical stock prices with sentiment analysis and deep learning to improve prediction accuracy. It is closely related to your News Sentiment Analysis feature. (</a:t>
                      </a:r>
                      <a:r>
                        <a:rPr lang="en-US" sz="900">
                          <a:hlinkClick r:id="rId5" tooltip="Stock Price Prediction using Sentiment Analysis and Deep ..."/>
                        </a:rPr>
                        <a:t>arXiv</a:t>
                      </a:r>
                      <a:r>
                        <a:rPr lang="en-US" sz="900"/>
                        <a:t>)</a:t>
                      </a:r>
                    </a:p>
                  </a:txBody>
                  <a:tcPr marL="16230" marR="16230" marT="8115" marB="8115" anchor="ctr"/>
                </a:tc>
                <a:tc>
                  <a:txBody>
                    <a:bodyPr/>
                    <a:lstStyle/>
                    <a:p>
                      <a:pPr>
                        <a:buNone/>
                      </a:pPr>
                      <a:r>
                        <a:rPr lang="en-US" sz="900"/>
                        <a:t>Deep Learning, LSTM, Sentiment Analysis</a:t>
                      </a:r>
                    </a:p>
                  </a:txBody>
                  <a:tcPr marL="16230" marR="16230" marT="8115" marB="8115" anchor="ctr"/>
                </a:tc>
                <a:extLst>
                  <a:ext uri="{0D108BD9-81ED-4DB2-BD59-A6C34878D82A}">
                    <a16:rowId xmlns:a16="http://schemas.microsoft.com/office/drawing/2014/main" val="3351979763"/>
                  </a:ext>
                </a:extLst>
              </a:tr>
              <a:tr h="608246">
                <a:tc>
                  <a:txBody>
                    <a:bodyPr/>
                    <a:lstStyle/>
                    <a:p>
                      <a:pPr>
                        <a:buNone/>
                      </a:pPr>
                      <a:r>
                        <a:rPr lang="en-IN" sz="900" dirty="0"/>
                        <a:t>    2024</a:t>
                      </a:r>
                    </a:p>
                  </a:txBody>
                  <a:tcPr marL="16230" marR="16230" marT="8115" marB="8115" anchor="ctr"/>
                </a:tc>
                <a:tc>
                  <a:txBody>
                    <a:bodyPr/>
                    <a:lstStyle/>
                    <a:p>
                      <a:pPr>
                        <a:buNone/>
                      </a:pPr>
                      <a:r>
                        <a:rPr lang="en-US" sz="900"/>
                        <a:t>“Indian Stock Market Prediction using Augmented Financial Intelligence ML”</a:t>
                      </a:r>
                    </a:p>
                  </a:txBody>
                  <a:tcPr marL="16230" marR="16230" marT="8115" marB="8115" anchor="ctr"/>
                </a:tc>
                <a:tc>
                  <a:txBody>
                    <a:bodyPr/>
                    <a:lstStyle/>
                    <a:p>
                      <a:pPr>
                        <a:buNone/>
                      </a:pPr>
                      <a:r>
                        <a:rPr lang="en-US" sz="900"/>
                        <a:t>This paper predicts Indian stock prices using ML models along with human intelligence and forecasting. It matches your Agentic AI and Smart Money Tracker concept. (</a:t>
                      </a:r>
                      <a:r>
                        <a:rPr lang="en-US" sz="900">
                          <a:hlinkClick r:id="rId6" tooltip="Indian Stock Market Prediction using Augmented Financial Intelligence ML"/>
                        </a:rPr>
                        <a:t>arXiv</a:t>
                      </a:r>
                      <a:r>
                        <a:rPr lang="en-US" sz="900"/>
                        <a:t>)</a:t>
                      </a:r>
                    </a:p>
                  </a:txBody>
                  <a:tcPr marL="16230" marR="16230" marT="8115" marB="8115" anchor="ctr"/>
                </a:tc>
                <a:tc>
                  <a:txBody>
                    <a:bodyPr/>
                    <a:lstStyle/>
                    <a:p>
                      <a:pPr>
                        <a:buNone/>
                      </a:pPr>
                      <a:r>
                        <a:rPr lang="en-IN" sz="900"/>
                        <a:t>Bidirectional LSTM, CNN-LSTM, GRU, Human Intelligence</a:t>
                      </a:r>
                    </a:p>
                  </a:txBody>
                  <a:tcPr marL="16230" marR="16230" marT="8115" marB="8115" anchor="ctr"/>
                </a:tc>
                <a:extLst>
                  <a:ext uri="{0D108BD9-81ED-4DB2-BD59-A6C34878D82A}">
                    <a16:rowId xmlns:a16="http://schemas.microsoft.com/office/drawing/2014/main" val="2279944514"/>
                  </a:ext>
                </a:extLst>
              </a:tr>
              <a:tr h="731141">
                <a:tc>
                  <a:txBody>
                    <a:bodyPr/>
                    <a:lstStyle/>
                    <a:p>
                      <a:pPr>
                        <a:buNone/>
                      </a:pPr>
                      <a:r>
                        <a:rPr lang="en-IN" sz="900" dirty="0"/>
                        <a:t>    2025</a:t>
                      </a:r>
                    </a:p>
                  </a:txBody>
                  <a:tcPr marL="16230" marR="16230" marT="8115" marB="8115" anchor="ctr"/>
                </a:tc>
                <a:tc>
                  <a:txBody>
                    <a:bodyPr/>
                    <a:lstStyle/>
                    <a:p>
                      <a:pPr>
                        <a:buNone/>
                      </a:pPr>
                      <a:r>
                        <a:rPr lang="en-US" sz="900"/>
                        <a:t>“The Effectiveness of AI in Predicting Stock Market Trends: A Comparative Study of the Last Few Years of Indian Markets”</a:t>
                      </a:r>
                    </a:p>
                  </a:txBody>
                  <a:tcPr marL="16230" marR="16230" marT="8115" marB="8115" anchor="ctr"/>
                </a:tc>
                <a:tc>
                  <a:txBody>
                    <a:bodyPr/>
                    <a:lstStyle/>
                    <a:p>
                      <a:pPr>
                        <a:buNone/>
                      </a:pPr>
                      <a:r>
                        <a:rPr lang="en-US" sz="900" dirty="0"/>
                        <a:t>This paper compares different AI models used in the Indian stock market from 2018–2023. It is highly relevant because your project also compares and combines multiple AI methods for stock prediction. (</a:t>
                      </a:r>
                      <a:r>
                        <a:rPr lang="en-US" sz="900" dirty="0">
                          <a:hlinkClick r:id="rId7" tooltip="the effectiveness of ai in predicting stock market trends"/>
                        </a:rPr>
                        <a:t>ResearchGate</a:t>
                      </a:r>
                      <a:r>
                        <a:rPr lang="en-US" sz="900" dirty="0"/>
                        <a:t>)</a:t>
                      </a:r>
                    </a:p>
                  </a:txBody>
                  <a:tcPr marL="16230" marR="16230" marT="8115" marB="8115" anchor="ctr"/>
                </a:tc>
                <a:tc>
                  <a:txBody>
                    <a:bodyPr/>
                    <a:lstStyle/>
                    <a:p>
                      <a:pPr>
                        <a:buNone/>
                      </a:pPr>
                      <a:r>
                        <a:rPr lang="en-IN" sz="900" dirty="0"/>
                        <a:t>AI Models, Comparative Study, Indian NSE/BSE Market</a:t>
                      </a:r>
                    </a:p>
                  </a:txBody>
                  <a:tcPr marL="16230" marR="16230" marT="8115" marB="8115" anchor="ctr"/>
                </a:tc>
                <a:extLst>
                  <a:ext uri="{0D108BD9-81ED-4DB2-BD59-A6C34878D82A}">
                    <a16:rowId xmlns:a16="http://schemas.microsoft.com/office/drawing/2014/main" val="2330570430"/>
                  </a:ext>
                </a:extLst>
              </a:tr>
            </a:tbl>
          </a:graphicData>
        </a:graphic>
      </p:graphicFrame>
      <p:graphicFrame>
        <p:nvGraphicFramePr>
          <p:cNvPr id="5" name="Table 4">
            <a:extLst>
              <a:ext uri="{FF2B5EF4-FFF2-40B4-BE49-F238E27FC236}">
                <a16:creationId xmlns:a16="http://schemas.microsoft.com/office/drawing/2014/main" id="{3244D774-577F-0BEC-FC08-548F3F780949}"/>
              </a:ext>
            </a:extLst>
          </p:cNvPr>
          <p:cNvGraphicFramePr>
            <a:graphicFrameLocks noGrp="1"/>
          </p:cNvGraphicFramePr>
          <p:nvPr>
            <p:extLst>
              <p:ext uri="{D42A27DB-BD31-4B8C-83A1-F6EECF244321}">
                <p14:modId xmlns:p14="http://schemas.microsoft.com/office/powerpoint/2010/main" val="2320552462"/>
              </p:ext>
            </p:extLst>
          </p:nvPr>
        </p:nvGraphicFramePr>
        <p:xfrm>
          <a:off x="6453555" y="1219199"/>
          <a:ext cx="2567354" cy="3768969"/>
        </p:xfrm>
        <a:graphic>
          <a:graphicData uri="http://schemas.openxmlformats.org/drawingml/2006/table">
            <a:tbl>
              <a:tblPr>
                <a:tableStyleId>{69C7853C-536D-4A76-A0AE-DD22124D55A5}</a:tableStyleId>
              </a:tblPr>
              <a:tblGrid>
                <a:gridCol w="448520">
                  <a:extLst>
                    <a:ext uri="{9D8B030D-6E8A-4147-A177-3AD203B41FA5}">
                      <a16:colId xmlns:a16="http://schemas.microsoft.com/office/drawing/2014/main" val="539644775"/>
                    </a:ext>
                  </a:extLst>
                </a:gridCol>
                <a:gridCol w="2118834">
                  <a:extLst>
                    <a:ext uri="{9D8B030D-6E8A-4147-A177-3AD203B41FA5}">
                      <a16:colId xmlns:a16="http://schemas.microsoft.com/office/drawing/2014/main" val="2985956081"/>
                    </a:ext>
                  </a:extLst>
                </a:gridCol>
              </a:tblGrid>
              <a:tr h="310756">
                <a:tc>
                  <a:txBody>
                    <a:bodyPr/>
                    <a:lstStyle/>
                    <a:p>
                      <a:pPr>
                        <a:buNone/>
                      </a:pPr>
                      <a:r>
                        <a:rPr lang="en-IN" sz="1000" b="1" dirty="0">
                          <a:solidFill>
                            <a:schemeClr val="bg2"/>
                          </a:solidFill>
                        </a:rPr>
                        <a:t>     S.N </a:t>
                      </a:r>
                    </a:p>
                  </a:txBody>
                  <a:tcPr marL="14062" marR="14062" marT="7031" marB="7031" anchor="ctr">
                    <a:solidFill>
                      <a:schemeClr val="tx1"/>
                    </a:solidFill>
                  </a:tcPr>
                </a:tc>
                <a:tc>
                  <a:txBody>
                    <a:bodyPr/>
                    <a:lstStyle/>
                    <a:p>
                      <a:pPr>
                        <a:buNone/>
                      </a:pPr>
                      <a:r>
                        <a:rPr lang="en-IN" sz="1000" b="1">
                          <a:solidFill>
                            <a:schemeClr val="bg2"/>
                          </a:solidFill>
                        </a:rPr>
                        <a:t>                    Research Gap</a:t>
                      </a:r>
                      <a:endParaRPr lang="en-IN" sz="1000" b="1" dirty="0">
                        <a:solidFill>
                          <a:schemeClr val="bg2"/>
                        </a:solidFill>
                      </a:endParaRPr>
                    </a:p>
                  </a:txBody>
                  <a:tcPr marL="14062" marR="14062" marT="7031" marB="7031" anchor="ctr">
                    <a:solidFill>
                      <a:schemeClr val="accent2"/>
                    </a:solidFill>
                  </a:tcPr>
                </a:tc>
                <a:extLst>
                  <a:ext uri="{0D108BD9-81ED-4DB2-BD59-A6C34878D82A}">
                    <a16:rowId xmlns:a16="http://schemas.microsoft.com/office/drawing/2014/main" val="2673250524"/>
                  </a:ext>
                </a:extLst>
              </a:tr>
              <a:tr h="515699">
                <a:tc>
                  <a:txBody>
                    <a:bodyPr/>
                    <a:lstStyle/>
                    <a:p>
                      <a:pPr>
                        <a:buNone/>
                      </a:pPr>
                      <a:r>
                        <a:rPr lang="en-IN" sz="900" dirty="0"/>
                        <a:t>        1</a:t>
                      </a:r>
                    </a:p>
                  </a:txBody>
                  <a:tcPr marL="14062" marR="14062" marT="7031" marB="7031" anchor="ctr"/>
                </a:tc>
                <a:tc>
                  <a:txBody>
                    <a:bodyPr/>
                    <a:lstStyle/>
                    <a:p>
                      <a:pPr>
                        <a:buNone/>
                      </a:pPr>
                      <a:r>
                        <a:rPr lang="en-IN" sz="900" dirty="0"/>
                        <a:t>No Unified Multi-Signal Intelligence System</a:t>
                      </a:r>
                    </a:p>
                  </a:txBody>
                  <a:tcPr marL="14062" marR="14062" marT="7031" marB="7031" anchor="ctr"/>
                </a:tc>
                <a:extLst>
                  <a:ext uri="{0D108BD9-81ED-4DB2-BD59-A6C34878D82A}">
                    <a16:rowId xmlns:a16="http://schemas.microsoft.com/office/drawing/2014/main" val="3323893563"/>
                  </a:ext>
                </a:extLst>
              </a:tr>
              <a:tr h="333687">
                <a:tc>
                  <a:txBody>
                    <a:bodyPr/>
                    <a:lstStyle/>
                    <a:p>
                      <a:pPr>
                        <a:buNone/>
                      </a:pPr>
                      <a:r>
                        <a:rPr lang="en-IN" sz="900"/>
                        <a:t>        2</a:t>
                      </a:r>
                      <a:endParaRPr lang="en-IN" sz="900" dirty="0"/>
                    </a:p>
                  </a:txBody>
                  <a:tcPr marL="14062" marR="14062" marT="7031" marB="7031" anchor="ctr"/>
                </a:tc>
                <a:tc>
                  <a:txBody>
                    <a:bodyPr/>
                    <a:lstStyle/>
                    <a:p>
                      <a:pPr>
                        <a:buNone/>
                      </a:pPr>
                      <a:r>
                        <a:rPr lang="en-US" sz="900" dirty="0"/>
                        <a:t>Lack of Explainable Decision Systems</a:t>
                      </a:r>
                    </a:p>
                  </a:txBody>
                  <a:tcPr marL="14062" marR="14062" marT="7031" marB="7031" anchor="ctr"/>
                </a:tc>
                <a:extLst>
                  <a:ext uri="{0D108BD9-81ED-4DB2-BD59-A6C34878D82A}">
                    <a16:rowId xmlns:a16="http://schemas.microsoft.com/office/drawing/2014/main" val="3716517175"/>
                  </a:ext>
                </a:extLst>
              </a:tr>
              <a:tr h="333687">
                <a:tc>
                  <a:txBody>
                    <a:bodyPr/>
                    <a:lstStyle/>
                    <a:p>
                      <a:pPr>
                        <a:buNone/>
                      </a:pPr>
                      <a:r>
                        <a:rPr lang="en-IN" sz="900"/>
                        <a:t>        3</a:t>
                      </a:r>
                      <a:endParaRPr lang="en-IN" sz="900" dirty="0"/>
                    </a:p>
                  </a:txBody>
                  <a:tcPr marL="14062" marR="14062" marT="7031" marB="7031" anchor="ctr"/>
                </a:tc>
                <a:tc>
                  <a:txBody>
                    <a:bodyPr/>
                    <a:lstStyle/>
                    <a:p>
                      <a:pPr>
                        <a:buNone/>
                      </a:pPr>
                      <a:r>
                        <a:rPr lang="en-US" sz="900" dirty="0"/>
                        <a:t>Fake News Impact is Ignored</a:t>
                      </a:r>
                    </a:p>
                  </a:txBody>
                  <a:tcPr marL="14062" marR="14062" marT="7031" marB="7031" anchor="ctr"/>
                </a:tc>
                <a:extLst>
                  <a:ext uri="{0D108BD9-81ED-4DB2-BD59-A6C34878D82A}">
                    <a16:rowId xmlns:a16="http://schemas.microsoft.com/office/drawing/2014/main" val="774569698"/>
                  </a:ext>
                </a:extLst>
              </a:tr>
              <a:tr h="424693">
                <a:tc>
                  <a:txBody>
                    <a:bodyPr/>
                    <a:lstStyle/>
                    <a:p>
                      <a:pPr>
                        <a:buNone/>
                      </a:pPr>
                      <a:r>
                        <a:rPr lang="en-IN" sz="900"/>
                        <a:t>        4</a:t>
                      </a:r>
                      <a:endParaRPr lang="en-IN" sz="900" dirty="0"/>
                    </a:p>
                  </a:txBody>
                  <a:tcPr marL="14062" marR="14062" marT="7031" marB="7031" anchor="ctr"/>
                </a:tc>
                <a:tc>
                  <a:txBody>
                    <a:bodyPr/>
                    <a:lstStyle/>
                    <a:p>
                      <a:pPr>
                        <a:buNone/>
                      </a:pPr>
                      <a:r>
                        <a:rPr lang="en-IN" sz="900" dirty="0"/>
                        <a:t>Missing Portfolio-Level Intelligence</a:t>
                      </a:r>
                    </a:p>
                  </a:txBody>
                  <a:tcPr marL="14062" marR="14062" marT="7031" marB="7031" anchor="ctr"/>
                </a:tc>
                <a:extLst>
                  <a:ext uri="{0D108BD9-81ED-4DB2-BD59-A6C34878D82A}">
                    <a16:rowId xmlns:a16="http://schemas.microsoft.com/office/drawing/2014/main" val="1958142843"/>
                  </a:ext>
                </a:extLst>
              </a:tr>
              <a:tr h="379190">
                <a:tc>
                  <a:txBody>
                    <a:bodyPr/>
                    <a:lstStyle/>
                    <a:p>
                      <a:pPr>
                        <a:buNone/>
                      </a:pPr>
                      <a:r>
                        <a:rPr lang="en-IN" sz="900"/>
                        <a:t>        5</a:t>
                      </a:r>
                      <a:endParaRPr lang="en-IN" sz="900" dirty="0"/>
                    </a:p>
                  </a:txBody>
                  <a:tcPr marL="14062" marR="14062" marT="7031" marB="7031" anchor="ctr"/>
                </a:tc>
                <a:tc>
                  <a:txBody>
                    <a:bodyPr/>
                    <a:lstStyle/>
                    <a:p>
                      <a:pPr>
                        <a:buNone/>
                      </a:pPr>
                      <a:r>
                        <a:rPr lang="en-IN" sz="900"/>
                        <a:t>Over-Reliance on Historical Patterns</a:t>
                      </a:r>
                    </a:p>
                  </a:txBody>
                  <a:tcPr marL="14062" marR="14062" marT="7031" marB="7031" anchor="ctr"/>
                </a:tc>
                <a:extLst>
                  <a:ext uri="{0D108BD9-81ED-4DB2-BD59-A6C34878D82A}">
                    <a16:rowId xmlns:a16="http://schemas.microsoft.com/office/drawing/2014/main" val="998442376"/>
                  </a:ext>
                </a:extLst>
              </a:tr>
              <a:tr h="379190">
                <a:tc>
                  <a:txBody>
                    <a:bodyPr/>
                    <a:lstStyle/>
                    <a:p>
                      <a:pPr>
                        <a:buNone/>
                      </a:pPr>
                      <a:r>
                        <a:rPr lang="en-IN" sz="900"/>
                        <a:t>       6</a:t>
                      </a:r>
                      <a:endParaRPr lang="en-IN" sz="900" dirty="0"/>
                    </a:p>
                  </a:txBody>
                  <a:tcPr marL="14062" marR="14062" marT="7031" marB="7031" anchor="ctr"/>
                </a:tc>
                <a:tc>
                  <a:txBody>
                    <a:bodyPr/>
                    <a:lstStyle/>
                    <a:p>
                      <a:pPr>
                        <a:buNone/>
                      </a:pPr>
                      <a:r>
                        <a:rPr lang="en-IN" sz="900" dirty="0"/>
                        <a:t>No Smart Money Tracking</a:t>
                      </a:r>
                    </a:p>
                  </a:txBody>
                  <a:tcPr marL="14062" marR="14062" marT="7031" marB="7031" anchor="ctr"/>
                </a:tc>
                <a:extLst>
                  <a:ext uri="{0D108BD9-81ED-4DB2-BD59-A6C34878D82A}">
                    <a16:rowId xmlns:a16="http://schemas.microsoft.com/office/drawing/2014/main" val="3355975780"/>
                  </a:ext>
                </a:extLst>
              </a:tr>
              <a:tr h="333687">
                <a:tc>
                  <a:txBody>
                    <a:bodyPr/>
                    <a:lstStyle/>
                    <a:p>
                      <a:pPr>
                        <a:buNone/>
                      </a:pPr>
                      <a:r>
                        <a:rPr lang="en-IN" sz="900"/>
                        <a:t>       7</a:t>
                      </a:r>
                      <a:endParaRPr lang="en-IN" sz="900" dirty="0"/>
                    </a:p>
                  </a:txBody>
                  <a:tcPr marL="14062" marR="14062" marT="7031" marB="7031" anchor="ctr"/>
                </a:tc>
                <a:tc>
                  <a:txBody>
                    <a:bodyPr/>
                    <a:lstStyle/>
                    <a:p>
                      <a:pPr>
                        <a:buNone/>
                      </a:pPr>
                      <a:r>
                        <a:rPr lang="en-IN" sz="900"/>
                        <a:t>User Personalization is Missing</a:t>
                      </a:r>
                    </a:p>
                  </a:txBody>
                  <a:tcPr marL="14062" marR="14062" marT="7031" marB="7031" anchor="ctr"/>
                </a:tc>
                <a:extLst>
                  <a:ext uri="{0D108BD9-81ED-4DB2-BD59-A6C34878D82A}">
                    <a16:rowId xmlns:a16="http://schemas.microsoft.com/office/drawing/2014/main" val="3083876789"/>
                  </a:ext>
                </a:extLst>
              </a:tr>
              <a:tr h="333687">
                <a:tc>
                  <a:txBody>
                    <a:bodyPr/>
                    <a:lstStyle/>
                    <a:p>
                      <a:pPr>
                        <a:buNone/>
                      </a:pPr>
                      <a:r>
                        <a:rPr lang="en-IN" sz="900"/>
                        <a:t>       8</a:t>
                      </a:r>
                      <a:endParaRPr lang="en-IN" sz="900" dirty="0"/>
                    </a:p>
                  </a:txBody>
                  <a:tcPr marL="14062" marR="14062" marT="7031" marB="7031" anchor="ctr"/>
                </a:tc>
                <a:tc>
                  <a:txBody>
                    <a:bodyPr/>
                    <a:lstStyle/>
                    <a:p>
                      <a:pPr>
                        <a:buNone/>
                      </a:pPr>
                      <a:r>
                        <a:rPr lang="en-US" sz="900"/>
                        <a:t>No Confidence Score in Predictions</a:t>
                      </a:r>
                    </a:p>
                  </a:txBody>
                  <a:tcPr marL="14062" marR="14062" marT="7031" marB="7031" anchor="ctr"/>
                </a:tc>
                <a:extLst>
                  <a:ext uri="{0D108BD9-81ED-4DB2-BD59-A6C34878D82A}">
                    <a16:rowId xmlns:a16="http://schemas.microsoft.com/office/drawing/2014/main" val="1687990216"/>
                  </a:ext>
                </a:extLst>
              </a:tr>
              <a:tr h="424693">
                <a:tc>
                  <a:txBody>
                    <a:bodyPr/>
                    <a:lstStyle/>
                    <a:p>
                      <a:pPr>
                        <a:buNone/>
                      </a:pPr>
                      <a:r>
                        <a:rPr lang="en-IN" sz="900"/>
                        <a:t>      9</a:t>
                      </a:r>
                      <a:endParaRPr lang="en-IN" sz="900" dirty="0"/>
                    </a:p>
                  </a:txBody>
                  <a:tcPr marL="14062" marR="14062" marT="7031" marB="7031" anchor="ctr"/>
                </a:tc>
                <a:tc>
                  <a:txBody>
                    <a:bodyPr/>
                    <a:lstStyle/>
                    <a:p>
                      <a:pPr>
                        <a:buNone/>
                      </a:pPr>
                      <a:r>
                        <a:rPr lang="en-US" sz="900" dirty="0"/>
                        <a:t>IPO Performance Prediction Research Gap</a:t>
                      </a:r>
                    </a:p>
                  </a:txBody>
                  <a:tcPr marL="14062" marR="14062" marT="7031" marB="7031" anchor="ctr"/>
                </a:tc>
                <a:extLst>
                  <a:ext uri="{0D108BD9-81ED-4DB2-BD59-A6C34878D82A}">
                    <a16:rowId xmlns:a16="http://schemas.microsoft.com/office/drawing/2014/main" val="367400390"/>
                  </a:ext>
                </a:extLst>
              </a:tr>
            </a:tbl>
          </a:graphicData>
        </a:graphic>
      </p:graphicFrame>
    </p:spTree>
    <p:extLst>
      <p:ext uri="{BB962C8B-B14F-4D97-AF65-F5344CB8AC3E}">
        <p14:creationId xmlns:p14="http://schemas.microsoft.com/office/powerpoint/2010/main" val="2939855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1022"/>
          </a:solidFill>
          <a:ln/>
        </p:spPr>
        <p:txBody>
          <a:bodyPr/>
          <a:lstStyle/>
          <a:p>
            <a:endParaRPr lang="en-IN"/>
          </a:p>
        </p:txBody>
      </p:sp>
      <p:sp>
        <p:nvSpPr>
          <p:cNvPr id="3" name="Shape 1"/>
          <p:cNvSpPr/>
          <p:nvPr/>
        </p:nvSpPr>
        <p:spPr>
          <a:xfrm>
            <a:off x="0" y="1005840"/>
            <a:ext cx="9144000" cy="54864"/>
          </a:xfrm>
          <a:prstGeom prst="rect">
            <a:avLst/>
          </a:prstGeom>
          <a:solidFill>
            <a:srgbClr val="E040FB"/>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FUTURE SCOPE &amp; ROADMAP</a:t>
            </a:r>
            <a:endParaRPr lang="en-US" sz="2800" dirty="0"/>
          </a:p>
        </p:txBody>
      </p:sp>
      <p:sp>
        <p:nvSpPr>
          <p:cNvPr id="5" name="Shape 3"/>
          <p:cNvSpPr/>
          <p:nvPr/>
        </p:nvSpPr>
        <p:spPr>
          <a:xfrm>
            <a:off x="256032" y="1234440"/>
            <a:ext cx="2743200" cy="370332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56032" y="1234440"/>
            <a:ext cx="2743200" cy="640080"/>
          </a:xfrm>
          <a:prstGeom prst="rect">
            <a:avLst/>
          </a:prstGeom>
          <a:solidFill>
            <a:srgbClr val="00C896"/>
          </a:solidFill>
          <a:ln/>
        </p:spPr>
        <p:txBody>
          <a:bodyPr/>
          <a:lstStyle/>
          <a:p>
            <a:endParaRPr lang="en-IN"/>
          </a:p>
        </p:txBody>
      </p:sp>
      <p:sp>
        <p:nvSpPr>
          <p:cNvPr id="7" name="Text 5"/>
          <p:cNvSpPr/>
          <p:nvPr/>
        </p:nvSpPr>
        <p:spPr>
          <a:xfrm>
            <a:off x="256032" y="1234440"/>
            <a:ext cx="2743200" cy="64008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Phase 1</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0–6 Months</a:t>
            </a:r>
            <a:endParaRPr lang="en-US" sz="1200" dirty="0"/>
          </a:p>
        </p:txBody>
      </p:sp>
      <p:sp>
        <p:nvSpPr>
          <p:cNvPr id="8" name="Shape 6"/>
          <p:cNvSpPr/>
          <p:nvPr/>
        </p:nvSpPr>
        <p:spPr>
          <a:xfrm>
            <a:off x="393192" y="2011680"/>
            <a:ext cx="274320" cy="274320"/>
          </a:xfrm>
          <a:prstGeom prst="rect">
            <a:avLst/>
          </a:prstGeom>
          <a:solidFill>
            <a:srgbClr val="00C896"/>
          </a:solidFill>
          <a:ln/>
        </p:spPr>
        <p:txBody>
          <a:bodyPr/>
          <a:lstStyle/>
          <a:p>
            <a:endParaRPr lang="en-IN"/>
          </a:p>
        </p:txBody>
      </p:sp>
      <p:sp>
        <p:nvSpPr>
          <p:cNvPr id="9" name="Text 7"/>
          <p:cNvSpPr/>
          <p:nvPr/>
        </p:nvSpPr>
        <p:spPr>
          <a:xfrm>
            <a:off x="758952" y="19385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Mobile App (Android/iOS)</a:t>
            </a:r>
            <a:endParaRPr lang="en-US" sz="1100" dirty="0"/>
          </a:p>
        </p:txBody>
      </p:sp>
      <p:sp>
        <p:nvSpPr>
          <p:cNvPr id="10" name="Shape 8"/>
          <p:cNvSpPr/>
          <p:nvPr/>
        </p:nvSpPr>
        <p:spPr>
          <a:xfrm>
            <a:off x="393192" y="2697480"/>
            <a:ext cx="274320" cy="274320"/>
          </a:xfrm>
          <a:prstGeom prst="rect">
            <a:avLst/>
          </a:prstGeom>
          <a:solidFill>
            <a:srgbClr val="00C896"/>
          </a:solidFill>
          <a:ln/>
        </p:spPr>
        <p:txBody>
          <a:bodyPr/>
          <a:lstStyle/>
          <a:p>
            <a:endParaRPr lang="en-IN"/>
          </a:p>
        </p:txBody>
      </p:sp>
      <p:sp>
        <p:nvSpPr>
          <p:cNvPr id="11" name="Text 9"/>
          <p:cNvSpPr/>
          <p:nvPr/>
        </p:nvSpPr>
        <p:spPr>
          <a:xfrm>
            <a:off x="758952" y="26243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Zerodha Kite API integration</a:t>
            </a:r>
            <a:endParaRPr lang="en-US" sz="1100" dirty="0"/>
          </a:p>
        </p:txBody>
      </p:sp>
      <p:sp>
        <p:nvSpPr>
          <p:cNvPr id="12" name="Shape 10"/>
          <p:cNvSpPr/>
          <p:nvPr/>
        </p:nvSpPr>
        <p:spPr>
          <a:xfrm>
            <a:off x="393192" y="3383280"/>
            <a:ext cx="274320" cy="274320"/>
          </a:xfrm>
          <a:prstGeom prst="rect">
            <a:avLst/>
          </a:prstGeom>
          <a:solidFill>
            <a:srgbClr val="00C896"/>
          </a:solidFill>
          <a:ln/>
        </p:spPr>
        <p:txBody>
          <a:bodyPr/>
          <a:lstStyle/>
          <a:p>
            <a:endParaRPr lang="en-IN"/>
          </a:p>
        </p:txBody>
      </p:sp>
      <p:sp>
        <p:nvSpPr>
          <p:cNvPr id="13" name="Text 11"/>
          <p:cNvSpPr/>
          <p:nvPr/>
        </p:nvSpPr>
        <p:spPr>
          <a:xfrm>
            <a:off x="758952" y="33101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Options &amp; Derivatives analysis</a:t>
            </a:r>
            <a:endParaRPr lang="en-US" sz="1100" dirty="0"/>
          </a:p>
        </p:txBody>
      </p:sp>
      <p:sp>
        <p:nvSpPr>
          <p:cNvPr id="14" name="Shape 12"/>
          <p:cNvSpPr/>
          <p:nvPr/>
        </p:nvSpPr>
        <p:spPr>
          <a:xfrm>
            <a:off x="393192" y="4069080"/>
            <a:ext cx="274320" cy="274320"/>
          </a:xfrm>
          <a:prstGeom prst="rect">
            <a:avLst/>
          </a:prstGeom>
          <a:solidFill>
            <a:srgbClr val="00C896"/>
          </a:solidFill>
          <a:ln/>
        </p:spPr>
        <p:txBody>
          <a:bodyPr/>
          <a:lstStyle/>
          <a:p>
            <a:endParaRPr lang="en-IN"/>
          </a:p>
        </p:txBody>
      </p:sp>
      <p:sp>
        <p:nvSpPr>
          <p:cNvPr id="15" name="Text 13"/>
          <p:cNvSpPr/>
          <p:nvPr/>
        </p:nvSpPr>
        <p:spPr>
          <a:xfrm>
            <a:off x="758952" y="39959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WhatsApp / SMS price alerts</a:t>
            </a:r>
            <a:endParaRPr lang="en-US" sz="1100" dirty="0"/>
          </a:p>
        </p:txBody>
      </p:sp>
      <p:sp>
        <p:nvSpPr>
          <p:cNvPr id="16" name="Shape 14"/>
          <p:cNvSpPr/>
          <p:nvPr/>
        </p:nvSpPr>
        <p:spPr>
          <a:xfrm>
            <a:off x="3200400" y="1234440"/>
            <a:ext cx="2743200" cy="3703320"/>
          </a:xfrm>
          <a:prstGeom prst="rect">
            <a:avLst/>
          </a:prstGeom>
          <a:solidFill>
            <a:srgbClr val="132140"/>
          </a:solidFill>
          <a:ln w="12700">
            <a:solidFill>
              <a:srgbClr val="1D72E8"/>
            </a:solidFill>
            <a:prstDash val="solid"/>
          </a:ln>
          <a:effectLst>
            <a:outerShdw blurRad="101600" dist="38100" dir="8100000" algn="bl" rotWithShape="0">
              <a:srgbClr val="000000">
                <a:alpha val="18000"/>
              </a:srgbClr>
            </a:outerShdw>
          </a:effectLst>
        </p:spPr>
        <p:txBody>
          <a:bodyPr/>
          <a:lstStyle/>
          <a:p>
            <a:endParaRPr lang="en-IN"/>
          </a:p>
        </p:txBody>
      </p:sp>
      <p:sp>
        <p:nvSpPr>
          <p:cNvPr id="17" name="Shape 15"/>
          <p:cNvSpPr/>
          <p:nvPr/>
        </p:nvSpPr>
        <p:spPr>
          <a:xfrm>
            <a:off x="3200400" y="1234440"/>
            <a:ext cx="2743200" cy="640080"/>
          </a:xfrm>
          <a:prstGeom prst="rect">
            <a:avLst/>
          </a:prstGeom>
          <a:solidFill>
            <a:srgbClr val="1D72E8"/>
          </a:solidFill>
          <a:ln/>
        </p:spPr>
        <p:txBody>
          <a:bodyPr/>
          <a:lstStyle/>
          <a:p>
            <a:endParaRPr lang="en-IN"/>
          </a:p>
        </p:txBody>
      </p:sp>
      <p:sp>
        <p:nvSpPr>
          <p:cNvPr id="18" name="Text 16"/>
          <p:cNvSpPr/>
          <p:nvPr/>
        </p:nvSpPr>
        <p:spPr>
          <a:xfrm>
            <a:off x="3200400" y="1234440"/>
            <a:ext cx="2743200" cy="64008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Phase 2</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6–12 Months</a:t>
            </a:r>
            <a:endParaRPr lang="en-US" sz="1200" dirty="0"/>
          </a:p>
        </p:txBody>
      </p:sp>
      <p:sp>
        <p:nvSpPr>
          <p:cNvPr id="19" name="Shape 17"/>
          <p:cNvSpPr/>
          <p:nvPr/>
        </p:nvSpPr>
        <p:spPr>
          <a:xfrm>
            <a:off x="3337560" y="2011680"/>
            <a:ext cx="274320" cy="274320"/>
          </a:xfrm>
          <a:prstGeom prst="rect">
            <a:avLst/>
          </a:prstGeom>
          <a:solidFill>
            <a:srgbClr val="1D72E8"/>
          </a:solidFill>
          <a:ln/>
        </p:spPr>
        <p:txBody>
          <a:bodyPr/>
          <a:lstStyle/>
          <a:p>
            <a:endParaRPr lang="en-IN"/>
          </a:p>
        </p:txBody>
      </p:sp>
      <p:sp>
        <p:nvSpPr>
          <p:cNvPr id="20" name="Text 18"/>
          <p:cNvSpPr/>
          <p:nvPr/>
        </p:nvSpPr>
        <p:spPr>
          <a:xfrm>
            <a:off x="3703320" y="19385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Cryptocurrency tracking</a:t>
            </a:r>
            <a:endParaRPr lang="en-US" sz="1100" dirty="0"/>
          </a:p>
        </p:txBody>
      </p:sp>
      <p:sp>
        <p:nvSpPr>
          <p:cNvPr id="21" name="Shape 19"/>
          <p:cNvSpPr/>
          <p:nvPr/>
        </p:nvSpPr>
        <p:spPr>
          <a:xfrm>
            <a:off x="3337560" y="2697480"/>
            <a:ext cx="274320" cy="274320"/>
          </a:xfrm>
          <a:prstGeom prst="rect">
            <a:avLst/>
          </a:prstGeom>
          <a:solidFill>
            <a:srgbClr val="1D72E8"/>
          </a:solidFill>
          <a:ln/>
        </p:spPr>
        <p:txBody>
          <a:bodyPr/>
          <a:lstStyle/>
          <a:p>
            <a:endParaRPr lang="en-IN"/>
          </a:p>
        </p:txBody>
      </p:sp>
      <p:sp>
        <p:nvSpPr>
          <p:cNvPr id="22" name="Text 20"/>
          <p:cNvSpPr/>
          <p:nvPr/>
        </p:nvSpPr>
        <p:spPr>
          <a:xfrm>
            <a:off x="3703320" y="26243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Robo-Advisory &amp; auto-rebalancing</a:t>
            </a:r>
            <a:endParaRPr lang="en-US" sz="1100" dirty="0"/>
          </a:p>
        </p:txBody>
      </p:sp>
      <p:sp>
        <p:nvSpPr>
          <p:cNvPr id="23" name="Shape 21"/>
          <p:cNvSpPr/>
          <p:nvPr/>
        </p:nvSpPr>
        <p:spPr>
          <a:xfrm>
            <a:off x="3337560" y="3383280"/>
            <a:ext cx="274320" cy="274320"/>
          </a:xfrm>
          <a:prstGeom prst="rect">
            <a:avLst/>
          </a:prstGeom>
          <a:solidFill>
            <a:srgbClr val="1D72E8"/>
          </a:solidFill>
          <a:ln/>
        </p:spPr>
        <p:txBody>
          <a:bodyPr/>
          <a:lstStyle/>
          <a:p>
            <a:endParaRPr lang="en-IN"/>
          </a:p>
        </p:txBody>
      </p:sp>
      <p:sp>
        <p:nvSpPr>
          <p:cNvPr id="24" name="Text 22"/>
          <p:cNvSpPr/>
          <p:nvPr/>
        </p:nvSpPr>
        <p:spPr>
          <a:xfrm>
            <a:off x="3703320" y="33101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Social Trading — copy portfolios</a:t>
            </a:r>
            <a:endParaRPr lang="en-US" sz="1100" dirty="0"/>
          </a:p>
        </p:txBody>
      </p:sp>
      <p:sp>
        <p:nvSpPr>
          <p:cNvPr id="25" name="Shape 23"/>
          <p:cNvSpPr/>
          <p:nvPr/>
        </p:nvSpPr>
        <p:spPr>
          <a:xfrm>
            <a:off x="3337560" y="4069080"/>
            <a:ext cx="274320" cy="274320"/>
          </a:xfrm>
          <a:prstGeom prst="rect">
            <a:avLst/>
          </a:prstGeom>
          <a:solidFill>
            <a:srgbClr val="1D72E8"/>
          </a:solidFill>
          <a:ln/>
        </p:spPr>
        <p:txBody>
          <a:bodyPr/>
          <a:lstStyle/>
          <a:p>
            <a:endParaRPr lang="en-IN"/>
          </a:p>
        </p:txBody>
      </p:sp>
      <p:sp>
        <p:nvSpPr>
          <p:cNvPr id="26" name="Text 24"/>
          <p:cNvSpPr/>
          <p:nvPr/>
        </p:nvSpPr>
        <p:spPr>
          <a:xfrm>
            <a:off x="3703320" y="39959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LSTM neural network predictions</a:t>
            </a:r>
            <a:endParaRPr lang="en-US" sz="1100" dirty="0"/>
          </a:p>
        </p:txBody>
      </p:sp>
      <p:sp>
        <p:nvSpPr>
          <p:cNvPr id="27" name="Shape 25"/>
          <p:cNvSpPr/>
          <p:nvPr/>
        </p:nvSpPr>
        <p:spPr>
          <a:xfrm>
            <a:off x="6144768" y="1234440"/>
            <a:ext cx="2743200" cy="3703320"/>
          </a:xfrm>
          <a:prstGeom prst="rect">
            <a:avLst/>
          </a:prstGeom>
          <a:solidFill>
            <a:srgbClr val="132140"/>
          </a:solidFill>
          <a:ln w="12700">
            <a:solidFill>
              <a:srgbClr val="E040FB"/>
            </a:solidFill>
            <a:prstDash val="solid"/>
          </a:ln>
          <a:effectLst>
            <a:outerShdw blurRad="101600" dist="38100" dir="8100000" algn="bl" rotWithShape="0">
              <a:srgbClr val="000000">
                <a:alpha val="18000"/>
              </a:srgbClr>
            </a:outerShdw>
          </a:effectLst>
        </p:spPr>
        <p:txBody>
          <a:bodyPr/>
          <a:lstStyle/>
          <a:p>
            <a:endParaRPr lang="en-IN"/>
          </a:p>
        </p:txBody>
      </p:sp>
      <p:sp>
        <p:nvSpPr>
          <p:cNvPr id="28" name="Shape 26"/>
          <p:cNvSpPr/>
          <p:nvPr/>
        </p:nvSpPr>
        <p:spPr>
          <a:xfrm>
            <a:off x="6144768" y="1234440"/>
            <a:ext cx="2743200" cy="640080"/>
          </a:xfrm>
          <a:prstGeom prst="rect">
            <a:avLst/>
          </a:prstGeom>
          <a:solidFill>
            <a:srgbClr val="E040FB"/>
          </a:solidFill>
          <a:ln/>
        </p:spPr>
        <p:txBody>
          <a:bodyPr/>
          <a:lstStyle/>
          <a:p>
            <a:endParaRPr lang="en-IN"/>
          </a:p>
        </p:txBody>
      </p:sp>
      <p:sp>
        <p:nvSpPr>
          <p:cNvPr id="29" name="Text 27"/>
          <p:cNvSpPr/>
          <p:nvPr/>
        </p:nvSpPr>
        <p:spPr>
          <a:xfrm>
            <a:off x="6144768" y="1234440"/>
            <a:ext cx="2743200" cy="64008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Phase 3</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12–24 Months</a:t>
            </a:r>
            <a:endParaRPr lang="en-US" sz="1200" dirty="0"/>
          </a:p>
        </p:txBody>
      </p:sp>
      <p:sp>
        <p:nvSpPr>
          <p:cNvPr id="30" name="Shape 28"/>
          <p:cNvSpPr/>
          <p:nvPr/>
        </p:nvSpPr>
        <p:spPr>
          <a:xfrm>
            <a:off x="6281928" y="2011680"/>
            <a:ext cx="274320" cy="274320"/>
          </a:xfrm>
          <a:prstGeom prst="rect">
            <a:avLst/>
          </a:prstGeom>
          <a:solidFill>
            <a:srgbClr val="E040FB"/>
          </a:solidFill>
          <a:ln/>
        </p:spPr>
        <p:txBody>
          <a:bodyPr/>
          <a:lstStyle/>
          <a:p>
            <a:endParaRPr lang="en-IN"/>
          </a:p>
        </p:txBody>
      </p:sp>
      <p:sp>
        <p:nvSpPr>
          <p:cNvPr id="31" name="Text 29"/>
          <p:cNvSpPr/>
          <p:nvPr/>
        </p:nvSpPr>
        <p:spPr>
          <a:xfrm>
            <a:off x="6647688" y="19385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Institutional multi-portfolio</a:t>
            </a:r>
            <a:endParaRPr lang="en-US" sz="1100" dirty="0"/>
          </a:p>
        </p:txBody>
      </p:sp>
      <p:sp>
        <p:nvSpPr>
          <p:cNvPr id="32" name="Shape 30"/>
          <p:cNvSpPr/>
          <p:nvPr/>
        </p:nvSpPr>
        <p:spPr>
          <a:xfrm>
            <a:off x="6281928" y="2697480"/>
            <a:ext cx="274320" cy="274320"/>
          </a:xfrm>
          <a:prstGeom prst="rect">
            <a:avLst/>
          </a:prstGeom>
          <a:solidFill>
            <a:srgbClr val="E040FB"/>
          </a:solidFill>
          <a:ln/>
        </p:spPr>
        <p:txBody>
          <a:bodyPr/>
          <a:lstStyle/>
          <a:p>
            <a:endParaRPr lang="en-IN"/>
          </a:p>
        </p:txBody>
      </p:sp>
      <p:sp>
        <p:nvSpPr>
          <p:cNvPr id="33" name="Text 31"/>
          <p:cNvSpPr/>
          <p:nvPr/>
        </p:nvSpPr>
        <p:spPr>
          <a:xfrm>
            <a:off x="6647688" y="26243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Global markets (NASDAQ, NYSE)</a:t>
            </a:r>
            <a:endParaRPr lang="en-US" sz="1100" dirty="0"/>
          </a:p>
        </p:txBody>
      </p:sp>
      <p:sp>
        <p:nvSpPr>
          <p:cNvPr id="34" name="Shape 32"/>
          <p:cNvSpPr/>
          <p:nvPr/>
        </p:nvSpPr>
        <p:spPr>
          <a:xfrm>
            <a:off x="6281928" y="3383280"/>
            <a:ext cx="274320" cy="274320"/>
          </a:xfrm>
          <a:prstGeom prst="rect">
            <a:avLst/>
          </a:prstGeom>
          <a:solidFill>
            <a:srgbClr val="E040FB"/>
          </a:solidFill>
          <a:ln/>
        </p:spPr>
        <p:txBody>
          <a:bodyPr/>
          <a:lstStyle/>
          <a:p>
            <a:endParaRPr lang="en-IN"/>
          </a:p>
        </p:txBody>
      </p:sp>
      <p:sp>
        <p:nvSpPr>
          <p:cNvPr id="35" name="Text 33"/>
          <p:cNvSpPr/>
          <p:nvPr/>
        </p:nvSpPr>
        <p:spPr>
          <a:xfrm>
            <a:off x="6647688" y="33101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DeFi &amp; blockchain assets</a:t>
            </a:r>
            <a:endParaRPr lang="en-US" sz="1100" dirty="0"/>
          </a:p>
        </p:txBody>
      </p:sp>
      <p:sp>
        <p:nvSpPr>
          <p:cNvPr id="36" name="Shape 34"/>
          <p:cNvSpPr/>
          <p:nvPr/>
        </p:nvSpPr>
        <p:spPr>
          <a:xfrm>
            <a:off x="6281928" y="4069080"/>
            <a:ext cx="274320" cy="274320"/>
          </a:xfrm>
          <a:prstGeom prst="rect">
            <a:avLst/>
          </a:prstGeom>
          <a:solidFill>
            <a:srgbClr val="E040FB"/>
          </a:solidFill>
          <a:ln/>
        </p:spPr>
        <p:txBody>
          <a:bodyPr/>
          <a:lstStyle/>
          <a:p>
            <a:endParaRPr lang="en-IN"/>
          </a:p>
        </p:txBody>
      </p:sp>
      <p:sp>
        <p:nvSpPr>
          <p:cNvPr id="37" name="Text 35"/>
          <p:cNvSpPr/>
          <p:nvPr/>
        </p:nvSpPr>
        <p:spPr>
          <a:xfrm>
            <a:off x="6647688" y="3995928"/>
            <a:ext cx="2103120" cy="4572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Voice Assistant — 'Hey Sarthak'</a:t>
            </a:r>
            <a:endParaRPr lang="en-US" sz="1100" dirty="0"/>
          </a:p>
        </p:txBody>
      </p:sp>
      <p:sp>
        <p:nvSpPr>
          <p:cNvPr id="38" name="Shape 36"/>
          <p:cNvSpPr/>
          <p:nvPr/>
        </p:nvSpPr>
        <p:spPr>
          <a:xfrm>
            <a:off x="256032" y="4709160"/>
            <a:ext cx="8631936" cy="320040"/>
          </a:xfrm>
          <a:prstGeom prst="rect">
            <a:avLst/>
          </a:prstGeom>
          <a:solidFill>
            <a:srgbClr val="071830"/>
          </a:solidFill>
          <a:ln w="12700">
            <a:solidFill>
              <a:srgbClr val="F5C542"/>
            </a:solidFill>
            <a:prstDash val="solid"/>
          </a:ln>
        </p:spPr>
        <p:txBody>
          <a:bodyPr/>
          <a:lstStyle/>
          <a:p>
            <a:endParaRPr lang="en-IN"/>
          </a:p>
        </p:txBody>
      </p:sp>
      <p:sp>
        <p:nvSpPr>
          <p:cNvPr id="39" name="Text 37"/>
          <p:cNvSpPr/>
          <p:nvPr/>
        </p:nvSpPr>
        <p:spPr>
          <a:xfrm>
            <a:off x="256032" y="4709160"/>
            <a:ext cx="8631936" cy="320040"/>
          </a:xfrm>
          <a:prstGeom prst="rect">
            <a:avLst/>
          </a:prstGeom>
          <a:noFill/>
          <a:ln/>
        </p:spPr>
        <p:txBody>
          <a:bodyPr wrap="square" rtlCol="0" anchor="ctr"/>
          <a:lstStyle/>
          <a:p>
            <a:pPr marL="0" indent="0" algn="ctr">
              <a:buNone/>
            </a:pPr>
            <a:r>
              <a:rPr lang="en-US" sz="1050" dirty="0">
                <a:solidFill>
                  <a:srgbClr val="F5C542"/>
                </a:solidFill>
                <a:latin typeface="Calibri" pitchFamily="34" charset="0"/>
                <a:ea typeface="Calibri" pitchFamily="34" charset="-122"/>
                <a:cs typeface="Calibri" pitchFamily="34" charset="-120"/>
              </a:rPr>
              <a:t>Monetization: Freemium (₹499/mo) · B2B API · Affiliate Revenue  ·  Target: 1L users = ₹5 Cr/month</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0F4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txBody>
          <a:bodyPr/>
          <a:lstStyle/>
          <a:p>
            <a:endParaRPr lang="en-IN"/>
          </a:p>
        </p:txBody>
      </p:sp>
      <p:sp>
        <p:nvSpPr>
          <p:cNvPr id="3" name="Shape 1"/>
          <p:cNvSpPr/>
          <p:nvPr/>
        </p:nvSpPr>
        <p:spPr>
          <a:xfrm>
            <a:off x="0" y="1005840"/>
            <a:ext cx="9144000" cy="54864"/>
          </a:xfrm>
          <a:prstGeom prst="rect">
            <a:avLst/>
          </a:prstGeom>
          <a:solidFill>
            <a:srgbClr val="00C896"/>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TEAM &amp; SOCIETAL IMPACT</a:t>
            </a:r>
            <a:endParaRPr lang="en-US" sz="2800" dirty="0"/>
          </a:p>
        </p:txBody>
      </p:sp>
      <p:sp>
        <p:nvSpPr>
          <p:cNvPr id="5" name="Shape 3"/>
          <p:cNvSpPr/>
          <p:nvPr/>
        </p:nvSpPr>
        <p:spPr>
          <a:xfrm>
            <a:off x="228600" y="1207008"/>
            <a:ext cx="1993392" cy="1920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28600" y="1207008"/>
            <a:ext cx="1993392" cy="292608"/>
          </a:xfrm>
          <a:prstGeom prst="rect">
            <a:avLst/>
          </a:prstGeom>
          <a:solidFill>
            <a:srgbClr val="00C896"/>
          </a:solidFill>
          <a:ln/>
        </p:spPr>
        <p:txBody>
          <a:bodyPr/>
          <a:lstStyle/>
          <a:p>
            <a:endParaRPr lang="en-IN"/>
          </a:p>
        </p:txBody>
      </p:sp>
      <p:sp>
        <p:nvSpPr>
          <p:cNvPr id="7" name="Shape 5"/>
          <p:cNvSpPr/>
          <p:nvPr/>
        </p:nvSpPr>
        <p:spPr>
          <a:xfrm>
            <a:off x="768096" y="1536192"/>
            <a:ext cx="914400" cy="914400"/>
          </a:xfrm>
          <a:prstGeom prst="ellipse">
            <a:avLst/>
          </a:prstGeom>
          <a:solidFill>
            <a:srgbClr val="00C896">
              <a:alpha val="18000"/>
            </a:srgbClr>
          </a:solidFill>
          <a:ln w="12700">
            <a:solidFill>
              <a:srgbClr val="00C896"/>
            </a:solidFill>
            <a:prstDash val="solid"/>
          </a:ln>
        </p:spPr>
        <p:txBody>
          <a:bodyPr/>
          <a:lstStyle/>
          <a:p>
            <a:endParaRPr lang="en-IN"/>
          </a:p>
        </p:txBody>
      </p:sp>
      <p:sp>
        <p:nvSpPr>
          <p:cNvPr id="8" name="Text 6"/>
          <p:cNvSpPr/>
          <p:nvPr/>
        </p:nvSpPr>
        <p:spPr>
          <a:xfrm>
            <a:off x="768096" y="1536192"/>
            <a:ext cx="914400" cy="914400"/>
          </a:xfrm>
          <a:prstGeom prst="rect">
            <a:avLst/>
          </a:prstGeom>
          <a:noFill/>
          <a:ln/>
        </p:spPr>
        <p:txBody>
          <a:bodyPr wrap="square" rtlCol="0" anchor="ctr"/>
          <a:lstStyle/>
          <a:p>
            <a:pPr marL="0" indent="0" algn="ctr">
              <a:buNone/>
            </a:pPr>
            <a:r>
              <a:rPr lang="en-US" sz="2600" b="1" dirty="0">
                <a:solidFill>
                  <a:srgbClr val="00C896"/>
                </a:solidFill>
                <a:latin typeface="Georgia" pitchFamily="34" charset="0"/>
                <a:ea typeface="Georgia" pitchFamily="34" charset="-122"/>
                <a:cs typeface="Georgia" pitchFamily="34" charset="-120"/>
              </a:rPr>
              <a:t>A</a:t>
            </a:r>
            <a:endParaRPr lang="en-US" sz="2600" dirty="0"/>
          </a:p>
        </p:txBody>
      </p:sp>
      <p:sp>
        <p:nvSpPr>
          <p:cNvPr id="9" name="Text 7"/>
          <p:cNvSpPr/>
          <p:nvPr/>
        </p:nvSpPr>
        <p:spPr>
          <a:xfrm>
            <a:off x="228600" y="2514600"/>
            <a:ext cx="1993392" cy="292608"/>
          </a:xfrm>
          <a:prstGeom prst="rect">
            <a:avLst/>
          </a:prstGeom>
          <a:noFill/>
          <a:ln/>
        </p:spPr>
        <p:txBody>
          <a:bodyPr wrap="square" rtlCol="0" anchor="ctr"/>
          <a:lstStyle/>
          <a:p>
            <a:pPr marL="0" indent="0" algn="ctr">
              <a:buNone/>
            </a:pPr>
            <a:r>
              <a:rPr lang="en-US" sz="1200" b="1" dirty="0">
                <a:solidFill>
                  <a:srgbClr val="0A1628"/>
                </a:solidFill>
                <a:latin typeface="Trebuchet MS" pitchFamily="34" charset="0"/>
                <a:ea typeface="Trebuchet MS" pitchFamily="34" charset="-122"/>
                <a:cs typeface="Trebuchet MS" pitchFamily="34" charset="-120"/>
              </a:rPr>
              <a:t>Aman Jain</a:t>
            </a:r>
            <a:endParaRPr lang="en-US" sz="1200" dirty="0"/>
          </a:p>
        </p:txBody>
      </p:sp>
      <p:sp>
        <p:nvSpPr>
          <p:cNvPr id="10" name="Text 8"/>
          <p:cNvSpPr/>
          <p:nvPr/>
        </p:nvSpPr>
        <p:spPr>
          <a:xfrm>
            <a:off x="228600" y="2788920"/>
            <a:ext cx="1993392" cy="228600"/>
          </a:xfrm>
          <a:prstGeom prst="rect">
            <a:avLst/>
          </a:prstGeom>
          <a:noFill/>
          <a:ln/>
        </p:spPr>
        <p:txBody>
          <a:bodyPr wrap="square" rtlCol="0" anchor="ctr"/>
          <a:lstStyle/>
          <a:p>
            <a:pPr marL="0" indent="0" algn="ctr">
              <a:buNone/>
            </a:pPr>
            <a:r>
              <a:rPr lang="en-US" sz="1000" dirty="0">
                <a:solidFill>
                  <a:srgbClr val="00C896"/>
                </a:solidFill>
                <a:latin typeface="Calibri" pitchFamily="34" charset="0"/>
                <a:ea typeface="Calibri" pitchFamily="34" charset="-122"/>
                <a:cs typeface="Calibri" pitchFamily="34" charset="-120"/>
              </a:rPr>
              <a:t>Project Lead</a:t>
            </a:r>
            <a:endParaRPr lang="en-US" sz="1000" dirty="0"/>
          </a:p>
        </p:txBody>
      </p:sp>
      <p:sp>
        <p:nvSpPr>
          <p:cNvPr id="11" name="Text 9"/>
          <p:cNvSpPr/>
          <p:nvPr/>
        </p:nvSpPr>
        <p:spPr>
          <a:xfrm>
            <a:off x="320040" y="3017520"/>
            <a:ext cx="1810512" cy="731520"/>
          </a:xfrm>
          <a:prstGeom prst="rect">
            <a:avLst/>
          </a:prstGeom>
          <a:noFill/>
          <a:ln/>
        </p:spPr>
        <p:txBody>
          <a:bodyPr wrap="square" rtlCol="0" anchor="ctr"/>
          <a:lstStyle/>
          <a:p>
            <a:pPr marL="0" indent="0">
              <a:buNone/>
            </a:pPr>
            <a:r>
              <a:rPr lang="en-US" sz="850" dirty="0">
                <a:solidFill>
                  <a:srgbClr val="4A5E82"/>
                </a:solidFill>
                <a:latin typeface="Calibri" pitchFamily="34" charset="0"/>
                <a:ea typeface="Calibri" pitchFamily="34" charset="-122"/>
                <a:cs typeface="Calibri" pitchFamily="34" charset="-120"/>
              </a:rPr>
              <a:t>Architecture · Main platform · Stock Intelligence Hub · DB design</a:t>
            </a:r>
            <a:endParaRPr lang="en-US" sz="850" dirty="0"/>
          </a:p>
        </p:txBody>
      </p:sp>
      <p:sp>
        <p:nvSpPr>
          <p:cNvPr id="12" name="Shape 10"/>
          <p:cNvSpPr/>
          <p:nvPr/>
        </p:nvSpPr>
        <p:spPr>
          <a:xfrm>
            <a:off x="2404872" y="1207008"/>
            <a:ext cx="1993392" cy="1920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13" name="Shape 11"/>
          <p:cNvSpPr/>
          <p:nvPr/>
        </p:nvSpPr>
        <p:spPr>
          <a:xfrm>
            <a:off x="2404872" y="1207008"/>
            <a:ext cx="1993392" cy="292608"/>
          </a:xfrm>
          <a:prstGeom prst="rect">
            <a:avLst/>
          </a:prstGeom>
          <a:solidFill>
            <a:srgbClr val="1D72E8"/>
          </a:solidFill>
          <a:ln/>
        </p:spPr>
        <p:txBody>
          <a:bodyPr/>
          <a:lstStyle/>
          <a:p>
            <a:endParaRPr lang="en-IN"/>
          </a:p>
        </p:txBody>
      </p:sp>
      <p:sp>
        <p:nvSpPr>
          <p:cNvPr id="14" name="Shape 12"/>
          <p:cNvSpPr/>
          <p:nvPr/>
        </p:nvSpPr>
        <p:spPr>
          <a:xfrm>
            <a:off x="2944368" y="1536192"/>
            <a:ext cx="914400" cy="914400"/>
          </a:xfrm>
          <a:prstGeom prst="ellipse">
            <a:avLst/>
          </a:prstGeom>
          <a:solidFill>
            <a:srgbClr val="1D72E8">
              <a:alpha val="18000"/>
            </a:srgbClr>
          </a:solidFill>
          <a:ln w="12700">
            <a:solidFill>
              <a:srgbClr val="1D72E8"/>
            </a:solidFill>
            <a:prstDash val="solid"/>
          </a:ln>
        </p:spPr>
        <p:txBody>
          <a:bodyPr/>
          <a:lstStyle/>
          <a:p>
            <a:endParaRPr lang="en-IN"/>
          </a:p>
        </p:txBody>
      </p:sp>
      <p:sp>
        <p:nvSpPr>
          <p:cNvPr id="15" name="Text 13"/>
          <p:cNvSpPr/>
          <p:nvPr/>
        </p:nvSpPr>
        <p:spPr>
          <a:xfrm>
            <a:off x="2944368" y="1536192"/>
            <a:ext cx="914400" cy="914400"/>
          </a:xfrm>
          <a:prstGeom prst="rect">
            <a:avLst/>
          </a:prstGeom>
          <a:noFill/>
          <a:ln/>
        </p:spPr>
        <p:txBody>
          <a:bodyPr wrap="square" rtlCol="0" anchor="ctr"/>
          <a:lstStyle/>
          <a:p>
            <a:pPr marL="0" indent="0" algn="ctr">
              <a:buNone/>
            </a:pPr>
            <a:r>
              <a:rPr lang="en-US" sz="2600" b="1" dirty="0">
                <a:solidFill>
                  <a:srgbClr val="1D72E8"/>
                </a:solidFill>
                <a:latin typeface="Georgia" pitchFamily="34" charset="0"/>
                <a:ea typeface="Georgia" pitchFamily="34" charset="-122"/>
                <a:cs typeface="Georgia" pitchFamily="34" charset="-120"/>
              </a:rPr>
              <a:t>R</a:t>
            </a:r>
            <a:endParaRPr lang="en-US" sz="2600" dirty="0"/>
          </a:p>
        </p:txBody>
      </p:sp>
      <p:sp>
        <p:nvSpPr>
          <p:cNvPr id="16" name="Text 14"/>
          <p:cNvSpPr/>
          <p:nvPr/>
        </p:nvSpPr>
        <p:spPr>
          <a:xfrm>
            <a:off x="2404872" y="2514600"/>
            <a:ext cx="1993392" cy="292608"/>
          </a:xfrm>
          <a:prstGeom prst="rect">
            <a:avLst/>
          </a:prstGeom>
          <a:noFill/>
          <a:ln/>
        </p:spPr>
        <p:txBody>
          <a:bodyPr wrap="square" rtlCol="0" anchor="ctr"/>
          <a:lstStyle/>
          <a:p>
            <a:pPr marL="0" indent="0" algn="ctr">
              <a:buNone/>
            </a:pPr>
            <a:r>
              <a:rPr lang="en-US" sz="1200" b="1" dirty="0">
                <a:solidFill>
                  <a:srgbClr val="0A1628"/>
                </a:solidFill>
                <a:latin typeface="Trebuchet MS" pitchFamily="34" charset="0"/>
                <a:ea typeface="Trebuchet MS" pitchFamily="34" charset="-122"/>
                <a:cs typeface="Trebuchet MS" pitchFamily="34" charset="-120"/>
              </a:rPr>
              <a:t>Rohit Fogla</a:t>
            </a:r>
            <a:endParaRPr lang="en-US" sz="1200" dirty="0"/>
          </a:p>
        </p:txBody>
      </p:sp>
      <p:sp>
        <p:nvSpPr>
          <p:cNvPr id="17" name="Text 15"/>
          <p:cNvSpPr/>
          <p:nvPr/>
        </p:nvSpPr>
        <p:spPr>
          <a:xfrm>
            <a:off x="2404872" y="2788920"/>
            <a:ext cx="1993392" cy="228600"/>
          </a:xfrm>
          <a:prstGeom prst="rect">
            <a:avLst/>
          </a:prstGeom>
          <a:noFill/>
          <a:ln/>
        </p:spPr>
        <p:txBody>
          <a:bodyPr wrap="square" rtlCol="0" anchor="ctr"/>
          <a:lstStyle/>
          <a:p>
            <a:pPr marL="0" indent="0" algn="ctr">
              <a:buNone/>
            </a:pPr>
            <a:r>
              <a:rPr lang="en-US" sz="1000" dirty="0">
                <a:solidFill>
                  <a:srgbClr val="1D72E8"/>
                </a:solidFill>
                <a:latin typeface="Calibri" pitchFamily="34" charset="0"/>
                <a:ea typeface="Calibri" pitchFamily="34" charset="-122"/>
                <a:cs typeface="Calibri" pitchFamily="34" charset="-120"/>
              </a:rPr>
              <a:t>AI &amp; Data Engineer</a:t>
            </a:r>
            <a:endParaRPr lang="en-US" sz="1000" dirty="0"/>
          </a:p>
        </p:txBody>
      </p:sp>
      <p:sp>
        <p:nvSpPr>
          <p:cNvPr id="18" name="Text 16"/>
          <p:cNvSpPr/>
          <p:nvPr/>
        </p:nvSpPr>
        <p:spPr>
          <a:xfrm>
            <a:off x="2496312" y="3017520"/>
            <a:ext cx="1810512" cy="731520"/>
          </a:xfrm>
          <a:prstGeom prst="rect">
            <a:avLst/>
          </a:prstGeom>
          <a:noFill/>
          <a:ln/>
        </p:spPr>
        <p:txBody>
          <a:bodyPr wrap="square" rtlCol="0" anchor="ctr"/>
          <a:lstStyle/>
          <a:p>
            <a:pPr marL="0" indent="0">
              <a:buNone/>
            </a:pPr>
            <a:r>
              <a:rPr lang="en-US" sz="850" dirty="0">
                <a:solidFill>
                  <a:srgbClr val="4A5E82"/>
                </a:solidFill>
                <a:latin typeface="Calibri" pitchFamily="34" charset="0"/>
                <a:ea typeface="Calibri" pitchFamily="34" charset="-122"/>
                <a:cs typeface="Calibri" pitchFamily="34" charset="-120"/>
              </a:rPr>
              <a:t>Smart Money Tracker · Agentic AI · Technical analysis engine · Volume analysis</a:t>
            </a:r>
            <a:endParaRPr lang="en-US" sz="850" dirty="0"/>
          </a:p>
        </p:txBody>
      </p:sp>
      <p:sp>
        <p:nvSpPr>
          <p:cNvPr id="19" name="Shape 17"/>
          <p:cNvSpPr/>
          <p:nvPr/>
        </p:nvSpPr>
        <p:spPr>
          <a:xfrm>
            <a:off x="4581144" y="1207008"/>
            <a:ext cx="1993392" cy="1920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20" name="Shape 18"/>
          <p:cNvSpPr/>
          <p:nvPr/>
        </p:nvSpPr>
        <p:spPr>
          <a:xfrm>
            <a:off x="4581144" y="1207008"/>
            <a:ext cx="1993392" cy="292608"/>
          </a:xfrm>
          <a:prstGeom prst="rect">
            <a:avLst/>
          </a:prstGeom>
          <a:solidFill>
            <a:srgbClr val="F5C542"/>
          </a:solidFill>
          <a:ln/>
        </p:spPr>
        <p:txBody>
          <a:bodyPr/>
          <a:lstStyle/>
          <a:p>
            <a:endParaRPr lang="en-IN"/>
          </a:p>
        </p:txBody>
      </p:sp>
      <p:sp>
        <p:nvSpPr>
          <p:cNvPr id="21" name="Shape 19"/>
          <p:cNvSpPr/>
          <p:nvPr/>
        </p:nvSpPr>
        <p:spPr>
          <a:xfrm>
            <a:off x="5120640" y="1536192"/>
            <a:ext cx="914400" cy="914400"/>
          </a:xfrm>
          <a:prstGeom prst="ellipse">
            <a:avLst/>
          </a:prstGeom>
          <a:solidFill>
            <a:srgbClr val="F5C542">
              <a:alpha val="18000"/>
            </a:srgbClr>
          </a:solidFill>
          <a:ln w="12700">
            <a:solidFill>
              <a:srgbClr val="F5C542"/>
            </a:solidFill>
            <a:prstDash val="solid"/>
          </a:ln>
        </p:spPr>
        <p:txBody>
          <a:bodyPr/>
          <a:lstStyle/>
          <a:p>
            <a:endParaRPr lang="en-IN"/>
          </a:p>
        </p:txBody>
      </p:sp>
      <p:sp>
        <p:nvSpPr>
          <p:cNvPr id="22" name="Text 20"/>
          <p:cNvSpPr/>
          <p:nvPr/>
        </p:nvSpPr>
        <p:spPr>
          <a:xfrm>
            <a:off x="5120640" y="1536192"/>
            <a:ext cx="914400" cy="914400"/>
          </a:xfrm>
          <a:prstGeom prst="rect">
            <a:avLst/>
          </a:prstGeom>
          <a:noFill/>
          <a:ln/>
        </p:spPr>
        <p:txBody>
          <a:bodyPr wrap="square" rtlCol="0" anchor="ctr"/>
          <a:lstStyle/>
          <a:p>
            <a:pPr marL="0" indent="0" algn="ctr">
              <a:buNone/>
            </a:pPr>
            <a:r>
              <a:rPr lang="en-US" sz="2600" b="1" dirty="0">
                <a:solidFill>
                  <a:srgbClr val="F5C542"/>
                </a:solidFill>
                <a:latin typeface="Georgia" pitchFamily="34" charset="0"/>
                <a:ea typeface="Georgia" pitchFamily="34" charset="-122"/>
                <a:cs typeface="Georgia" pitchFamily="34" charset="-120"/>
              </a:rPr>
              <a:t>D</a:t>
            </a:r>
            <a:endParaRPr lang="en-US" sz="2600" dirty="0"/>
          </a:p>
        </p:txBody>
      </p:sp>
      <p:sp>
        <p:nvSpPr>
          <p:cNvPr id="23" name="Text 21"/>
          <p:cNvSpPr/>
          <p:nvPr/>
        </p:nvSpPr>
        <p:spPr>
          <a:xfrm>
            <a:off x="4581144" y="2514600"/>
            <a:ext cx="1993392" cy="292608"/>
          </a:xfrm>
          <a:prstGeom prst="rect">
            <a:avLst/>
          </a:prstGeom>
          <a:noFill/>
          <a:ln/>
        </p:spPr>
        <p:txBody>
          <a:bodyPr wrap="square" rtlCol="0" anchor="ctr"/>
          <a:lstStyle/>
          <a:p>
            <a:pPr marL="0" indent="0" algn="ctr">
              <a:buNone/>
            </a:pPr>
            <a:r>
              <a:rPr lang="en-US" sz="1200" b="1" dirty="0">
                <a:solidFill>
                  <a:srgbClr val="0A1628"/>
                </a:solidFill>
                <a:latin typeface="Trebuchet MS" pitchFamily="34" charset="0"/>
                <a:ea typeface="Trebuchet MS" pitchFamily="34" charset="-122"/>
                <a:cs typeface="Trebuchet MS" pitchFamily="34" charset="-120"/>
              </a:rPr>
              <a:t>Disita Tirthani</a:t>
            </a:r>
            <a:endParaRPr lang="en-US" sz="1200" dirty="0"/>
          </a:p>
        </p:txBody>
      </p:sp>
      <p:sp>
        <p:nvSpPr>
          <p:cNvPr id="24" name="Text 22"/>
          <p:cNvSpPr/>
          <p:nvPr/>
        </p:nvSpPr>
        <p:spPr>
          <a:xfrm>
            <a:off x="4581144" y="2788920"/>
            <a:ext cx="1993392" cy="228600"/>
          </a:xfrm>
          <a:prstGeom prst="rect">
            <a:avLst/>
          </a:prstGeom>
          <a:noFill/>
          <a:ln/>
        </p:spPr>
        <p:txBody>
          <a:bodyPr wrap="square" rtlCol="0" anchor="ctr"/>
          <a:lstStyle/>
          <a:p>
            <a:pPr marL="0" indent="0" algn="ctr">
              <a:buNone/>
            </a:pPr>
            <a:r>
              <a:rPr lang="en-US" sz="1000" dirty="0">
                <a:solidFill>
                  <a:srgbClr val="F5C542"/>
                </a:solidFill>
                <a:latin typeface="Calibri" pitchFamily="34" charset="0"/>
                <a:ea typeface="Calibri" pitchFamily="34" charset="-122"/>
                <a:cs typeface="Calibri" pitchFamily="34" charset="-120"/>
              </a:rPr>
              <a:t>Backend Dev</a:t>
            </a:r>
            <a:endParaRPr lang="en-US" sz="1000" dirty="0"/>
          </a:p>
        </p:txBody>
      </p:sp>
      <p:sp>
        <p:nvSpPr>
          <p:cNvPr id="25" name="Text 23"/>
          <p:cNvSpPr/>
          <p:nvPr/>
        </p:nvSpPr>
        <p:spPr>
          <a:xfrm>
            <a:off x="4672584" y="3017520"/>
            <a:ext cx="1810512" cy="731520"/>
          </a:xfrm>
          <a:prstGeom prst="rect">
            <a:avLst/>
          </a:prstGeom>
          <a:noFill/>
          <a:ln/>
        </p:spPr>
        <p:txBody>
          <a:bodyPr wrap="square" rtlCol="0" anchor="ctr"/>
          <a:lstStyle/>
          <a:p>
            <a:pPr marL="0" indent="0">
              <a:buNone/>
            </a:pPr>
            <a:r>
              <a:rPr lang="en-US" sz="850" dirty="0">
                <a:solidFill>
                  <a:srgbClr val="4A5E82"/>
                </a:solidFill>
                <a:latin typeface="Calibri" pitchFamily="34" charset="0"/>
                <a:ea typeface="Calibri" pitchFamily="34" charset="-122"/>
                <a:cs typeface="Calibri" pitchFamily="34" charset="-120"/>
              </a:rPr>
              <a:t>IPO Intelligence · News Sentiment · Portfolio Management · Allotment checker</a:t>
            </a:r>
            <a:endParaRPr lang="en-US" sz="850" dirty="0"/>
          </a:p>
        </p:txBody>
      </p:sp>
      <p:sp>
        <p:nvSpPr>
          <p:cNvPr id="26" name="Shape 24"/>
          <p:cNvSpPr/>
          <p:nvPr/>
        </p:nvSpPr>
        <p:spPr>
          <a:xfrm>
            <a:off x="6757416" y="1207008"/>
            <a:ext cx="1993392" cy="1920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IN"/>
          </a:p>
        </p:txBody>
      </p:sp>
      <p:sp>
        <p:nvSpPr>
          <p:cNvPr id="27" name="Shape 25"/>
          <p:cNvSpPr/>
          <p:nvPr/>
        </p:nvSpPr>
        <p:spPr>
          <a:xfrm>
            <a:off x="6757416" y="1207008"/>
            <a:ext cx="1993392" cy="292608"/>
          </a:xfrm>
          <a:prstGeom prst="rect">
            <a:avLst/>
          </a:prstGeom>
          <a:solidFill>
            <a:srgbClr val="E040FB"/>
          </a:solidFill>
          <a:ln/>
        </p:spPr>
        <p:txBody>
          <a:bodyPr/>
          <a:lstStyle/>
          <a:p>
            <a:endParaRPr lang="en-IN"/>
          </a:p>
        </p:txBody>
      </p:sp>
      <p:sp>
        <p:nvSpPr>
          <p:cNvPr id="28" name="Shape 26"/>
          <p:cNvSpPr/>
          <p:nvPr/>
        </p:nvSpPr>
        <p:spPr>
          <a:xfrm>
            <a:off x="7296912" y="1536192"/>
            <a:ext cx="914400" cy="914400"/>
          </a:xfrm>
          <a:prstGeom prst="ellipse">
            <a:avLst/>
          </a:prstGeom>
          <a:solidFill>
            <a:srgbClr val="E040FB">
              <a:alpha val="18000"/>
            </a:srgbClr>
          </a:solidFill>
          <a:ln w="12700">
            <a:solidFill>
              <a:srgbClr val="E040FB"/>
            </a:solidFill>
            <a:prstDash val="solid"/>
          </a:ln>
        </p:spPr>
        <p:txBody>
          <a:bodyPr/>
          <a:lstStyle/>
          <a:p>
            <a:endParaRPr lang="en-IN"/>
          </a:p>
        </p:txBody>
      </p:sp>
      <p:sp>
        <p:nvSpPr>
          <p:cNvPr id="29" name="Text 27"/>
          <p:cNvSpPr/>
          <p:nvPr/>
        </p:nvSpPr>
        <p:spPr>
          <a:xfrm>
            <a:off x="7296912" y="1536192"/>
            <a:ext cx="914400" cy="914400"/>
          </a:xfrm>
          <a:prstGeom prst="rect">
            <a:avLst/>
          </a:prstGeom>
          <a:noFill/>
          <a:ln/>
        </p:spPr>
        <p:txBody>
          <a:bodyPr wrap="square" rtlCol="0" anchor="ctr"/>
          <a:lstStyle/>
          <a:p>
            <a:pPr marL="0" indent="0" algn="ctr">
              <a:buNone/>
            </a:pPr>
            <a:r>
              <a:rPr lang="en-US" sz="2600" b="1" dirty="0">
                <a:solidFill>
                  <a:srgbClr val="E040FB"/>
                </a:solidFill>
                <a:latin typeface="Georgia" pitchFamily="34" charset="0"/>
                <a:ea typeface="Georgia" pitchFamily="34" charset="-122"/>
                <a:cs typeface="Georgia" pitchFamily="34" charset="-120"/>
              </a:rPr>
              <a:t>V</a:t>
            </a:r>
            <a:endParaRPr lang="en-US" sz="2600" dirty="0"/>
          </a:p>
        </p:txBody>
      </p:sp>
      <p:sp>
        <p:nvSpPr>
          <p:cNvPr id="30" name="Text 28"/>
          <p:cNvSpPr/>
          <p:nvPr/>
        </p:nvSpPr>
        <p:spPr>
          <a:xfrm>
            <a:off x="6757416" y="2514600"/>
            <a:ext cx="1993392" cy="292608"/>
          </a:xfrm>
          <a:prstGeom prst="rect">
            <a:avLst/>
          </a:prstGeom>
          <a:noFill/>
          <a:ln/>
        </p:spPr>
        <p:txBody>
          <a:bodyPr wrap="square" rtlCol="0" anchor="ctr"/>
          <a:lstStyle/>
          <a:p>
            <a:pPr marL="0" indent="0" algn="ctr">
              <a:buNone/>
            </a:pPr>
            <a:r>
              <a:rPr lang="en-US" sz="1200" b="1" dirty="0">
                <a:solidFill>
                  <a:srgbClr val="0A1628"/>
                </a:solidFill>
                <a:latin typeface="Trebuchet MS" pitchFamily="34" charset="0"/>
                <a:ea typeface="Trebuchet MS" pitchFamily="34" charset="-122"/>
                <a:cs typeface="Trebuchet MS" pitchFamily="34" charset="-120"/>
              </a:rPr>
              <a:t>Vanshita Mehta</a:t>
            </a:r>
            <a:endParaRPr lang="en-US" sz="1200" dirty="0"/>
          </a:p>
        </p:txBody>
      </p:sp>
      <p:sp>
        <p:nvSpPr>
          <p:cNvPr id="31" name="Text 29"/>
          <p:cNvSpPr/>
          <p:nvPr/>
        </p:nvSpPr>
        <p:spPr>
          <a:xfrm>
            <a:off x="6757416" y="2788920"/>
            <a:ext cx="1993392" cy="228600"/>
          </a:xfrm>
          <a:prstGeom prst="rect">
            <a:avLst/>
          </a:prstGeom>
          <a:noFill/>
          <a:ln/>
        </p:spPr>
        <p:txBody>
          <a:bodyPr wrap="square" rtlCol="0" anchor="ctr"/>
          <a:lstStyle/>
          <a:p>
            <a:pPr marL="0" indent="0" algn="ctr">
              <a:buNone/>
            </a:pPr>
            <a:r>
              <a:rPr lang="en-US" sz="1000" dirty="0">
                <a:solidFill>
                  <a:srgbClr val="E040FB"/>
                </a:solidFill>
                <a:latin typeface="Calibri" pitchFamily="34" charset="0"/>
                <a:ea typeface="Calibri" pitchFamily="34" charset="-122"/>
                <a:cs typeface="Calibri" pitchFamily="34" charset="-120"/>
              </a:rPr>
              <a:t>UI/UX &amp; MF Dev</a:t>
            </a:r>
            <a:endParaRPr lang="en-US" sz="1000" dirty="0"/>
          </a:p>
        </p:txBody>
      </p:sp>
      <p:sp>
        <p:nvSpPr>
          <p:cNvPr id="32" name="Text 30"/>
          <p:cNvSpPr/>
          <p:nvPr/>
        </p:nvSpPr>
        <p:spPr>
          <a:xfrm>
            <a:off x="6848856" y="3017520"/>
            <a:ext cx="1810512" cy="731520"/>
          </a:xfrm>
          <a:prstGeom prst="rect">
            <a:avLst/>
          </a:prstGeom>
          <a:noFill/>
          <a:ln/>
        </p:spPr>
        <p:txBody>
          <a:bodyPr wrap="square" rtlCol="0" anchor="ctr"/>
          <a:lstStyle/>
          <a:p>
            <a:pPr marL="0" indent="0">
              <a:buNone/>
            </a:pPr>
            <a:r>
              <a:rPr lang="en-US" sz="850" dirty="0">
                <a:solidFill>
                  <a:srgbClr val="4A5E82"/>
                </a:solidFill>
                <a:latin typeface="Calibri" pitchFamily="34" charset="0"/>
                <a:ea typeface="Calibri" pitchFamily="34" charset="-122"/>
                <a:cs typeface="Calibri" pitchFamily="34" charset="-120"/>
              </a:rPr>
              <a:t>Mutual Fund Center · SIP Calculator · Dark theme · Plotly charts · Testing</a:t>
            </a:r>
            <a:endParaRPr lang="en-US" sz="850" dirty="0"/>
          </a:p>
        </p:txBody>
      </p:sp>
      <p:sp>
        <p:nvSpPr>
          <p:cNvPr id="33" name="Text 31"/>
          <p:cNvSpPr/>
          <p:nvPr/>
        </p:nvSpPr>
        <p:spPr>
          <a:xfrm>
            <a:off x="228600" y="3858768"/>
            <a:ext cx="8686800" cy="274320"/>
          </a:xfrm>
          <a:prstGeom prst="rect">
            <a:avLst/>
          </a:prstGeom>
          <a:noFill/>
          <a:ln/>
        </p:spPr>
        <p:txBody>
          <a:bodyPr wrap="square" rtlCol="0" anchor="ctr"/>
          <a:lstStyle/>
          <a:p>
            <a:pPr marL="0" indent="0">
              <a:buNone/>
            </a:pPr>
            <a:r>
              <a:rPr lang="en-US" sz="1200" b="1" dirty="0">
                <a:solidFill>
                  <a:srgbClr val="0A1628"/>
                </a:solidFill>
                <a:latin typeface="Trebuchet MS" pitchFamily="34" charset="0"/>
                <a:ea typeface="Trebuchet MS" pitchFamily="34" charset="-122"/>
                <a:cs typeface="Trebuchet MS" pitchFamily="34" charset="-120"/>
              </a:rPr>
              <a:t>SOCIETAL IMPACT</a:t>
            </a:r>
            <a:endParaRPr lang="en-US" sz="1200" dirty="0"/>
          </a:p>
        </p:txBody>
      </p:sp>
      <p:sp>
        <p:nvSpPr>
          <p:cNvPr id="34" name="Shape 32"/>
          <p:cNvSpPr/>
          <p:nvPr/>
        </p:nvSpPr>
        <p:spPr>
          <a:xfrm>
            <a:off x="228600" y="4160520"/>
            <a:ext cx="1993392" cy="804672"/>
          </a:xfrm>
          <a:prstGeom prst="rect">
            <a:avLst/>
          </a:prstGeom>
          <a:solidFill>
            <a:srgbClr val="FFFFFF"/>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35" name="Text 33"/>
          <p:cNvSpPr/>
          <p:nvPr/>
        </p:nvSpPr>
        <p:spPr>
          <a:xfrm>
            <a:off x="228600" y="4160520"/>
            <a:ext cx="1993392" cy="457200"/>
          </a:xfrm>
          <a:prstGeom prst="rect">
            <a:avLst/>
          </a:prstGeom>
          <a:noFill/>
          <a:ln/>
        </p:spPr>
        <p:txBody>
          <a:bodyPr wrap="square" rtlCol="0" anchor="ctr"/>
          <a:lstStyle/>
          <a:p>
            <a:pPr marL="0" indent="0" algn="ctr">
              <a:buNone/>
            </a:pPr>
            <a:r>
              <a:rPr lang="en-US" sz="2200" b="1" dirty="0">
                <a:solidFill>
                  <a:srgbClr val="00C896"/>
                </a:solidFill>
                <a:latin typeface="Georgia" pitchFamily="34" charset="0"/>
                <a:ea typeface="Georgia" pitchFamily="34" charset="-122"/>
                <a:cs typeface="Georgia" pitchFamily="34" charset="-120"/>
              </a:rPr>
              <a:t>10 Cr+</a:t>
            </a:r>
            <a:endParaRPr lang="en-US" sz="2200" dirty="0"/>
          </a:p>
        </p:txBody>
      </p:sp>
      <p:sp>
        <p:nvSpPr>
          <p:cNvPr id="36" name="Text 34"/>
          <p:cNvSpPr/>
          <p:nvPr/>
        </p:nvSpPr>
        <p:spPr>
          <a:xfrm>
            <a:off x="228600" y="4572000"/>
            <a:ext cx="1993392" cy="347472"/>
          </a:xfrm>
          <a:prstGeom prst="rect">
            <a:avLst/>
          </a:prstGeom>
          <a:noFill/>
          <a:ln/>
        </p:spPr>
        <p:txBody>
          <a:bodyPr wrap="square" rtlCol="0" anchor="ctr"/>
          <a:lstStyle/>
          <a:p>
            <a:pPr marL="0" indent="0" algn="ctr">
              <a:buNone/>
            </a:pPr>
            <a:r>
              <a:rPr lang="en-US" sz="900" dirty="0">
                <a:solidFill>
                  <a:srgbClr val="4A5E82"/>
                </a:solidFill>
                <a:latin typeface="Calibri" pitchFamily="34" charset="0"/>
                <a:ea typeface="Calibri" pitchFamily="34" charset="-122"/>
                <a:cs typeface="Calibri" pitchFamily="34" charset="-120"/>
              </a:rPr>
              <a:t>Demat accounts in India</a:t>
            </a:r>
            <a:endParaRPr lang="en-US" sz="900" dirty="0"/>
          </a:p>
        </p:txBody>
      </p:sp>
      <p:sp>
        <p:nvSpPr>
          <p:cNvPr id="37" name="Shape 35"/>
          <p:cNvSpPr/>
          <p:nvPr/>
        </p:nvSpPr>
        <p:spPr>
          <a:xfrm>
            <a:off x="2404872" y="4160520"/>
            <a:ext cx="1993392" cy="804672"/>
          </a:xfrm>
          <a:prstGeom prst="rect">
            <a:avLst/>
          </a:prstGeom>
          <a:solidFill>
            <a:srgbClr val="FFFFFF"/>
          </a:solidFill>
          <a:ln w="12700">
            <a:solidFill>
              <a:srgbClr val="FF5252"/>
            </a:solidFill>
            <a:prstDash val="solid"/>
          </a:ln>
          <a:effectLst>
            <a:outerShdw blurRad="101600" dist="38100" dir="8100000" algn="bl" rotWithShape="0">
              <a:srgbClr val="000000">
                <a:alpha val="18000"/>
              </a:srgbClr>
            </a:outerShdw>
          </a:effectLst>
        </p:spPr>
        <p:txBody>
          <a:bodyPr/>
          <a:lstStyle/>
          <a:p>
            <a:endParaRPr lang="en-IN"/>
          </a:p>
        </p:txBody>
      </p:sp>
      <p:sp>
        <p:nvSpPr>
          <p:cNvPr id="38" name="Text 36"/>
          <p:cNvSpPr/>
          <p:nvPr/>
        </p:nvSpPr>
        <p:spPr>
          <a:xfrm>
            <a:off x="2404872" y="4160520"/>
            <a:ext cx="1993392" cy="457200"/>
          </a:xfrm>
          <a:prstGeom prst="rect">
            <a:avLst/>
          </a:prstGeom>
          <a:noFill/>
          <a:ln/>
        </p:spPr>
        <p:txBody>
          <a:bodyPr wrap="square" rtlCol="0" anchor="ctr"/>
          <a:lstStyle/>
          <a:p>
            <a:pPr marL="0" indent="0" algn="ctr">
              <a:buNone/>
            </a:pPr>
            <a:r>
              <a:rPr lang="en-US" sz="2200" b="1" dirty="0">
                <a:solidFill>
                  <a:srgbClr val="FF5252"/>
                </a:solidFill>
                <a:latin typeface="Georgia" pitchFamily="34" charset="0"/>
                <a:ea typeface="Georgia" pitchFamily="34" charset="-122"/>
                <a:cs typeface="Georgia" pitchFamily="34" charset="-120"/>
              </a:rPr>
              <a:t>95%</a:t>
            </a:r>
            <a:endParaRPr lang="en-US" sz="2200" dirty="0"/>
          </a:p>
        </p:txBody>
      </p:sp>
      <p:sp>
        <p:nvSpPr>
          <p:cNvPr id="39" name="Text 37"/>
          <p:cNvSpPr/>
          <p:nvPr/>
        </p:nvSpPr>
        <p:spPr>
          <a:xfrm>
            <a:off x="2404872" y="4572000"/>
            <a:ext cx="1993392" cy="347472"/>
          </a:xfrm>
          <a:prstGeom prst="rect">
            <a:avLst/>
          </a:prstGeom>
          <a:noFill/>
          <a:ln/>
        </p:spPr>
        <p:txBody>
          <a:bodyPr wrap="square" rtlCol="0" anchor="ctr"/>
          <a:lstStyle/>
          <a:p>
            <a:pPr marL="0" indent="0" algn="ctr">
              <a:buNone/>
            </a:pPr>
            <a:r>
              <a:rPr lang="en-US" sz="900" dirty="0">
                <a:solidFill>
                  <a:srgbClr val="4A5E82"/>
                </a:solidFill>
                <a:latin typeface="Calibri" pitchFamily="34" charset="0"/>
                <a:ea typeface="Calibri" pitchFamily="34" charset="-122"/>
                <a:cs typeface="Calibri" pitchFamily="34" charset="-120"/>
              </a:rPr>
              <a:t>Retail losses we aim to reduce</a:t>
            </a:r>
            <a:endParaRPr lang="en-US" sz="900" dirty="0"/>
          </a:p>
        </p:txBody>
      </p:sp>
      <p:sp>
        <p:nvSpPr>
          <p:cNvPr id="40" name="Shape 38"/>
          <p:cNvSpPr/>
          <p:nvPr/>
        </p:nvSpPr>
        <p:spPr>
          <a:xfrm>
            <a:off x="4581144" y="4160520"/>
            <a:ext cx="1993392" cy="804672"/>
          </a:xfrm>
          <a:prstGeom prst="rect">
            <a:avLst/>
          </a:prstGeom>
          <a:solidFill>
            <a:srgbClr val="FFFFFF"/>
          </a:solidFill>
          <a:ln w="12700">
            <a:solidFill>
              <a:srgbClr val="1D72E8"/>
            </a:solidFill>
            <a:prstDash val="solid"/>
          </a:ln>
          <a:effectLst>
            <a:outerShdw blurRad="101600" dist="38100" dir="8100000" algn="bl" rotWithShape="0">
              <a:srgbClr val="000000">
                <a:alpha val="18000"/>
              </a:srgbClr>
            </a:outerShdw>
          </a:effectLst>
        </p:spPr>
        <p:txBody>
          <a:bodyPr/>
          <a:lstStyle/>
          <a:p>
            <a:endParaRPr lang="en-IN"/>
          </a:p>
        </p:txBody>
      </p:sp>
      <p:sp>
        <p:nvSpPr>
          <p:cNvPr id="41" name="Text 39"/>
          <p:cNvSpPr/>
          <p:nvPr/>
        </p:nvSpPr>
        <p:spPr>
          <a:xfrm>
            <a:off x="4581144" y="4160520"/>
            <a:ext cx="1993392" cy="457200"/>
          </a:xfrm>
          <a:prstGeom prst="rect">
            <a:avLst/>
          </a:prstGeom>
          <a:noFill/>
          <a:ln/>
        </p:spPr>
        <p:txBody>
          <a:bodyPr wrap="square" rtlCol="0" anchor="ctr"/>
          <a:lstStyle/>
          <a:p>
            <a:pPr marL="0" indent="0" algn="ctr">
              <a:buNone/>
            </a:pPr>
            <a:r>
              <a:rPr lang="en-US" sz="2200" b="1" dirty="0">
                <a:solidFill>
                  <a:srgbClr val="1D72E8"/>
                </a:solidFill>
                <a:latin typeface="Georgia" pitchFamily="34" charset="0"/>
                <a:ea typeface="Georgia" pitchFamily="34" charset="-122"/>
                <a:cs typeface="Georgia" pitchFamily="34" charset="-120"/>
              </a:rPr>
              <a:t>FREE</a:t>
            </a:r>
            <a:endParaRPr lang="en-US" sz="2200" dirty="0"/>
          </a:p>
        </p:txBody>
      </p:sp>
      <p:sp>
        <p:nvSpPr>
          <p:cNvPr id="42" name="Text 40"/>
          <p:cNvSpPr/>
          <p:nvPr/>
        </p:nvSpPr>
        <p:spPr>
          <a:xfrm>
            <a:off x="4581144" y="4572000"/>
            <a:ext cx="1993392" cy="347472"/>
          </a:xfrm>
          <a:prstGeom prst="rect">
            <a:avLst/>
          </a:prstGeom>
          <a:noFill/>
          <a:ln/>
        </p:spPr>
        <p:txBody>
          <a:bodyPr wrap="square" rtlCol="0" anchor="ctr"/>
          <a:lstStyle/>
          <a:p>
            <a:pPr marL="0" indent="0" algn="ctr">
              <a:buNone/>
            </a:pPr>
            <a:r>
              <a:rPr lang="en-US" sz="900" dirty="0">
                <a:solidFill>
                  <a:srgbClr val="4A5E82"/>
                </a:solidFill>
                <a:latin typeface="Calibri" pitchFamily="34" charset="0"/>
                <a:ea typeface="Calibri" pitchFamily="34" charset="-122"/>
                <a:cs typeface="Calibri" pitchFamily="34" charset="-120"/>
              </a:rPr>
              <a:t>Cost for full AI analysis</a:t>
            </a:r>
            <a:endParaRPr lang="en-US" sz="900" dirty="0"/>
          </a:p>
        </p:txBody>
      </p:sp>
      <p:sp>
        <p:nvSpPr>
          <p:cNvPr id="43" name="Shape 41"/>
          <p:cNvSpPr/>
          <p:nvPr/>
        </p:nvSpPr>
        <p:spPr>
          <a:xfrm>
            <a:off x="6757416" y="4160520"/>
            <a:ext cx="1993392" cy="804672"/>
          </a:xfrm>
          <a:prstGeom prst="rect">
            <a:avLst/>
          </a:prstGeom>
          <a:solidFill>
            <a:srgbClr val="FFFFFF"/>
          </a:solidFill>
          <a:ln w="12700">
            <a:solidFill>
              <a:srgbClr val="F5C542"/>
            </a:solidFill>
            <a:prstDash val="solid"/>
          </a:ln>
          <a:effectLst>
            <a:outerShdw blurRad="101600" dist="38100" dir="8100000" algn="bl" rotWithShape="0">
              <a:srgbClr val="000000">
                <a:alpha val="18000"/>
              </a:srgbClr>
            </a:outerShdw>
          </a:effectLst>
        </p:spPr>
        <p:txBody>
          <a:bodyPr/>
          <a:lstStyle/>
          <a:p>
            <a:endParaRPr lang="en-IN"/>
          </a:p>
        </p:txBody>
      </p:sp>
      <p:sp>
        <p:nvSpPr>
          <p:cNvPr id="44" name="Text 42"/>
          <p:cNvSpPr/>
          <p:nvPr/>
        </p:nvSpPr>
        <p:spPr>
          <a:xfrm>
            <a:off x="6757416" y="4160520"/>
            <a:ext cx="1993392" cy="457200"/>
          </a:xfrm>
          <a:prstGeom prst="rect">
            <a:avLst/>
          </a:prstGeom>
          <a:noFill/>
          <a:ln/>
        </p:spPr>
        <p:txBody>
          <a:bodyPr wrap="square" rtlCol="0" anchor="ctr"/>
          <a:lstStyle/>
          <a:p>
            <a:pPr marL="0" indent="0" algn="ctr">
              <a:buNone/>
            </a:pPr>
            <a:r>
              <a:rPr lang="en-US" sz="2200" b="1" dirty="0">
                <a:solidFill>
                  <a:srgbClr val="F5C542"/>
                </a:solidFill>
                <a:latin typeface="Georgia" pitchFamily="34" charset="0"/>
                <a:ea typeface="Georgia" pitchFamily="34" charset="-122"/>
                <a:cs typeface="Georgia" pitchFamily="34" charset="-120"/>
              </a:rPr>
              <a:t>9</a:t>
            </a:r>
            <a:endParaRPr lang="en-US" sz="2200" dirty="0"/>
          </a:p>
        </p:txBody>
      </p:sp>
      <p:sp>
        <p:nvSpPr>
          <p:cNvPr id="45" name="Text 43"/>
          <p:cNvSpPr/>
          <p:nvPr/>
        </p:nvSpPr>
        <p:spPr>
          <a:xfrm>
            <a:off x="6757416" y="4572000"/>
            <a:ext cx="1993392" cy="347472"/>
          </a:xfrm>
          <a:prstGeom prst="rect">
            <a:avLst/>
          </a:prstGeom>
          <a:noFill/>
          <a:ln/>
        </p:spPr>
        <p:txBody>
          <a:bodyPr wrap="square" rtlCol="0" anchor="ctr"/>
          <a:lstStyle/>
          <a:p>
            <a:pPr marL="0" indent="0" algn="ctr">
              <a:buNone/>
            </a:pPr>
            <a:r>
              <a:rPr lang="en-US" sz="900" dirty="0">
                <a:solidFill>
                  <a:srgbClr val="4A5E82"/>
                </a:solidFill>
                <a:latin typeface="Calibri" pitchFamily="34" charset="0"/>
                <a:ea typeface="Calibri" pitchFamily="34" charset="-122"/>
                <a:cs typeface="Calibri" pitchFamily="34" charset="-120"/>
              </a:rPr>
              <a:t>Integrated modules in one platform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1022"/>
          </a:solidFill>
          <a:ln/>
        </p:spPr>
        <p:txBody>
          <a:bodyPr/>
          <a:lstStyle/>
          <a:p>
            <a:endParaRPr lang="en-IN"/>
          </a:p>
        </p:txBody>
      </p:sp>
      <p:sp>
        <p:nvSpPr>
          <p:cNvPr id="3" name="Shape 1"/>
          <p:cNvSpPr/>
          <p:nvPr/>
        </p:nvSpPr>
        <p:spPr>
          <a:xfrm>
            <a:off x="-914400" y="-914400"/>
            <a:ext cx="4572000" cy="4572000"/>
          </a:xfrm>
          <a:prstGeom prst="ellipse">
            <a:avLst/>
          </a:prstGeom>
          <a:solidFill>
            <a:srgbClr val="00C896">
              <a:alpha val="8000"/>
            </a:srgbClr>
          </a:solidFill>
          <a:ln/>
        </p:spPr>
        <p:txBody>
          <a:bodyPr/>
          <a:lstStyle/>
          <a:p>
            <a:endParaRPr lang="en-IN"/>
          </a:p>
        </p:txBody>
      </p:sp>
      <p:sp>
        <p:nvSpPr>
          <p:cNvPr id="4" name="Shape 2"/>
          <p:cNvSpPr/>
          <p:nvPr/>
        </p:nvSpPr>
        <p:spPr>
          <a:xfrm>
            <a:off x="6400800" y="2286000"/>
            <a:ext cx="3657600" cy="3657600"/>
          </a:xfrm>
          <a:prstGeom prst="ellipse">
            <a:avLst/>
          </a:prstGeom>
          <a:solidFill>
            <a:srgbClr val="1D72E8">
              <a:alpha val="10000"/>
            </a:srgbClr>
          </a:solidFill>
          <a:ln/>
        </p:spPr>
        <p:txBody>
          <a:bodyPr/>
          <a:lstStyle/>
          <a:p>
            <a:endParaRPr lang="en-IN"/>
          </a:p>
        </p:txBody>
      </p:sp>
      <p:sp>
        <p:nvSpPr>
          <p:cNvPr id="5" name="Shape 3"/>
          <p:cNvSpPr/>
          <p:nvPr/>
        </p:nvSpPr>
        <p:spPr>
          <a:xfrm>
            <a:off x="0" y="0"/>
            <a:ext cx="73152" cy="5143500"/>
          </a:xfrm>
          <a:prstGeom prst="rect">
            <a:avLst/>
          </a:prstGeom>
          <a:solidFill>
            <a:srgbClr val="00C896"/>
          </a:solidFill>
          <a:ln/>
        </p:spPr>
        <p:txBody>
          <a:bodyPr/>
          <a:lstStyle/>
          <a:p>
            <a:endParaRPr lang="en-IN"/>
          </a:p>
        </p:txBody>
      </p:sp>
      <p:sp>
        <p:nvSpPr>
          <p:cNvPr id="6" name="Text 4"/>
          <p:cNvSpPr/>
          <p:nvPr/>
        </p:nvSpPr>
        <p:spPr>
          <a:xfrm>
            <a:off x="457200" y="822960"/>
            <a:ext cx="8229600" cy="502920"/>
          </a:xfrm>
          <a:prstGeom prst="rect">
            <a:avLst/>
          </a:prstGeom>
          <a:noFill/>
          <a:ln/>
        </p:spPr>
        <p:txBody>
          <a:bodyPr wrap="square" rtlCol="0" anchor="ctr"/>
          <a:lstStyle/>
          <a:p>
            <a:pPr marL="0" indent="0">
              <a:buNone/>
            </a:pPr>
            <a:r>
              <a:rPr lang="en-US" sz="1400" b="1" kern="0" spc="800" dirty="0">
                <a:solidFill>
                  <a:srgbClr val="00C896"/>
                </a:solidFill>
                <a:latin typeface="Trebuchet MS" pitchFamily="34" charset="0"/>
                <a:ea typeface="Trebuchet MS" pitchFamily="34" charset="-122"/>
                <a:cs typeface="Trebuchet MS" pitchFamily="34" charset="-120"/>
              </a:rPr>
              <a:t>MANZIL</a:t>
            </a:r>
            <a:endParaRPr lang="en-US" sz="1400" dirty="0"/>
          </a:p>
        </p:txBody>
      </p:sp>
      <p:sp>
        <p:nvSpPr>
          <p:cNvPr id="7" name="Text 5"/>
          <p:cNvSpPr/>
          <p:nvPr/>
        </p:nvSpPr>
        <p:spPr>
          <a:xfrm>
            <a:off x="457200" y="1280160"/>
            <a:ext cx="8229600" cy="1188720"/>
          </a:xfrm>
          <a:prstGeom prst="rect">
            <a:avLst/>
          </a:prstGeom>
          <a:noFill/>
          <a:ln/>
        </p:spPr>
        <p:txBody>
          <a:bodyPr wrap="square" rtlCol="0" anchor="ctr"/>
          <a:lstStyle/>
          <a:p>
            <a:pPr marL="0" indent="0">
              <a:buNone/>
            </a:pPr>
            <a:r>
              <a:rPr lang="en-US" sz="5000" b="1" dirty="0">
                <a:solidFill>
                  <a:srgbClr val="FFFFFF"/>
                </a:solidFill>
                <a:latin typeface="Georgia" pitchFamily="34" charset="0"/>
                <a:ea typeface="Georgia" pitchFamily="34" charset="-122"/>
                <a:cs typeface="Georgia" pitchFamily="34" charset="-120"/>
              </a:rPr>
              <a:t>Sarthak Nivesh</a:t>
            </a:r>
            <a:endParaRPr lang="en-US" sz="5000" dirty="0"/>
          </a:p>
        </p:txBody>
      </p:sp>
      <p:sp>
        <p:nvSpPr>
          <p:cNvPr id="8" name="Text 6"/>
          <p:cNvSpPr/>
          <p:nvPr/>
        </p:nvSpPr>
        <p:spPr>
          <a:xfrm>
            <a:off x="457200" y="2423160"/>
            <a:ext cx="8229600" cy="502920"/>
          </a:xfrm>
          <a:prstGeom prst="rect">
            <a:avLst/>
          </a:prstGeom>
          <a:noFill/>
          <a:ln/>
        </p:spPr>
        <p:txBody>
          <a:bodyPr wrap="square" rtlCol="0" anchor="ctr"/>
          <a:lstStyle/>
          <a:p>
            <a:pPr marL="0" indent="0">
              <a:buNone/>
            </a:pPr>
            <a:r>
              <a:rPr lang="en-US" sz="1800" i="1" dirty="0">
                <a:solidFill>
                  <a:srgbClr val="F5C542"/>
                </a:solidFill>
                <a:latin typeface="Georgia" pitchFamily="34" charset="0"/>
                <a:ea typeface="Georgia" pitchFamily="34" charset="-122"/>
                <a:cs typeface="Georgia" pitchFamily="34" charset="-120"/>
              </a:rPr>
              <a:t>"Making every investment meaningful"</a:t>
            </a:r>
            <a:endParaRPr lang="en-US" sz="1800" dirty="0"/>
          </a:p>
        </p:txBody>
      </p:sp>
      <p:sp>
        <p:nvSpPr>
          <p:cNvPr id="9" name="Shape 7"/>
          <p:cNvSpPr/>
          <p:nvPr/>
        </p:nvSpPr>
        <p:spPr>
          <a:xfrm>
            <a:off x="457200" y="3154680"/>
            <a:ext cx="8229600" cy="54864"/>
          </a:xfrm>
          <a:prstGeom prst="rect">
            <a:avLst/>
          </a:prstGeom>
          <a:solidFill>
            <a:srgbClr val="00C896"/>
          </a:solidFill>
          <a:ln/>
        </p:spPr>
        <p:txBody>
          <a:bodyPr/>
          <a:lstStyle/>
          <a:p>
            <a:endParaRPr lang="en-IN"/>
          </a:p>
        </p:txBody>
      </p:sp>
      <p:sp>
        <p:nvSpPr>
          <p:cNvPr id="10" name="Text 8"/>
          <p:cNvSpPr/>
          <p:nvPr/>
        </p:nvSpPr>
        <p:spPr>
          <a:xfrm>
            <a:off x="457200" y="3337560"/>
            <a:ext cx="8229600" cy="347472"/>
          </a:xfrm>
          <a:prstGeom prst="rect">
            <a:avLst/>
          </a:prstGeom>
          <a:noFill/>
          <a:ln/>
        </p:spPr>
        <p:txBody>
          <a:bodyPr wrap="square" rtlCol="0" anchor="ctr"/>
          <a:lstStyle/>
          <a:p>
            <a:pPr marL="0" indent="0">
              <a:buNone/>
            </a:pPr>
            <a:r>
              <a:rPr lang="en-US" sz="1200" dirty="0">
                <a:solidFill>
                  <a:srgbClr val="8A9BB8"/>
                </a:solidFill>
                <a:latin typeface="Calibri" pitchFamily="34" charset="0"/>
                <a:ea typeface="Calibri" pitchFamily="34" charset="-122"/>
                <a:cs typeface="Calibri" pitchFamily="34" charset="-120"/>
              </a:rPr>
              <a:t>Version 1.0  ·  Production Ready  ·  March 2026</a:t>
            </a:r>
            <a:endParaRPr lang="en-US" sz="1200" dirty="0"/>
          </a:p>
        </p:txBody>
      </p:sp>
      <p:sp>
        <p:nvSpPr>
          <p:cNvPr id="11" name="Text 9"/>
          <p:cNvSpPr/>
          <p:nvPr/>
        </p:nvSpPr>
        <p:spPr>
          <a:xfrm>
            <a:off x="457200" y="3703320"/>
            <a:ext cx="8229600" cy="320040"/>
          </a:xfrm>
          <a:prstGeom prst="rect">
            <a:avLst/>
          </a:prstGeom>
          <a:noFill/>
          <a:ln/>
        </p:spPr>
        <p:txBody>
          <a:bodyPr wrap="square" rtlCol="0" anchor="ctr"/>
          <a:lstStyle/>
          <a:p>
            <a:pPr marL="0" indent="0">
              <a:buNone/>
            </a:pPr>
            <a:r>
              <a:rPr lang="en-US" sz="1200" dirty="0">
                <a:solidFill>
                  <a:srgbClr val="00C896"/>
                </a:solidFill>
                <a:latin typeface="Consolas" pitchFamily="34" charset="0"/>
                <a:ea typeface="Consolas" pitchFamily="34" charset="-122"/>
                <a:cs typeface="Consolas" pitchFamily="34" charset="-120"/>
              </a:rPr>
              <a:t>github.com/Amanarun2907/PRJ-3-6th-Semester-2026</a:t>
            </a:r>
            <a:endParaRPr lang="en-US" sz="1200" dirty="0"/>
          </a:p>
        </p:txBody>
      </p:sp>
      <p:sp>
        <p:nvSpPr>
          <p:cNvPr id="12" name="Text 10"/>
          <p:cNvSpPr/>
          <p:nvPr/>
        </p:nvSpPr>
        <p:spPr>
          <a:xfrm>
            <a:off x="457200" y="4160520"/>
            <a:ext cx="822960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Thank You</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0F4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txBody>
          <a:bodyPr/>
          <a:lstStyle/>
          <a:p>
            <a:endParaRPr lang="en-IN"/>
          </a:p>
        </p:txBody>
      </p:sp>
      <p:sp>
        <p:nvSpPr>
          <p:cNvPr id="3" name="Shape 1"/>
          <p:cNvSpPr/>
          <p:nvPr/>
        </p:nvSpPr>
        <p:spPr>
          <a:xfrm>
            <a:off x="0" y="1005840"/>
            <a:ext cx="9144000" cy="54864"/>
          </a:xfrm>
          <a:prstGeom prst="rect">
            <a:avLst/>
          </a:prstGeom>
          <a:solidFill>
            <a:srgbClr val="1D72E8"/>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SYSTEM ARCHITECTURE</a:t>
            </a:r>
            <a:endParaRPr lang="en-US" sz="3000" dirty="0"/>
          </a:p>
        </p:txBody>
      </p:sp>
      <p:sp>
        <p:nvSpPr>
          <p:cNvPr id="5" name="Shape 3"/>
          <p:cNvSpPr/>
          <p:nvPr/>
        </p:nvSpPr>
        <p:spPr>
          <a:xfrm>
            <a:off x="3200400" y="1234440"/>
            <a:ext cx="2743200" cy="594360"/>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6" name="Text 4"/>
          <p:cNvSpPr/>
          <p:nvPr/>
        </p:nvSpPr>
        <p:spPr>
          <a:xfrm>
            <a:off x="3200400" y="1234440"/>
            <a:ext cx="2743200" cy="594360"/>
          </a:xfrm>
          <a:prstGeom prst="rect">
            <a:avLst/>
          </a:prstGeom>
          <a:noFill/>
          <a:ln/>
        </p:spPr>
        <p:txBody>
          <a:bodyPr wrap="square"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USER INTERFACE  (Browser · Streamlit)</a:t>
            </a:r>
            <a:endParaRPr lang="en-US" sz="1100" dirty="0"/>
          </a:p>
        </p:txBody>
      </p:sp>
      <p:sp>
        <p:nvSpPr>
          <p:cNvPr id="7" name="Shape 5"/>
          <p:cNvSpPr/>
          <p:nvPr/>
        </p:nvSpPr>
        <p:spPr>
          <a:xfrm>
            <a:off x="4572000" y="1828800"/>
            <a:ext cx="0" cy="320040"/>
          </a:xfrm>
          <a:prstGeom prst="line">
            <a:avLst/>
          </a:prstGeom>
          <a:noFill/>
          <a:ln w="12700">
            <a:solidFill>
              <a:srgbClr val="00C896"/>
            </a:solidFill>
            <a:prstDash val="solid"/>
          </a:ln>
        </p:spPr>
        <p:txBody>
          <a:bodyPr/>
          <a:lstStyle/>
          <a:p>
            <a:endParaRPr lang="en-IN"/>
          </a:p>
        </p:txBody>
      </p:sp>
      <p:sp>
        <p:nvSpPr>
          <p:cNvPr id="8" name="Shape 6"/>
          <p:cNvSpPr/>
          <p:nvPr/>
        </p:nvSpPr>
        <p:spPr>
          <a:xfrm>
            <a:off x="2011680" y="2148840"/>
            <a:ext cx="5120640" cy="640080"/>
          </a:xfrm>
          <a:prstGeom prst="rect">
            <a:avLst/>
          </a:prstGeom>
          <a:solidFill>
            <a:srgbClr val="1D72E8"/>
          </a:solidFill>
          <a:ln/>
          <a:effectLst>
            <a:outerShdw blurRad="101600" dist="38100" dir="8100000" algn="bl" rotWithShape="0">
              <a:srgbClr val="000000">
                <a:alpha val="18000"/>
              </a:srgbClr>
            </a:outerShdw>
          </a:effectLst>
        </p:spPr>
        <p:txBody>
          <a:bodyPr/>
          <a:lstStyle/>
          <a:p>
            <a:endParaRPr lang="en-IN"/>
          </a:p>
        </p:txBody>
      </p:sp>
      <p:sp>
        <p:nvSpPr>
          <p:cNvPr id="9" name="Text 7"/>
          <p:cNvSpPr/>
          <p:nvPr/>
        </p:nvSpPr>
        <p:spPr>
          <a:xfrm>
            <a:off x="2011680" y="2148840"/>
            <a:ext cx="5120640" cy="64008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APPLICATION CORE  ·  main_ultimate_final.py  (5700+ lines)</a:t>
            </a:r>
            <a:endParaRPr lang="en-US" sz="1200" dirty="0"/>
          </a:p>
        </p:txBody>
      </p:sp>
      <p:sp>
        <p:nvSpPr>
          <p:cNvPr id="10" name="Shape 8"/>
          <p:cNvSpPr/>
          <p:nvPr/>
        </p:nvSpPr>
        <p:spPr>
          <a:xfrm>
            <a:off x="4572000" y="2788920"/>
            <a:ext cx="0" cy="320040"/>
          </a:xfrm>
          <a:prstGeom prst="line">
            <a:avLst/>
          </a:prstGeom>
          <a:noFill/>
          <a:ln w="12700">
            <a:solidFill>
              <a:srgbClr val="00C896"/>
            </a:solidFill>
            <a:prstDash val="solid"/>
          </a:ln>
        </p:spPr>
        <p:txBody>
          <a:bodyPr/>
          <a:lstStyle/>
          <a:p>
            <a:endParaRPr lang="en-IN"/>
          </a:p>
        </p:txBody>
      </p:sp>
      <p:sp>
        <p:nvSpPr>
          <p:cNvPr id="11" name="Shape 9"/>
          <p:cNvSpPr/>
          <p:nvPr/>
        </p:nvSpPr>
        <p:spPr>
          <a:xfrm>
            <a:off x="164592" y="3108960"/>
            <a:ext cx="1600200" cy="64008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12" name="Text 10"/>
          <p:cNvSpPr/>
          <p:nvPr/>
        </p:nvSpPr>
        <p:spPr>
          <a:xfrm>
            <a:off x="164592" y="3108960"/>
            <a:ext cx="1600200" cy="640080"/>
          </a:xfrm>
          <a:prstGeom prst="rect">
            <a:avLst/>
          </a:prstGeom>
          <a:noFill/>
          <a:ln/>
        </p:spPr>
        <p:txBody>
          <a:bodyPr wrap="square" rtlCol="0" anchor="ctr"/>
          <a:lstStyle/>
          <a:p>
            <a:pPr marL="0" indent="0" algn="ctr">
              <a:buNone/>
            </a:pPr>
            <a:r>
              <a:rPr lang="en-US" sz="900" dirty="0">
                <a:solidFill>
                  <a:srgbClr val="00C896"/>
                </a:solidFill>
                <a:latin typeface="Consolas" pitchFamily="34" charset="0"/>
                <a:ea typeface="Consolas" pitchFamily="34" charset="-122"/>
                <a:cs typeface="Consolas" pitchFamily="34" charset="-120"/>
              </a:rPr>
              <a:t>agentic_ai_hub.py</a:t>
            </a:r>
            <a:endParaRPr lang="en-US" sz="900" dirty="0"/>
          </a:p>
        </p:txBody>
      </p:sp>
      <p:sp>
        <p:nvSpPr>
          <p:cNvPr id="13" name="Shape 11"/>
          <p:cNvSpPr/>
          <p:nvPr/>
        </p:nvSpPr>
        <p:spPr>
          <a:xfrm>
            <a:off x="1929384" y="3108960"/>
            <a:ext cx="1600200" cy="64008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14" name="Text 12"/>
          <p:cNvSpPr/>
          <p:nvPr/>
        </p:nvSpPr>
        <p:spPr>
          <a:xfrm>
            <a:off x="1929384" y="3108960"/>
            <a:ext cx="1600200" cy="640080"/>
          </a:xfrm>
          <a:prstGeom prst="rect">
            <a:avLst/>
          </a:prstGeom>
          <a:noFill/>
          <a:ln/>
        </p:spPr>
        <p:txBody>
          <a:bodyPr wrap="square" rtlCol="0" anchor="ctr"/>
          <a:lstStyle/>
          <a:p>
            <a:pPr marL="0" indent="0" algn="ctr">
              <a:buNone/>
            </a:pPr>
            <a:r>
              <a:rPr lang="en-US" sz="900" dirty="0">
                <a:solidFill>
                  <a:srgbClr val="00C896"/>
                </a:solidFill>
                <a:latin typeface="Consolas" pitchFamily="34" charset="0"/>
                <a:ea typeface="Consolas" pitchFamily="34" charset="-122"/>
                <a:cs typeface="Consolas" pitchFamily="34" charset="-120"/>
              </a:rPr>
              <a:t>ipo_intelligence.py</a:t>
            </a:r>
            <a:endParaRPr lang="en-US" sz="900" dirty="0"/>
          </a:p>
        </p:txBody>
      </p:sp>
      <p:sp>
        <p:nvSpPr>
          <p:cNvPr id="15" name="Shape 13"/>
          <p:cNvSpPr/>
          <p:nvPr/>
        </p:nvSpPr>
        <p:spPr>
          <a:xfrm>
            <a:off x="3694176" y="3108960"/>
            <a:ext cx="1600200" cy="64008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16" name="Text 14"/>
          <p:cNvSpPr/>
          <p:nvPr/>
        </p:nvSpPr>
        <p:spPr>
          <a:xfrm>
            <a:off x="3694176" y="3108960"/>
            <a:ext cx="1600200" cy="640080"/>
          </a:xfrm>
          <a:prstGeom prst="rect">
            <a:avLst/>
          </a:prstGeom>
          <a:noFill/>
          <a:ln/>
        </p:spPr>
        <p:txBody>
          <a:bodyPr wrap="square" rtlCol="0" anchor="ctr"/>
          <a:lstStyle/>
          <a:p>
            <a:pPr marL="0" indent="0" algn="ctr">
              <a:buNone/>
            </a:pPr>
            <a:r>
              <a:rPr lang="en-US" sz="900" dirty="0">
                <a:solidFill>
                  <a:srgbClr val="00C896"/>
                </a:solidFill>
                <a:latin typeface="Consolas" pitchFamily="34" charset="0"/>
                <a:ea typeface="Consolas" pitchFamily="34" charset="-122"/>
                <a:cs typeface="Consolas" pitchFamily="34" charset="-120"/>
              </a:rPr>
              <a:t>smart_money.py</a:t>
            </a:r>
            <a:endParaRPr lang="en-US" sz="900" dirty="0"/>
          </a:p>
        </p:txBody>
      </p:sp>
      <p:sp>
        <p:nvSpPr>
          <p:cNvPr id="17" name="Shape 15"/>
          <p:cNvSpPr/>
          <p:nvPr/>
        </p:nvSpPr>
        <p:spPr>
          <a:xfrm>
            <a:off x="5458968" y="3108960"/>
            <a:ext cx="1600200" cy="64008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18" name="Text 16"/>
          <p:cNvSpPr/>
          <p:nvPr/>
        </p:nvSpPr>
        <p:spPr>
          <a:xfrm>
            <a:off x="5458968" y="3108960"/>
            <a:ext cx="1600200" cy="640080"/>
          </a:xfrm>
          <a:prstGeom prst="rect">
            <a:avLst/>
          </a:prstGeom>
          <a:noFill/>
          <a:ln/>
        </p:spPr>
        <p:txBody>
          <a:bodyPr wrap="square" rtlCol="0" anchor="ctr"/>
          <a:lstStyle/>
          <a:p>
            <a:pPr marL="0" indent="0" algn="ctr">
              <a:buNone/>
            </a:pPr>
            <a:r>
              <a:rPr lang="en-US" sz="900" dirty="0">
                <a:solidFill>
                  <a:srgbClr val="00C896"/>
                </a:solidFill>
                <a:latin typeface="Consolas" pitchFamily="34" charset="0"/>
                <a:ea typeface="Consolas" pitchFamily="34" charset="-122"/>
                <a:cs typeface="Consolas" pitchFamily="34" charset="-120"/>
              </a:rPr>
              <a:t>portfolio_mgr.py</a:t>
            </a:r>
            <a:endParaRPr lang="en-US" sz="900" dirty="0"/>
          </a:p>
        </p:txBody>
      </p:sp>
      <p:sp>
        <p:nvSpPr>
          <p:cNvPr id="19" name="Shape 17"/>
          <p:cNvSpPr/>
          <p:nvPr/>
        </p:nvSpPr>
        <p:spPr>
          <a:xfrm>
            <a:off x="7223760" y="3108960"/>
            <a:ext cx="1600200" cy="64008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20" name="Text 18"/>
          <p:cNvSpPr/>
          <p:nvPr/>
        </p:nvSpPr>
        <p:spPr>
          <a:xfrm>
            <a:off x="7223760" y="3108960"/>
            <a:ext cx="1600200" cy="640080"/>
          </a:xfrm>
          <a:prstGeom prst="rect">
            <a:avLst/>
          </a:prstGeom>
          <a:noFill/>
          <a:ln/>
        </p:spPr>
        <p:txBody>
          <a:bodyPr wrap="square" rtlCol="0" anchor="ctr"/>
          <a:lstStyle/>
          <a:p>
            <a:pPr marL="0" indent="0" algn="ctr">
              <a:buNone/>
            </a:pPr>
            <a:r>
              <a:rPr lang="en-US" sz="900" dirty="0">
                <a:solidFill>
                  <a:srgbClr val="00C896"/>
                </a:solidFill>
                <a:latin typeface="Consolas" pitchFamily="34" charset="0"/>
                <a:ea typeface="Consolas" pitchFamily="34" charset="-122"/>
                <a:cs typeface="Consolas" pitchFamily="34" charset="-120"/>
              </a:rPr>
              <a:t>mutual_fund.py</a:t>
            </a:r>
            <a:endParaRPr lang="en-US" sz="900" dirty="0"/>
          </a:p>
        </p:txBody>
      </p:sp>
      <p:sp>
        <p:nvSpPr>
          <p:cNvPr id="21" name="Shape 19"/>
          <p:cNvSpPr/>
          <p:nvPr/>
        </p:nvSpPr>
        <p:spPr>
          <a:xfrm>
            <a:off x="4572000" y="3749040"/>
            <a:ext cx="0" cy="274320"/>
          </a:xfrm>
          <a:prstGeom prst="line">
            <a:avLst/>
          </a:prstGeom>
          <a:noFill/>
          <a:ln w="12700">
            <a:solidFill>
              <a:srgbClr val="00C896"/>
            </a:solidFill>
            <a:prstDash val="solid"/>
          </a:ln>
        </p:spPr>
        <p:txBody>
          <a:bodyPr/>
          <a:lstStyle/>
          <a:p>
            <a:endParaRPr lang="en-IN"/>
          </a:p>
        </p:txBody>
      </p:sp>
      <p:sp>
        <p:nvSpPr>
          <p:cNvPr id="22" name="Text 20"/>
          <p:cNvSpPr/>
          <p:nvPr/>
        </p:nvSpPr>
        <p:spPr>
          <a:xfrm>
            <a:off x="274320" y="4023360"/>
            <a:ext cx="8595360" cy="256032"/>
          </a:xfrm>
          <a:prstGeom prst="rect">
            <a:avLst/>
          </a:prstGeom>
          <a:noFill/>
          <a:ln/>
        </p:spPr>
        <p:txBody>
          <a:bodyPr wrap="square" rtlCol="0" anchor="ctr"/>
          <a:lstStyle/>
          <a:p>
            <a:pPr marL="0" indent="0" algn="ctr">
              <a:buNone/>
            </a:pPr>
            <a:r>
              <a:rPr lang="en-US" sz="1000" b="1" dirty="0">
                <a:solidFill>
                  <a:srgbClr val="8A9BB8"/>
                </a:solidFill>
                <a:latin typeface="Trebuchet MS" pitchFamily="34" charset="0"/>
                <a:ea typeface="Trebuchet MS" pitchFamily="34" charset="-122"/>
                <a:cs typeface="Trebuchet MS" pitchFamily="34" charset="-120"/>
              </a:rPr>
              <a:t>DATA LAYER</a:t>
            </a:r>
            <a:endParaRPr lang="en-US" sz="1000" dirty="0"/>
          </a:p>
        </p:txBody>
      </p:sp>
      <p:sp>
        <p:nvSpPr>
          <p:cNvPr id="23" name="Shape 21"/>
          <p:cNvSpPr/>
          <p:nvPr/>
        </p:nvSpPr>
        <p:spPr>
          <a:xfrm>
            <a:off x="164592" y="4297680"/>
            <a:ext cx="1325880" cy="566928"/>
          </a:xfrm>
          <a:prstGeom prst="rect">
            <a:avLst/>
          </a:prstGeom>
          <a:solidFill>
            <a:srgbClr val="00C896">
              <a:alpha val="18000"/>
            </a:srgbClr>
          </a:solidFill>
          <a:ln w="12700">
            <a:solidFill>
              <a:srgbClr val="00C896"/>
            </a:solidFill>
            <a:prstDash val="solid"/>
          </a:ln>
        </p:spPr>
        <p:txBody>
          <a:bodyPr/>
          <a:lstStyle/>
          <a:p>
            <a:endParaRPr lang="en-IN"/>
          </a:p>
        </p:txBody>
      </p:sp>
      <p:sp>
        <p:nvSpPr>
          <p:cNvPr id="24" name="Text 22"/>
          <p:cNvSpPr/>
          <p:nvPr/>
        </p:nvSpPr>
        <p:spPr>
          <a:xfrm>
            <a:off x="164592" y="4297680"/>
            <a:ext cx="1325880" cy="566928"/>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Yahoo Finance</a:t>
            </a:r>
            <a:endParaRPr lang="en-US" sz="900" dirty="0"/>
          </a:p>
        </p:txBody>
      </p:sp>
      <p:sp>
        <p:nvSpPr>
          <p:cNvPr id="25" name="Shape 23"/>
          <p:cNvSpPr/>
          <p:nvPr/>
        </p:nvSpPr>
        <p:spPr>
          <a:xfrm>
            <a:off x="1655064" y="4297680"/>
            <a:ext cx="1325880" cy="566928"/>
          </a:xfrm>
          <a:prstGeom prst="rect">
            <a:avLst/>
          </a:prstGeom>
          <a:solidFill>
            <a:srgbClr val="1D72E8">
              <a:alpha val="18000"/>
            </a:srgbClr>
          </a:solidFill>
          <a:ln w="12700">
            <a:solidFill>
              <a:srgbClr val="1D72E8"/>
            </a:solidFill>
            <a:prstDash val="solid"/>
          </a:ln>
        </p:spPr>
        <p:txBody>
          <a:bodyPr/>
          <a:lstStyle/>
          <a:p>
            <a:endParaRPr lang="en-IN"/>
          </a:p>
        </p:txBody>
      </p:sp>
      <p:sp>
        <p:nvSpPr>
          <p:cNvPr id="26" name="Text 24"/>
          <p:cNvSpPr/>
          <p:nvPr/>
        </p:nvSpPr>
        <p:spPr>
          <a:xfrm>
            <a:off x="1655064" y="4297680"/>
            <a:ext cx="1325880" cy="566928"/>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NSE India API</a:t>
            </a:r>
            <a:endParaRPr lang="en-US" sz="900" dirty="0"/>
          </a:p>
        </p:txBody>
      </p:sp>
      <p:sp>
        <p:nvSpPr>
          <p:cNvPr id="27" name="Shape 25"/>
          <p:cNvSpPr/>
          <p:nvPr/>
        </p:nvSpPr>
        <p:spPr>
          <a:xfrm>
            <a:off x="3145536" y="4297680"/>
            <a:ext cx="1325880" cy="566928"/>
          </a:xfrm>
          <a:prstGeom prst="rect">
            <a:avLst/>
          </a:prstGeom>
          <a:solidFill>
            <a:srgbClr val="F5C542">
              <a:alpha val="18000"/>
            </a:srgbClr>
          </a:solidFill>
          <a:ln w="12700">
            <a:solidFill>
              <a:srgbClr val="F5C542"/>
            </a:solidFill>
            <a:prstDash val="solid"/>
          </a:ln>
        </p:spPr>
        <p:txBody>
          <a:bodyPr/>
          <a:lstStyle/>
          <a:p>
            <a:endParaRPr lang="en-IN"/>
          </a:p>
        </p:txBody>
      </p:sp>
      <p:sp>
        <p:nvSpPr>
          <p:cNvPr id="28" name="Text 26"/>
          <p:cNvSpPr/>
          <p:nvPr/>
        </p:nvSpPr>
        <p:spPr>
          <a:xfrm>
            <a:off x="3145536" y="4297680"/>
            <a:ext cx="1325880" cy="566928"/>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ipowatch.in</a:t>
            </a:r>
            <a:endParaRPr lang="en-US" sz="900" dirty="0"/>
          </a:p>
        </p:txBody>
      </p:sp>
      <p:sp>
        <p:nvSpPr>
          <p:cNvPr id="29" name="Shape 27"/>
          <p:cNvSpPr/>
          <p:nvPr/>
        </p:nvSpPr>
        <p:spPr>
          <a:xfrm>
            <a:off x="4636008" y="4297680"/>
            <a:ext cx="1325880" cy="566928"/>
          </a:xfrm>
          <a:prstGeom prst="rect">
            <a:avLst/>
          </a:prstGeom>
          <a:solidFill>
            <a:srgbClr val="29B6F6">
              <a:alpha val="18000"/>
            </a:srgbClr>
          </a:solidFill>
          <a:ln w="12700">
            <a:solidFill>
              <a:srgbClr val="29B6F6"/>
            </a:solidFill>
            <a:prstDash val="solid"/>
          </a:ln>
        </p:spPr>
        <p:txBody>
          <a:bodyPr/>
          <a:lstStyle/>
          <a:p>
            <a:endParaRPr lang="en-IN"/>
          </a:p>
        </p:txBody>
      </p:sp>
      <p:sp>
        <p:nvSpPr>
          <p:cNvPr id="30" name="Text 28"/>
          <p:cNvSpPr/>
          <p:nvPr/>
        </p:nvSpPr>
        <p:spPr>
          <a:xfrm>
            <a:off x="4636008" y="4297680"/>
            <a:ext cx="1325880" cy="566928"/>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Google News RSS</a:t>
            </a:r>
            <a:endParaRPr lang="en-US" sz="900" dirty="0"/>
          </a:p>
        </p:txBody>
      </p:sp>
      <p:sp>
        <p:nvSpPr>
          <p:cNvPr id="31" name="Shape 29"/>
          <p:cNvSpPr/>
          <p:nvPr/>
        </p:nvSpPr>
        <p:spPr>
          <a:xfrm>
            <a:off x="6126480" y="4297680"/>
            <a:ext cx="1325880" cy="566928"/>
          </a:xfrm>
          <a:prstGeom prst="rect">
            <a:avLst/>
          </a:prstGeom>
          <a:solidFill>
            <a:srgbClr val="AB47BC">
              <a:alpha val="18000"/>
            </a:srgbClr>
          </a:solidFill>
          <a:ln w="12700">
            <a:solidFill>
              <a:srgbClr val="AB47BC"/>
            </a:solidFill>
            <a:prstDash val="solid"/>
          </a:ln>
        </p:spPr>
        <p:txBody>
          <a:bodyPr/>
          <a:lstStyle/>
          <a:p>
            <a:endParaRPr lang="en-IN"/>
          </a:p>
        </p:txBody>
      </p:sp>
      <p:sp>
        <p:nvSpPr>
          <p:cNvPr id="32" name="Text 30"/>
          <p:cNvSpPr/>
          <p:nvPr/>
        </p:nvSpPr>
        <p:spPr>
          <a:xfrm>
            <a:off x="6126480" y="4297680"/>
            <a:ext cx="1325880" cy="566928"/>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SQLite DB</a:t>
            </a:r>
            <a:endParaRPr lang="en-US" sz="900" dirty="0"/>
          </a:p>
        </p:txBody>
      </p:sp>
      <p:sp>
        <p:nvSpPr>
          <p:cNvPr id="33" name="Shape 31"/>
          <p:cNvSpPr/>
          <p:nvPr/>
        </p:nvSpPr>
        <p:spPr>
          <a:xfrm>
            <a:off x="7616952" y="4297680"/>
            <a:ext cx="1325880" cy="566928"/>
          </a:xfrm>
          <a:prstGeom prst="rect">
            <a:avLst/>
          </a:prstGeom>
          <a:solidFill>
            <a:srgbClr val="F06292">
              <a:alpha val="18000"/>
            </a:srgbClr>
          </a:solidFill>
          <a:ln w="12700">
            <a:solidFill>
              <a:srgbClr val="F06292"/>
            </a:solidFill>
            <a:prstDash val="solid"/>
          </a:ln>
        </p:spPr>
        <p:txBody>
          <a:bodyPr/>
          <a:lstStyle/>
          <a:p>
            <a:endParaRPr lang="en-IN"/>
          </a:p>
        </p:txBody>
      </p:sp>
      <p:sp>
        <p:nvSpPr>
          <p:cNvPr id="34" name="Text 32"/>
          <p:cNvSpPr/>
          <p:nvPr/>
        </p:nvSpPr>
        <p:spPr>
          <a:xfrm>
            <a:off x="7616952" y="4297680"/>
            <a:ext cx="1325880" cy="566928"/>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AMFI India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1022"/>
          </a:solidFill>
          <a:ln/>
        </p:spPr>
        <p:txBody>
          <a:bodyPr/>
          <a:lstStyle/>
          <a:p>
            <a:endParaRPr lang="en-IN"/>
          </a:p>
        </p:txBody>
      </p:sp>
      <p:sp>
        <p:nvSpPr>
          <p:cNvPr id="3" name="Shape 1"/>
          <p:cNvSpPr/>
          <p:nvPr/>
        </p:nvSpPr>
        <p:spPr>
          <a:xfrm>
            <a:off x="0" y="1005840"/>
            <a:ext cx="9144000" cy="54864"/>
          </a:xfrm>
          <a:prstGeom prst="rect">
            <a:avLst/>
          </a:prstGeom>
          <a:solidFill>
            <a:srgbClr val="F5C542"/>
          </a:solidFill>
          <a:ln/>
        </p:spPr>
        <p:txBody>
          <a:bodyPr/>
          <a:lstStyle/>
          <a:p>
            <a:endParaRPr lang="en-IN"/>
          </a:p>
        </p:txBody>
      </p:sp>
      <p:sp>
        <p:nvSpPr>
          <p:cNvPr id="4" name="Text 2"/>
          <p:cNvSpPr/>
          <p:nvPr/>
        </p:nvSpPr>
        <p:spPr>
          <a:xfrm>
            <a:off x="365760" y="109728"/>
            <a:ext cx="822960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WORKFLOW &amp; METHODOLOGY</a:t>
            </a:r>
            <a:endParaRPr lang="en-US" sz="2800" dirty="0"/>
          </a:p>
        </p:txBody>
      </p:sp>
      <p:sp>
        <p:nvSpPr>
          <p:cNvPr id="5" name="Shape 3"/>
          <p:cNvSpPr/>
          <p:nvPr/>
        </p:nvSpPr>
        <p:spPr>
          <a:xfrm>
            <a:off x="228600" y="1280160"/>
            <a:ext cx="1508760" cy="128016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28600" y="1280160"/>
            <a:ext cx="1508760" cy="274320"/>
          </a:xfrm>
          <a:prstGeom prst="rect">
            <a:avLst/>
          </a:prstGeom>
          <a:solidFill>
            <a:srgbClr val="00C896"/>
          </a:solidFill>
          <a:ln/>
        </p:spPr>
        <p:txBody>
          <a:bodyPr/>
          <a:lstStyle/>
          <a:p>
            <a:endParaRPr lang="en-IN"/>
          </a:p>
        </p:txBody>
      </p:sp>
      <p:sp>
        <p:nvSpPr>
          <p:cNvPr id="7" name="Text 5"/>
          <p:cNvSpPr/>
          <p:nvPr/>
        </p:nvSpPr>
        <p:spPr>
          <a:xfrm>
            <a:off x="228600" y="1280160"/>
            <a:ext cx="1508760" cy="12801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User Opens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p>
        </p:txBody>
      </p:sp>
      <p:sp>
        <p:nvSpPr>
          <p:cNvPr id="8" name="Shape 6"/>
          <p:cNvSpPr/>
          <p:nvPr/>
        </p:nvSpPr>
        <p:spPr>
          <a:xfrm>
            <a:off x="1737360" y="1920240"/>
            <a:ext cx="411480" cy="0"/>
          </a:xfrm>
          <a:prstGeom prst="line">
            <a:avLst/>
          </a:prstGeom>
          <a:noFill/>
          <a:ln w="12700">
            <a:solidFill>
              <a:srgbClr val="00C896"/>
            </a:solidFill>
            <a:prstDash val="solid"/>
          </a:ln>
        </p:spPr>
        <p:txBody>
          <a:bodyPr/>
          <a:lstStyle/>
          <a:p>
            <a:endParaRPr lang="en-IN"/>
          </a:p>
        </p:txBody>
      </p:sp>
      <p:sp>
        <p:nvSpPr>
          <p:cNvPr id="9" name="Shape 7"/>
          <p:cNvSpPr/>
          <p:nvPr/>
        </p:nvSpPr>
        <p:spPr>
          <a:xfrm>
            <a:off x="1920240" y="1280160"/>
            <a:ext cx="1508760" cy="1280160"/>
          </a:xfrm>
          <a:prstGeom prst="rect">
            <a:avLst/>
          </a:prstGeom>
          <a:solidFill>
            <a:srgbClr val="132140"/>
          </a:solidFill>
          <a:ln w="12700">
            <a:solidFill>
              <a:srgbClr val="1D72E8"/>
            </a:solidFill>
            <a:prstDash val="solid"/>
          </a:ln>
          <a:effectLst>
            <a:outerShdw blurRad="101600" dist="38100" dir="8100000" algn="bl" rotWithShape="0">
              <a:srgbClr val="000000">
                <a:alpha val="18000"/>
              </a:srgbClr>
            </a:outerShdw>
          </a:effectLst>
        </p:spPr>
        <p:txBody>
          <a:bodyPr/>
          <a:lstStyle/>
          <a:p>
            <a:endParaRPr lang="en-IN"/>
          </a:p>
        </p:txBody>
      </p:sp>
      <p:sp>
        <p:nvSpPr>
          <p:cNvPr id="10" name="Shape 8"/>
          <p:cNvSpPr/>
          <p:nvPr/>
        </p:nvSpPr>
        <p:spPr>
          <a:xfrm>
            <a:off x="1920240" y="1280160"/>
            <a:ext cx="1508760" cy="274320"/>
          </a:xfrm>
          <a:prstGeom prst="rect">
            <a:avLst/>
          </a:prstGeom>
          <a:solidFill>
            <a:srgbClr val="1D72E8"/>
          </a:solidFill>
          <a:ln/>
        </p:spPr>
        <p:txBody>
          <a:bodyPr/>
          <a:lstStyle/>
          <a:p>
            <a:endParaRPr lang="en-IN"/>
          </a:p>
        </p:txBody>
      </p:sp>
      <p:sp>
        <p:nvSpPr>
          <p:cNvPr id="11" name="Text 9"/>
          <p:cNvSpPr/>
          <p:nvPr/>
        </p:nvSpPr>
        <p:spPr>
          <a:xfrm>
            <a:off x="1920240" y="1280160"/>
            <a:ext cx="1508760" cy="12801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Selects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Module</a:t>
            </a:r>
            <a:endParaRPr lang="en-US" sz="1100" dirty="0"/>
          </a:p>
        </p:txBody>
      </p:sp>
      <p:sp>
        <p:nvSpPr>
          <p:cNvPr id="12" name="Shape 10"/>
          <p:cNvSpPr/>
          <p:nvPr/>
        </p:nvSpPr>
        <p:spPr>
          <a:xfrm>
            <a:off x="3429000" y="1920240"/>
            <a:ext cx="411480" cy="0"/>
          </a:xfrm>
          <a:prstGeom prst="line">
            <a:avLst/>
          </a:prstGeom>
          <a:noFill/>
          <a:ln w="12700">
            <a:solidFill>
              <a:srgbClr val="1D72E8"/>
            </a:solidFill>
            <a:prstDash val="solid"/>
          </a:ln>
        </p:spPr>
        <p:txBody>
          <a:bodyPr/>
          <a:lstStyle/>
          <a:p>
            <a:endParaRPr lang="en-IN"/>
          </a:p>
        </p:txBody>
      </p:sp>
      <p:sp>
        <p:nvSpPr>
          <p:cNvPr id="13" name="Shape 11"/>
          <p:cNvSpPr/>
          <p:nvPr/>
        </p:nvSpPr>
        <p:spPr>
          <a:xfrm>
            <a:off x="3611880" y="1280160"/>
            <a:ext cx="1508760" cy="1280160"/>
          </a:xfrm>
          <a:prstGeom prst="rect">
            <a:avLst/>
          </a:prstGeom>
          <a:solidFill>
            <a:srgbClr val="132140"/>
          </a:solidFill>
          <a:ln w="12700">
            <a:solidFill>
              <a:srgbClr val="F5C542"/>
            </a:solidFill>
            <a:prstDash val="solid"/>
          </a:ln>
          <a:effectLst>
            <a:outerShdw blurRad="101600" dist="38100" dir="8100000" algn="bl" rotWithShape="0">
              <a:srgbClr val="000000">
                <a:alpha val="18000"/>
              </a:srgbClr>
            </a:outerShdw>
          </a:effectLst>
        </p:spPr>
        <p:txBody>
          <a:bodyPr/>
          <a:lstStyle/>
          <a:p>
            <a:endParaRPr lang="en-IN"/>
          </a:p>
        </p:txBody>
      </p:sp>
      <p:sp>
        <p:nvSpPr>
          <p:cNvPr id="14" name="Shape 12"/>
          <p:cNvSpPr/>
          <p:nvPr/>
        </p:nvSpPr>
        <p:spPr>
          <a:xfrm>
            <a:off x="3611880" y="1280160"/>
            <a:ext cx="1508760" cy="274320"/>
          </a:xfrm>
          <a:prstGeom prst="rect">
            <a:avLst/>
          </a:prstGeom>
          <a:solidFill>
            <a:srgbClr val="F5C542"/>
          </a:solidFill>
          <a:ln/>
        </p:spPr>
        <p:txBody>
          <a:bodyPr/>
          <a:lstStyle/>
          <a:p>
            <a:endParaRPr lang="en-IN"/>
          </a:p>
        </p:txBody>
      </p:sp>
      <p:sp>
        <p:nvSpPr>
          <p:cNvPr id="15" name="Text 13"/>
          <p:cNvSpPr/>
          <p:nvPr/>
        </p:nvSpPr>
        <p:spPr>
          <a:xfrm>
            <a:off x="3611880" y="1280160"/>
            <a:ext cx="1508760" cy="12801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Live Data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Fetched</a:t>
            </a:r>
            <a:endParaRPr lang="en-US" sz="1100" dirty="0"/>
          </a:p>
        </p:txBody>
      </p:sp>
      <p:sp>
        <p:nvSpPr>
          <p:cNvPr id="16" name="Shape 14"/>
          <p:cNvSpPr/>
          <p:nvPr/>
        </p:nvSpPr>
        <p:spPr>
          <a:xfrm>
            <a:off x="5120640" y="1920240"/>
            <a:ext cx="411480" cy="0"/>
          </a:xfrm>
          <a:prstGeom prst="line">
            <a:avLst/>
          </a:prstGeom>
          <a:noFill/>
          <a:ln w="12700">
            <a:solidFill>
              <a:srgbClr val="F5C542"/>
            </a:solidFill>
            <a:prstDash val="solid"/>
          </a:ln>
        </p:spPr>
        <p:txBody>
          <a:bodyPr/>
          <a:lstStyle/>
          <a:p>
            <a:endParaRPr lang="en-IN"/>
          </a:p>
        </p:txBody>
      </p:sp>
      <p:sp>
        <p:nvSpPr>
          <p:cNvPr id="17" name="Shape 15"/>
          <p:cNvSpPr/>
          <p:nvPr/>
        </p:nvSpPr>
        <p:spPr>
          <a:xfrm>
            <a:off x="5303520" y="1280160"/>
            <a:ext cx="1508760" cy="1280160"/>
          </a:xfrm>
          <a:prstGeom prst="rect">
            <a:avLst/>
          </a:prstGeom>
          <a:solidFill>
            <a:srgbClr val="132140"/>
          </a:solidFill>
          <a:ln w="12700">
            <a:solidFill>
              <a:srgbClr val="E040FB"/>
            </a:solidFill>
            <a:prstDash val="solid"/>
          </a:ln>
          <a:effectLst>
            <a:outerShdw blurRad="101600" dist="38100" dir="8100000" algn="bl" rotWithShape="0">
              <a:srgbClr val="000000">
                <a:alpha val="18000"/>
              </a:srgbClr>
            </a:outerShdw>
          </a:effectLst>
        </p:spPr>
        <p:txBody>
          <a:bodyPr/>
          <a:lstStyle/>
          <a:p>
            <a:endParaRPr lang="en-IN"/>
          </a:p>
        </p:txBody>
      </p:sp>
      <p:sp>
        <p:nvSpPr>
          <p:cNvPr id="18" name="Shape 16"/>
          <p:cNvSpPr/>
          <p:nvPr/>
        </p:nvSpPr>
        <p:spPr>
          <a:xfrm>
            <a:off x="5303520" y="1280160"/>
            <a:ext cx="1508760" cy="274320"/>
          </a:xfrm>
          <a:prstGeom prst="rect">
            <a:avLst/>
          </a:prstGeom>
          <a:solidFill>
            <a:srgbClr val="E040FB"/>
          </a:solidFill>
          <a:ln/>
        </p:spPr>
        <p:txBody>
          <a:bodyPr/>
          <a:lstStyle/>
          <a:p>
            <a:endParaRPr lang="en-IN"/>
          </a:p>
        </p:txBody>
      </p:sp>
      <p:sp>
        <p:nvSpPr>
          <p:cNvPr id="19" name="Text 17"/>
          <p:cNvSpPr/>
          <p:nvPr/>
        </p:nvSpPr>
        <p:spPr>
          <a:xfrm>
            <a:off x="5303520" y="1280160"/>
            <a:ext cx="1508760" cy="12801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Groq AI</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Analyses</a:t>
            </a:r>
            <a:endParaRPr lang="en-US" sz="1100" dirty="0"/>
          </a:p>
        </p:txBody>
      </p:sp>
      <p:sp>
        <p:nvSpPr>
          <p:cNvPr id="20" name="Shape 18"/>
          <p:cNvSpPr/>
          <p:nvPr/>
        </p:nvSpPr>
        <p:spPr>
          <a:xfrm>
            <a:off x="6812280" y="1920240"/>
            <a:ext cx="411480" cy="0"/>
          </a:xfrm>
          <a:prstGeom prst="line">
            <a:avLst/>
          </a:prstGeom>
          <a:noFill/>
          <a:ln w="12700">
            <a:solidFill>
              <a:srgbClr val="E040FB"/>
            </a:solidFill>
            <a:prstDash val="solid"/>
          </a:ln>
        </p:spPr>
        <p:txBody>
          <a:bodyPr/>
          <a:lstStyle/>
          <a:p>
            <a:endParaRPr lang="en-IN"/>
          </a:p>
        </p:txBody>
      </p:sp>
      <p:sp>
        <p:nvSpPr>
          <p:cNvPr id="21" name="Shape 19"/>
          <p:cNvSpPr/>
          <p:nvPr/>
        </p:nvSpPr>
        <p:spPr>
          <a:xfrm>
            <a:off x="6995160" y="1280160"/>
            <a:ext cx="1508760" cy="128016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22" name="Shape 20"/>
          <p:cNvSpPr/>
          <p:nvPr/>
        </p:nvSpPr>
        <p:spPr>
          <a:xfrm>
            <a:off x="6995160" y="1280160"/>
            <a:ext cx="1508760" cy="274320"/>
          </a:xfrm>
          <a:prstGeom prst="rect">
            <a:avLst/>
          </a:prstGeom>
          <a:solidFill>
            <a:srgbClr val="00C896"/>
          </a:solidFill>
          <a:ln/>
        </p:spPr>
        <p:txBody>
          <a:bodyPr/>
          <a:lstStyle/>
          <a:p>
            <a:endParaRPr lang="en-IN"/>
          </a:p>
        </p:txBody>
      </p:sp>
      <p:sp>
        <p:nvSpPr>
          <p:cNvPr id="23" name="Text 21"/>
          <p:cNvSpPr/>
          <p:nvPr/>
        </p:nvSpPr>
        <p:spPr>
          <a:xfrm>
            <a:off x="6995160" y="1280160"/>
            <a:ext cx="1508760" cy="12801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Delivered</a:t>
            </a:r>
            <a:endParaRPr lang="en-US" sz="1100" dirty="0"/>
          </a:p>
        </p:txBody>
      </p:sp>
      <p:sp>
        <p:nvSpPr>
          <p:cNvPr id="24" name="Text 22"/>
          <p:cNvSpPr/>
          <p:nvPr/>
        </p:nvSpPr>
        <p:spPr>
          <a:xfrm>
            <a:off x="228600" y="2743200"/>
            <a:ext cx="8686800" cy="320040"/>
          </a:xfrm>
          <a:prstGeom prst="rect">
            <a:avLst/>
          </a:prstGeom>
          <a:noFill/>
          <a:ln/>
        </p:spPr>
        <p:txBody>
          <a:bodyPr wrap="square" rtlCol="0" anchor="ctr"/>
          <a:lstStyle/>
          <a:p>
            <a:pPr marL="0" indent="0">
              <a:buNone/>
            </a:pPr>
            <a:r>
              <a:rPr lang="en-US" sz="1200" b="1" dirty="0">
                <a:solidFill>
                  <a:srgbClr val="F5C542"/>
                </a:solidFill>
                <a:latin typeface="Trebuchet MS" pitchFamily="34" charset="0"/>
                <a:ea typeface="Trebuchet MS" pitchFamily="34" charset="-122"/>
                <a:cs typeface="Trebuchet MS" pitchFamily="34" charset="-120"/>
              </a:rPr>
              <a:t>Agentic AI Pipeline (4 Specialized Agents)</a:t>
            </a:r>
            <a:endParaRPr lang="en-US" sz="1200" dirty="0"/>
          </a:p>
        </p:txBody>
      </p:sp>
      <p:sp>
        <p:nvSpPr>
          <p:cNvPr id="25" name="Shape 23"/>
          <p:cNvSpPr/>
          <p:nvPr/>
        </p:nvSpPr>
        <p:spPr>
          <a:xfrm>
            <a:off x="228600" y="3090672"/>
            <a:ext cx="1920240" cy="1645920"/>
          </a:xfrm>
          <a:prstGeom prst="rect">
            <a:avLst/>
          </a:prstGeom>
          <a:solidFill>
            <a:srgbClr val="132140"/>
          </a:solidFill>
          <a:ln w="12700">
            <a:solidFill>
              <a:srgbClr val="00C896"/>
            </a:solidFill>
            <a:prstDash val="solid"/>
          </a:ln>
          <a:effectLst>
            <a:outerShdw blurRad="101600" dist="38100" dir="8100000" algn="bl" rotWithShape="0">
              <a:srgbClr val="000000">
                <a:alpha val="18000"/>
              </a:srgbClr>
            </a:outerShdw>
          </a:effectLst>
        </p:spPr>
        <p:txBody>
          <a:bodyPr/>
          <a:lstStyle/>
          <a:p>
            <a:endParaRPr lang="en-IN"/>
          </a:p>
        </p:txBody>
      </p:sp>
      <p:sp>
        <p:nvSpPr>
          <p:cNvPr id="26" name="Shape 24"/>
          <p:cNvSpPr/>
          <p:nvPr/>
        </p:nvSpPr>
        <p:spPr>
          <a:xfrm>
            <a:off x="228600" y="3090672"/>
            <a:ext cx="1920240" cy="256032"/>
          </a:xfrm>
          <a:prstGeom prst="rect">
            <a:avLst/>
          </a:prstGeom>
          <a:solidFill>
            <a:srgbClr val="00C896"/>
          </a:solidFill>
          <a:ln/>
        </p:spPr>
        <p:txBody>
          <a:bodyPr/>
          <a:lstStyle/>
          <a:p>
            <a:endParaRPr lang="en-IN"/>
          </a:p>
        </p:txBody>
      </p:sp>
      <p:sp>
        <p:nvSpPr>
          <p:cNvPr id="27" name="Text 25"/>
          <p:cNvSpPr/>
          <p:nvPr/>
        </p:nvSpPr>
        <p:spPr>
          <a:xfrm>
            <a:off x="228600" y="3090672"/>
            <a:ext cx="1920240" cy="164592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Agent 1</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Technical Analysis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(50+ indicators)</a:t>
            </a:r>
            <a:endParaRPr lang="en-US" sz="1100" dirty="0"/>
          </a:p>
        </p:txBody>
      </p:sp>
      <p:sp>
        <p:nvSpPr>
          <p:cNvPr id="28" name="Shape 26"/>
          <p:cNvSpPr/>
          <p:nvPr/>
        </p:nvSpPr>
        <p:spPr>
          <a:xfrm>
            <a:off x="2148840" y="3913632"/>
            <a:ext cx="457200" cy="0"/>
          </a:xfrm>
          <a:prstGeom prst="line">
            <a:avLst/>
          </a:prstGeom>
          <a:noFill/>
          <a:ln w="12700">
            <a:solidFill>
              <a:srgbClr val="00C896"/>
            </a:solidFill>
            <a:prstDash val="solid"/>
          </a:ln>
        </p:spPr>
        <p:txBody>
          <a:bodyPr/>
          <a:lstStyle/>
          <a:p>
            <a:endParaRPr lang="en-IN"/>
          </a:p>
        </p:txBody>
      </p:sp>
      <p:sp>
        <p:nvSpPr>
          <p:cNvPr id="29" name="Shape 27"/>
          <p:cNvSpPr/>
          <p:nvPr/>
        </p:nvSpPr>
        <p:spPr>
          <a:xfrm>
            <a:off x="2377440" y="3090672"/>
            <a:ext cx="1920240" cy="1645920"/>
          </a:xfrm>
          <a:prstGeom prst="rect">
            <a:avLst/>
          </a:prstGeom>
          <a:solidFill>
            <a:srgbClr val="132140"/>
          </a:solidFill>
          <a:ln w="12700">
            <a:solidFill>
              <a:srgbClr val="1D72E8"/>
            </a:solidFill>
            <a:prstDash val="solid"/>
          </a:ln>
          <a:effectLst>
            <a:outerShdw blurRad="101600" dist="38100" dir="8100000" algn="bl" rotWithShape="0">
              <a:srgbClr val="000000">
                <a:alpha val="18000"/>
              </a:srgbClr>
            </a:outerShdw>
          </a:effectLst>
        </p:spPr>
        <p:txBody>
          <a:bodyPr/>
          <a:lstStyle/>
          <a:p>
            <a:endParaRPr lang="en-IN"/>
          </a:p>
        </p:txBody>
      </p:sp>
      <p:sp>
        <p:nvSpPr>
          <p:cNvPr id="30" name="Shape 28"/>
          <p:cNvSpPr/>
          <p:nvPr/>
        </p:nvSpPr>
        <p:spPr>
          <a:xfrm>
            <a:off x="2377440" y="3090672"/>
            <a:ext cx="1920240" cy="256032"/>
          </a:xfrm>
          <a:prstGeom prst="rect">
            <a:avLst/>
          </a:prstGeom>
          <a:solidFill>
            <a:srgbClr val="1D72E8"/>
          </a:solidFill>
          <a:ln/>
        </p:spPr>
        <p:txBody>
          <a:bodyPr/>
          <a:lstStyle/>
          <a:p>
            <a:endParaRPr lang="en-IN"/>
          </a:p>
        </p:txBody>
      </p:sp>
      <p:sp>
        <p:nvSpPr>
          <p:cNvPr id="31" name="Text 29"/>
          <p:cNvSpPr/>
          <p:nvPr/>
        </p:nvSpPr>
        <p:spPr>
          <a:xfrm>
            <a:off x="2377440" y="3090672"/>
            <a:ext cx="1920240" cy="164592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Agent 2</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Institutional Flow</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(FII/DII scan)</a:t>
            </a:r>
            <a:endParaRPr lang="en-US" sz="1100" dirty="0"/>
          </a:p>
        </p:txBody>
      </p:sp>
      <p:sp>
        <p:nvSpPr>
          <p:cNvPr id="32" name="Shape 30"/>
          <p:cNvSpPr/>
          <p:nvPr/>
        </p:nvSpPr>
        <p:spPr>
          <a:xfrm>
            <a:off x="4297680" y="3913632"/>
            <a:ext cx="457200" cy="0"/>
          </a:xfrm>
          <a:prstGeom prst="line">
            <a:avLst/>
          </a:prstGeom>
          <a:noFill/>
          <a:ln w="12700">
            <a:solidFill>
              <a:srgbClr val="1D72E8"/>
            </a:solidFill>
            <a:prstDash val="solid"/>
          </a:ln>
        </p:spPr>
        <p:txBody>
          <a:bodyPr/>
          <a:lstStyle/>
          <a:p>
            <a:endParaRPr lang="en-IN"/>
          </a:p>
        </p:txBody>
      </p:sp>
      <p:sp>
        <p:nvSpPr>
          <p:cNvPr id="33" name="Shape 31"/>
          <p:cNvSpPr/>
          <p:nvPr/>
        </p:nvSpPr>
        <p:spPr>
          <a:xfrm>
            <a:off x="4526280" y="3090672"/>
            <a:ext cx="1920240" cy="1645920"/>
          </a:xfrm>
          <a:prstGeom prst="rect">
            <a:avLst/>
          </a:prstGeom>
          <a:solidFill>
            <a:srgbClr val="132140"/>
          </a:solidFill>
          <a:ln w="12700">
            <a:solidFill>
              <a:srgbClr val="F5C542"/>
            </a:solidFill>
            <a:prstDash val="solid"/>
          </a:ln>
          <a:effectLst>
            <a:outerShdw blurRad="101600" dist="38100" dir="8100000" algn="bl" rotWithShape="0">
              <a:srgbClr val="000000">
                <a:alpha val="18000"/>
              </a:srgbClr>
            </a:outerShdw>
          </a:effectLst>
        </p:spPr>
        <p:txBody>
          <a:bodyPr/>
          <a:lstStyle/>
          <a:p>
            <a:endParaRPr lang="en-IN"/>
          </a:p>
        </p:txBody>
      </p:sp>
      <p:sp>
        <p:nvSpPr>
          <p:cNvPr id="34" name="Shape 32"/>
          <p:cNvSpPr/>
          <p:nvPr/>
        </p:nvSpPr>
        <p:spPr>
          <a:xfrm>
            <a:off x="4526280" y="3090672"/>
            <a:ext cx="1920240" cy="256032"/>
          </a:xfrm>
          <a:prstGeom prst="rect">
            <a:avLst/>
          </a:prstGeom>
          <a:solidFill>
            <a:srgbClr val="F5C542"/>
          </a:solidFill>
          <a:ln/>
        </p:spPr>
        <p:txBody>
          <a:bodyPr/>
          <a:lstStyle/>
          <a:p>
            <a:endParaRPr lang="en-IN"/>
          </a:p>
        </p:txBody>
      </p:sp>
      <p:sp>
        <p:nvSpPr>
          <p:cNvPr id="35" name="Text 33"/>
          <p:cNvSpPr/>
          <p:nvPr/>
        </p:nvSpPr>
        <p:spPr>
          <a:xfrm>
            <a:off x="4526280" y="3090672"/>
            <a:ext cx="1920240" cy="164592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Agent 3</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Risk Assessment</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(volatility, VIX)</a:t>
            </a:r>
            <a:endParaRPr lang="en-US" sz="1100" dirty="0"/>
          </a:p>
        </p:txBody>
      </p:sp>
      <p:sp>
        <p:nvSpPr>
          <p:cNvPr id="36" name="Shape 34"/>
          <p:cNvSpPr/>
          <p:nvPr/>
        </p:nvSpPr>
        <p:spPr>
          <a:xfrm>
            <a:off x="6446520" y="3913632"/>
            <a:ext cx="457200" cy="0"/>
          </a:xfrm>
          <a:prstGeom prst="line">
            <a:avLst/>
          </a:prstGeom>
          <a:noFill/>
          <a:ln w="12700">
            <a:solidFill>
              <a:srgbClr val="F5C542"/>
            </a:solidFill>
            <a:prstDash val="solid"/>
          </a:ln>
        </p:spPr>
        <p:txBody>
          <a:bodyPr/>
          <a:lstStyle/>
          <a:p>
            <a:endParaRPr lang="en-IN"/>
          </a:p>
        </p:txBody>
      </p:sp>
      <p:sp>
        <p:nvSpPr>
          <p:cNvPr id="37" name="Shape 35"/>
          <p:cNvSpPr/>
          <p:nvPr/>
        </p:nvSpPr>
        <p:spPr>
          <a:xfrm>
            <a:off x="6675120" y="3090672"/>
            <a:ext cx="1920240" cy="1645920"/>
          </a:xfrm>
          <a:prstGeom prst="rect">
            <a:avLst/>
          </a:prstGeom>
          <a:solidFill>
            <a:srgbClr val="132140"/>
          </a:solidFill>
          <a:ln w="12700">
            <a:solidFill>
              <a:srgbClr val="E040FB"/>
            </a:solidFill>
            <a:prstDash val="solid"/>
          </a:ln>
          <a:effectLst>
            <a:outerShdw blurRad="101600" dist="38100" dir="8100000" algn="bl" rotWithShape="0">
              <a:srgbClr val="000000">
                <a:alpha val="18000"/>
              </a:srgbClr>
            </a:outerShdw>
          </a:effectLst>
        </p:spPr>
        <p:txBody>
          <a:bodyPr/>
          <a:lstStyle/>
          <a:p>
            <a:endParaRPr lang="en-IN"/>
          </a:p>
        </p:txBody>
      </p:sp>
      <p:sp>
        <p:nvSpPr>
          <p:cNvPr id="38" name="Shape 36"/>
          <p:cNvSpPr/>
          <p:nvPr/>
        </p:nvSpPr>
        <p:spPr>
          <a:xfrm>
            <a:off x="6675120" y="3090672"/>
            <a:ext cx="1920240" cy="256032"/>
          </a:xfrm>
          <a:prstGeom prst="rect">
            <a:avLst/>
          </a:prstGeom>
          <a:solidFill>
            <a:srgbClr val="E040FB"/>
          </a:solidFill>
          <a:ln/>
        </p:spPr>
        <p:txBody>
          <a:bodyPr/>
          <a:lstStyle/>
          <a:p>
            <a:endParaRPr lang="en-IN"/>
          </a:p>
        </p:txBody>
      </p:sp>
      <p:sp>
        <p:nvSpPr>
          <p:cNvPr id="39" name="Text 37"/>
          <p:cNvSpPr/>
          <p:nvPr/>
        </p:nvSpPr>
        <p:spPr>
          <a:xfrm>
            <a:off x="6675120" y="3090672"/>
            <a:ext cx="1920240" cy="164592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Agent 4</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Final Strategy</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(entry · target · SL)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1632</Words>
  <Application>Microsoft Office PowerPoint</Application>
  <PresentationFormat>On-screen Show (16:9)</PresentationFormat>
  <Paragraphs>359</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Consolas</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Manzil – Sarthak Nivesh</dc:title>
  <dc:subject>PptxGenJS Presentation</dc:subject>
  <dc:creator>Manzil – Sarthak Nivesh Team</dc:creator>
  <cp:lastModifiedBy>rohit fogla</cp:lastModifiedBy>
  <cp:revision>6</cp:revision>
  <dcterms:created xsi:type="dcterms:W3CDTF">2026-04-05T17:28:37Z</dcterms:created>
  <dcterms:modified xsi:type="dcterms:W3CDTF">2026-05-05T05:18:45Z</dcterms:modified>
</cp:coreProperties>
</file>